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1" r:id="rId3"/>
    <p:sldId id="271" r:id="rId4"/>
    <p:sldId id="262" r:id="rId5"/>
    <p:sldId id="263" r:id="rId6"/>
    <p:sldId id="264" r:id="rId7"/>
    <p:sldId id="265" r:id="rId8"/>
    <p:sldId id="260" r:id="rId9"/>
    <p:sldId id="256" r:id="rId10"/>
    <p:sldId id="257" r:id="rId11"/>
    <p:sldId id="258" r:id="rId12"/>
    <p:sldId id="27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232" autoAdjust="0"/>
  </p:normalViewPr>
  <p:slideViewPr>
    <p:cSldViewPr snapToGrid="0">
      <p:cViewPr>
        <p:scale>
          <a:sx n="150" d="100"/>
          <a:sy n="150" d="100"/>
        </p:scale>
        <p:origin x="654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3EFCD-E739-40AA-9CDE-F59555AD60E8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74B9B-A618-4729-B1C4-D7BDC33298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921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Since \dot{d}_t \approx. 0, the corresponding terms are omitted in \dot{f}_d and \</a:t>
            </a:r>
            <a:r>
              <a:rPr lang="en-US" altLang="zh-CN" dirty="0" err="1"/>
              <a:t>ddot</a:t>
            </a:r>
            <a:r>
              <a:rPr lang="en-US" altLang="zh-CN" dirty="0"/>
              <a:t>{f}_d.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4B9B-A618-4729-B1C4-D7BDC33298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977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4B9B-A618-4729-B1C4-D7BDC33298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08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2483-E746-42D2-B321-902677F8B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17D7D-DC51-4F79-B25D-11F7ECEF5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B5516-83C2-4EC7-917E-C8D124A5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919F2-CE37-4D0C-9852-6D0B21A0E202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C7602-961F-4AA5-A2A7-7F13867E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5A848-B617-4FBC-9795-0326B087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A70A-887C-4D14-A23F-382DA604F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581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5136-F030-4E64-AB34-9D62C9F3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AD329-B9A0-43B3-A62C-4263FED41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767A7-1C05-42C1-A8E7-D15C6471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919F2-CE37-4D0C-9852-6D0B21A0E202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4A855-32D8-4468-B2F7-933FADAE4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549CF-79D2-4F86-9C9A-5483806C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A70A-887C-4D14-A23F-382DA604F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529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312A-2788-42FD-936C-7B93A27A1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13C23-EB53-4B07-BFFB-46BD49C50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B82C7-F4E2-40EB-8D6D-B7F43A61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919F2-CE37-4D0C-9852-6D0B21A0E202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10AE0-A31B-40B0-A313-70706F057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7DE0D-CE7B-488F-9A6B-B648162E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A70A-887C-4D14-A23F-382DA604F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838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C9094-8283-488B-A1F5-F9C97BE0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4BBDF-77A0-4283-A694-DEE829646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4E8E1-1D41-4457-9354-87AC1807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48E10-94D7-4A53-8964-8616762CE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919F2-CE37-4D0C-9852-6D0B21A0E202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24486-06CC-4DB4-B42E-DC4503F18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13897-B6F4-414F-8735-F8A982D86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A70A-887C-4D14-A23F-382DA604F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609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1EE35-4DEE-4F03-99CA-D6D15B18B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79A06-6D45-454D-969C-B7B477BCF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4BA55-0474-44D5-B792-080B81720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2ACAE1-9A1D-48A6-B644-361757FCF5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01EB71-3890-4FF6-8815-78C69CC8B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5B4264-48C7-4B71-B39F-4076C654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919F2-CE37-4D0C-9852-6D0B21A0E202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FFC488-F81B-47CA-B1BF-00C42CAC7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1D8736-AB58-4263-B9ED-79B1CE925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A70A-887C-4D14-A23F-382DA604F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192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438CA-4F4B-4945-8390-6FBFB1FD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82A11D-062E-4137-BF68-0B2CA6F9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919F2-CE37-4D0C-9852-6D0B21A0E202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8E1C36-C1F7-4772-868D-D4206039D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92C53-BC83-4ACB-AD81-36E45B2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A70A-887C-4D14-A23F-382DA604F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28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C607A6-7CFE-4726-9D34-B36642869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919F2-CE37-4D0C-9852-6D0B21A0E202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BB9D6-CA5C-43F6-904A-ABC7DDA0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9A027-D46B-473D-AF75-31DB16507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A70A-887C-4D14-A23F-382DA604F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358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9AFB7-10A6-43DF-BFC2-503381855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285C-15E8-4426-B2F0-6896DDF82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B2D03-8263-4012-A22F-658A8DBB5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386FE-24CD-4566-8F35-D9D293692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919F2-CE37-4D0C-9852-6D0B21A0E202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7481B-FBDB-4AE7-B0C4-B0C265B24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4403D-DA88-4AAD-9979-8070861E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A70A-887C-4D14-A23F-382DA604F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49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054E3-D82A-4E2C-8DBC-57704E7A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9BA87-16A0-4183-9C5C-C03D9BFEF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871705-6E61-424F-ADAA-4668B5920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E320D-E316-4D61-9B91-8C1CE6160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919F2-CE37-4D0C-9852-6D0B21A0E202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44007-A079-46FD-8B00-6141688B5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1C661-5A01-4FF9-A8F2-CA3633472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A70A-887C-4D14-A23F-382DA604F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59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39DC0-09B1-4043-B42D-B4D122C3D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5E5EB-22DE-475B-889D-AB683D9AE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2E8B6-0465-4B68-9E42-BCA8E7E57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919F2-CE37-4D0C-9852-6D0B21A0E202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062AC-3BF0-4644-9B7C-A1D67BDC0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99B60-1F60-463E-865D-614C8C37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A70A-887C-4D14-A23F-382DA604F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152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E2F026-E12F-40CB-A0AA-3DCF3ACE3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ED207-D15B-43BA-8A3D-2A459DCD2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F8E18-60A8-4EE0-BFC6-0DDA3DB4F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919F2-CE37-4D0C-9852-6D0B21A0E202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077CF-6AC0-42AC-A8E1-A55A73CF3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31D91-E688-44B6-ADEF-63C384BA0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A70A-887C-4D14-A23F-382DA604F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70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123195-FB86-4E1B-9487-F73667902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97D55-9878-4A01-89F3-E1CCDE3A8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530A8-EF50-46FE-A1B7-309743721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919F2-CE37-4D0C-9852-6D0B21A0E202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58F1E-7095-4F8C-BBE5-3B368D6F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DC2A4-9353-460E-9154-038D5725D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3A70A-887C-4D14-A23F-382DA604F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742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7.xml"/><Relationship Id="rId7" Type="http://schemas.openxmlformats.org/officeDocument/2006/relationships/image" Target="../media/image5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9.png"/><Relationship Id="rId5" Type="http://schemas.openxmlformats.org/officeDocument/2006/relationships/tags" Target="../tags/tag9.xml"/><Relationship Id="rId10" Type="http://schemas.openxmlformats.org/officeDocument/2006/relationships/image" Target="../media/image8.png"/><Relationship Id="rId4" Type="http://schemas.openxmlformats.org/officeDocument/2006/relationships/tags" Target="../tags/tag8.xm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14.pn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13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12.png"/><Relationship Id="rId5" Type="http://schemas.openxmlformats.org/officeDocument/2006/relationships/tags" Target="../tags/tag14.xml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tags" Target="../tags/tag13.xml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notesSlide" Target="../notesSlides/notesSlide1.xml"/><Relationship Id="rId18" Type="http://schemas.openxmlformats.org/officeDocument/2006/relationships/image" Target="../media/image21.png"/><Relationship Id="rId3" Type="http://schemas.openxmlformats.org/officeDocument/2006/relationships/tags" Target="../tags/tag19.xml"/><Relationship Id="rId21" Type="http://schemas.openxmlformats.org/officeDocument/2006/relationships/image" Target="../media/image24.png"/><Relationship Id="rId7" Type="http://schemas.openxmlformats.org/officeDocument/2006/relationships/tags" Target="../tags/tag23.xml"/><Relationship Id="rId12" Type="http://schemas.openxmlformats.org/officeDocument/2006/relationships/slideLayout" Target="../slideLayouts/slideLayout1.xml"/><Relationship Id="rId17" Type="http://schemas.openxmlformats.org/officeDocument/2006/relationships/image" Target="../media/image20.png"/><Relationship Id="rId2" Type="http://schemas.openxmlformats.org/officeDocument/2006/relationships/tags" Target="../tags/tag18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24" Type="http://schemas.openxmlformats.org/officeDocument/2006/relationships/image" Target="../media/image27.png"/><Relationship Id="rId5" Type="http://schemas.openxmlformats.org/officeDocument/2006/relationships/tags" Target="../tags/tag21.xml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tags" Target="../tags/tag26.xml"/><Relationship Id="rId19" Type="http://schemas.openxmlformats.org/officeDocument/2006/relationships/image" Target="../media/image22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tags" Target="../tags/tag30.xml"/><Relationship Id="rId21" Type="http://schemas.openxmlformats.org/officeDocument/2006/relationships/image" Target="../media/image32.png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tags" Target="../tags/tag29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31.png"/><Relationship Id="rId29" Type="http://schemas.openxmlformats.org/officeDocument/2006/relationships/image" Target="../media/image40.png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24" Type="http://schemas.openxmlformats.org/officeDocument/2006/relationships/image" Target="../media/image35.png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10" Type="http://schemas.openxmlformats.org/officeDocument/2006/relationships/tags" Target="../tags/tag37.xml"/><Relationship Id="rId19" Type="http://schemas.openxmlformats.org/officeDocument/2006/relationships/image" Target="../media/image30.png"/><Relationship Id="rId31" Type="http://schemas.openxmlformats.org/officeDocument/2006/relationships/image" Target="../media/image42.png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47.png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image" Target="../media/image46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image" Target="../media/image45.png"/><Relationship Id="rId5" Type="http://schemas.openxmlformats.org/officeDocument/2006/relationships/tags" Target="../tags/tag47.xml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tags" Target="../tags/tag46.xml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tags" Target="../tags/tag52.xml"/><Relationship Id="rId7" Type="http://schemas.openxmlformats.org/officeDocument/2006/relationships/image" Target="../media/image51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50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3.xml"/><Relationship Id="rId9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66.xml"/><Relationship Id="rId18" Type="http://schemas.openxmlformats.org/officeDocument/2006/relationships/slideLayout" Target="../slideLayouts/slideLayout1.xml"/><Relationship Id="rId26" Type="http://schemas.openxmlformats.org/officeDocument/2006/relationships/image" Target="../media/image61.png"/><Relationship Id="rId3" Type="http://schemas.openxmlformats.org/officeDocument/2006/relationships/tags" Target="../tags/tag56.xml"/><Relationship Id="rId21" Type="http://schemas.openxmlformats.org/officeDocument/2006/relationships/image" Target="../media/image56.png"/><Relationship Id="rId34" Type="http://schemas.openxmlformats.org/officeDocument/2006/relationships/image" Target="../media/image69.png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5" Type="http://schemas.openxmlformats.org/officeDocument/2006/relationships/image" Target="../media/image60.png"/><Relationship Id="rId33" Type="http://schemas.openxmlformats.org/officeDocument/2006/relationships/image" Target="../media/image68.png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20" Type="http://schemas.openxmlformats.org/officeDocument/2006/relationships/image" Target="../media/image55.png"/><Relationship Id="rId29" Type="http://schemas.openxmlformats.org/officeDocument/2006/relationships/image" Target="../media/image64.png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24" Type="http://schemas.openxmlformats.org/officeDocument/2006/relationships/image" Target="../media/image59.png"/><Relationship Id="rId32" Type="http://schemas.openxmlformats.org/officeDocument/2006/relationships/image" Target="../media/image67.png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23" Type="http://schemas.openxmlformats.org/officeDocument/2006/relationships/image" Target="../media/image58.png"/><Relationship Id="rId28" Type="http://schemas.openxmlformats.org/officeDocument/2006/relationships/image" Target="../media/image63.png"/><Relationship Id="rId10" Type="http://schemas.openxmlformats.org/officeDocument/2006/relationships/tags" Target="../tags/tag63.xml"/><Relationship Id="rId19" Type="http://schemas.openxmlformats.org/officeDocument/2006/relationships/image" Target="../media/image54.png"/><Relationship Id="rId31" Type="http://schemas.openxmlformats.org/officeDocument/2006/relationships/image" Target="../media/image66.png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Relationship Id="rId22" Type="http://schemas.openxmlformats.org/officeDocument/2006/relationships/image" Target="../media/image57.png"/><Relationship Id="rId27" Type="http://schemas.openxmlformats.org/officeDocument/2006/relationships/image" Target="../media/image62.png"/><Relationship Id="rId30" Type="http://schemas.openxmlformats.org/officeDocument/2006/relationships/image" Target="../media/image65.png"/><Relationship Id="rId35" Type="http://schemas.openxmlformats.org/officeDocument/2006/relationships/image" Target="../media/image70.png"/><Relationship Id="rId8" Type="http://schemas.openxmlformats.org/officeDocument/2006/relationships/tags" Target="../tags/tag6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tags" Target="../tags/tag73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75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image" Target="../media/image74.png"/><Relationship Id="rId5" Type="http://schemas.openxmlformats.org/officeDocument/2006/relationships/tags" Target="../tags/tag75.xml"/><Relationship Id="rId10" Type="http://schemas.openxmlformats.org/officeDocument/2006/relationships/image" Target="../media/image73.png"/><Relationship Id="rId4" Type="http://schemas.openxmlformats.org/officeDocument/2006/relationships/tags" Target="../tags/tag74.xml"/><Relationship Id="rId9" Type="http://schemas.openxmlformats.org/officeDocument/2006/relationships/image" Target="../media/image7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81.png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image" Target="../media/image80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image" Target="../media/image79.png"/><Relationship Id="rId5" Type="http://schemas.openxmlformats.org/officeDocument/2006/relationships/tags" Target="../tags/tag81.xml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4" Type="http://schemas.openxmlformats.org/officeDocument/2006/relationships/tags" Target="../tags/tag80.xml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tags" Target="../tags/tag86.xml"/><Relationship Id="rId7" Type="http://schemas.openxmlformats.org/officeDocument/2006/relationships/image" Target="../media/image84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87.png"/><Relationship Id="rId4" Type="http://schemas.openxmlformats.org/officeDocument/2006/relationships/tags" Target="../tags/tag87.xml"/><Relationship Id="rId9" Type="http://schemas.openxmlformats.org/officeDocument/2006/relationships/image" Target="../media/image8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B8D4DE-B7D6-407A-A816-472A51E7D19C}"/>
              </a:ext>
            </a:extLst>
          </p:cNvPr>
          <p:cNvSpPr txBox="1"/>
          <p:nvPr/>
        </p:nvSpPr>
        <p:spPr>
          <a:xfrm>
            <a:off x="76049" y="107776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Controller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62BF37-C835-45C2-BF8B-A2285A46776E}"/>
              </a:ext>
            </a:extLst>
          </p:cNvPr>
          <p:cNvCxnSpPr>
            <a:cxnSpLocks/>
          </p:cNvCxnSpPr>
          <p:nvPr/>
        </p:nvCxnSpPr>
        <p:spPr>
          <a:xfrm>
            <a:off x="0" y="708414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2BDB97-633D-4F4B-838E-C93872B7540A}"/>
              </a:ext>
            </a:extLst>
          </p:cNvPr>
          <p:cNvSpPr txBox="1"/>
          <p:nvPr/>
        </p:nvSpPr>
        <p:spPr>
          <a:xfrm>
            <a:off x="76049" y="961738"/>
            <a:ext cx="4342720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Reference Trajectory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pic>
        <p:nvPicPr>
          <p:cNvPr id="7" name="Picture 6" descr="\documentclass{article}&#10;\usepackage{amsmath}&#10;\pagestyle{empty}&#10;\begin{document}&#10;&#10;$&#10;\boldsymbol{x}_{c,d},~&#10;\dot{\boldsymbol{x}}_{c,d},~&#10;\ddot{\boldsymbol{x}}_{c,d},~&#10;\boldsymbol{x}_{c,d}^{(3)}&#10;$&#10;&#10;&#10;\end{document}" title="IguanaTex Bitmap Display">
            <a:extLst>
              <a:ext uri="{FF2B5EF4-FFF2-40B4-BE49-F238E27FC236}">
                <a16:creationId xmlns:a16="http://schemas.microsoft.com/office/drawing/2014/main" id="{2B3343D9-BD9C-4BE9-B493-5BC74A8DD52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08" y="1520175"/>
            <a:ext cx="2220805" cy="365987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&#10;\boldsymbol{b}_{1,d},~&#10;\dot{\boldsymbol{b}}_{1,d},~&#10;\ddot{\boldsymbol{b}}_{1,d}&#10;$&#10;&#10;&#10;\end{document}" title="IguanaTex Bitmap Display">
            <a:extLst>
              <a:ext uri="{FF2B5EF4-FFF2-40B4-BE49-F238E27FC236}">
                <a16:creationId xmlns:a16="http://schemas.microsoft.com/office/drawing/2014/main" id="{8F05FE75-E6D5-4655-A479-624C6E2F261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217" y="1552801"/>
            <a:ext cx="1538604" cy="301574"/>
          </a:xfrm>
          <a:prstGeom prst="rect">
            <a:avLst/>
          </a:prstGeom>
        </p:spPr>
      </p:pic>
      <p:pic>
        <p:nvPicPr>
          <p:cNvPr id="9" name="Picture 8" descr="\documentclass{article}&#10;\usepackage{amsmath}&#10;\pagestyle{empty}&#10;\begin{document}&#10;&#10;$&#10;\boldsymbol{r}_{e,d},~&#10;\dot{\boldsymbol{r}}_{e,d},~&#10;\ddot{\boldsymbol{r}}_{e,d}&#10;$&#10;&#10;&#10;\end{document}" title="IguanaTex Bitmap Display">
            <a:extLst>
              <a:ext uri="{FF2B5EF4-FFF2-40B4-BE49-F238E27FC236}">
                <a16:creationId xmlns:a16="http://schemas.microsoft.com/office/drawing/2014/main" id="{757445EF-2890-4C59-9E42-9EE0500FBF8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59" y="2080513"/>
            <a:ext cx="1557637" cy="240088"/>
          </a:xfrm>
          <a:prstGeom prst="rect">
            <a:avLst/>
          </a:prstGeom>
        </p:spPr>
      </p:pic>
      <p:pic>
        <p:nvPicPr>
          <p:cNvPr id="10" name="Picture 9" descr="\documentclass{article}&#10;\usepackage{amsmath}&#10;\pagestyle{empty}&#10;\begin{document}&#10;&#10;$&#10;\boldsymbol{b}_{1,d,e},~&#10;\dot{\boldsymbol{b}}_{1,d,e},~&#10;\ddot{\boldsymbol{b}}_{1,d,e}&#10;$&#10;&#10;&#10;\end{document}" title="IguanaTex Bitmap Display">
            <a:extLst>
              <a:ext uri="{FF2B5EF4-FFF2-40B4-BE49-F238E27FC236}">
                <a16:creationId xmlns:a16="http://schemas.microsoft.com/office/drawing/2014/main" id="{F94B16EA-262C-4771-BAE0-24E3D79FBCA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522" y="2029165"/>
            <a:ext cx="1983643" cy="30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01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B8D4DE-B7D6-407A-A816-472A51E7D19C}"/>
              </a:ext>
            </a:extLst>
          </p:cNvPr>
          <p:cNvSpPr txBox="1"/>
          <p:nvPr/>
        </p:nvSpPr>
        <p:spPr>
          <a:xfrm>
            <a:off x="76049" y="107776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Controller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62BF37-C835-45C2-BF8B-A2285A46776E}"/>
              </a:ext>
            </a:extLst>
          </p:cNvPr>
          <p:cNvCxnSpPr>
            <a:cxnSpLocks/>
          </p:cNvCxnSpPr>
          <p:nvPr/>
        </p:nvCxnSpPr>
        <p:spPr>
          <a:xfrm>
            <a:off x="0" y="708414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\documentclass{article}&#10;\usepackage{amsmath}&#10;\pagestyle{empty}&#10;\begin{document}&#10;&#10;$&#10;\boldsymbol{X}&#10;=&#10;\left(&#10;\boldsymbol{r}_0,&#10;\boldsymbol{R}_0,&#10;\boldsymbol{q}&#10;\right)&#10;$&#10;&#10;&#10;\end{document}" title="IguanaTex Bitmap Display">
            <a:extLst>
              <a:ext uri="{FF2B5EF4-FFF2-40B4-BE49-F238E27FC236}">
                <a16:creationId xmlns:a16="http://schemas.microsoft.com/office/drawing/2014/main" id="{54455725-DEB2-459A-ACB8-9E67AB687AA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57" y="1865063"/>
            <a:ext cx="1657185" cy="247407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&#10;$&#10;\boldsymbol{V}&#10;= \begin{bmatrix}&#10;{\boldsymbol{v}_0}^T &amp;&#10;{\boldsymbol{\omega}_0}^T &amp;&#10;{\dot{\boldsymbol{q}}}^T&#10;\end{bmatrix}^T&#10;$&#10;&#10;&#10;\end{document}" title="IguanaTex Bitmap Display">
            <a:extLst>
              <a:ext uri="{FF2B5EF4-FFF2-40B4-BE49-F238E27FC236}">
                <a16:creationId xmlns:a16="http://schemas.microsoft.com/office/drawing/2014/main" id="{1A3D08A0-3114-4E05-9BE1-8563072834A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37" y="2340006"/>
            <a:ext cx="2510666" cy="3601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ED46DD-06B7-4072-B4AE-6065227DB3D6}"/>
              </a:ext>
            </a:extLst>
          </p:cNvPr>
          <p:cNvSpPr txBox="1"/>
          <p:nvPr/>
        </p:nvSpPr>
        <p:spPr>
          <a:xfrm>
            <a:off x="76049" y="1048794"/>
            <a:ext cx="4691689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Control – Transformed State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pic>
        <p:nvPicPr>
          <p:cNvPr id="14" name="Picture 13" descr="\documentclass{article}&#10;\usepackage{amsmath}&#10;\usepackage{color}&#10;\pagestyle{empty}&#10;\begin{document}&#10;&#10;$&#10;\color{blue}&#10;\boldsymbol{T}&#10;= \begin{bmatrix}&#10;\boldsymbol{R}_0 &amp; -\boldsymbol{R}_0 \hat{\boldsymbol{r}}_{0c}^0 &amp; \boldsymbol{R}_0 \boldsymbol{A} \\&#10;\boldsymbol{0} &amp; \boldsymbol{I}_3 &amp; \boldsymbol{0} \\&#10;\boldsymbol{0} &amp; \boldsymbol{N}_1 &amp; \boldsymbol{I}_n&#10;\end{bmatrix}&#10;$&#10;&#10;&#10;\end{document}" title="IguanaTex Bitmap Display">
            <a:extLst>
              <a:ext uri="{FF2B5EF4-FFF2-40B4-BE49-F238E27FC236}">
                <a16:creationId xmlns:a16="http://schemas.microsoft.com/office/drawing/2014/main" id="{3549944F-3A33-425E-A221-2293C77D92D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404" y="1892341"/>
            <a:ext cx="2945456" cy="891542"/>
          </a:xfrm>
          <a:prstGeom prst="rect">
            <a:avLst/>
          </a:prstGeom>
        </p:spPr>
      </p:pic>
      <p:pic>
        <p:nvPicPr>
          <p:cNvPr id="15" name="Picture 14" descr="\documentclass{article}&#10;\usepackage{amsmath}&#10;\usepackage{color}&#10;\pagestyle{empty}&#10;\begin{document}&#10;&#10;$&#10;\color{blue}&#10;\boldsymbol{\xi}=\boldsymbol{T}\boldsymbol{V}&#10;$&#10;&#10;&#10;\end{document}" title="IguanaTex Bitmap Display">
            <a:extLst>
              <a:ext uri="{FF2B5EF4-FFF2-40B4-BE49-F238E27FC236}">
                <a16:creationId xmlns:a16="http://schemas.microsoft.com/office/drawing/2014/main" id="{83869C5E-C4BE-437F-AF8E-938DDF48087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272" y="2158848"/>
            <a:ext cx="863727" cy="225448"/>
          </a:xfrm>
          <a:prstGeom prst="rect">
            <a:avLst/>
          </a:prstGeom>
        </p:spPr>
      </p:pic>
      <p:pic>
        <p:nvPicPr>
          <p:cNvPr id="16" name="Picture 15" descr="\documentclass{article}&#10;\usepackage{amsmath}&#10;\usepackage{color}&#10;\pagestyle{empty}&#10;\begin{document}&#10;&#10;$&#10;\color{blue}&#10;\boldsymbol{\xi}&#10;= \begin{bmatrix}&#10;\dot{\boldsymbol{x}}_c \\&#10;\boldsymbol{\omega}_0 \\&#10;\boldsymbol{\rho}&#10;\end{bmatrix}&#10;$&#10;&#10;&#10;\end{document}" title="IguanaTex Bitmap Display">
            <a:extLst>
              <a:ext uri="{FF2B5EF4-FFF2-40B4-BE49-F238E27FC236}">
                <a16:creationId xmlns:a16="http://schemas.microsoft.com/office/drawing/2014/main" id="{57398D57-C9DD-4D38-BC98-F6D906EC9EE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707" y="1833596"/>
            <a:ext cx="991090" cy="879830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F14C7CB1-709D-446B-AAD4-3C94D2DE8DE1}"/>
              </a:ext>
            </a:extLst>
          </p:cNvPr>
          <p:cNvSpPr/>
          <p:nvPr/>
        </p:nvSpPr>
        <p:spPr>
          <a:xfrm>
            <a:off x="3170391" y="1796440"/>
            <a:ext cx="400310" cy="1009009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</p:spTree>
    <p:extLst>
      <p:ext uri="{BB962C8B-B14F-4D97-AF65-F5344CB8AC3E}">
        <p14:creationId xmlns:p14="http://schemas.microsoft.com/office/powerpoint/2010/main" val="305844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B8D4DE-B7D6-407A-A816-472A51E7D19C}"/>
              </a:ext>
            </a:extLst>
          </p:cNvPr>
          <p:cNvSpPr txBox="1"/>
          <p:nvPr/>
        </p:nvSpPr>
        <p:spPr>
          <a:xfrm>
            <a:off x="76049" y="107776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Controller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62BF37-C835-45C2-BF8B-A2285A46776E}"/>
              </a:ext>
            </a:extLst>
          </p:cNvPr>
          <p:cNvCxnSpPr>
            <a:cxnSpLocks/>
          </p:cNvCxnSpPr>
          <p:nvPr/>
        </p:nvCxnSpPr>
        <p:spPr>
          <a:xfrm>
            <a:off x="0" y="708414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ED46DD-06B7-4072-B4AE-6065227DB3D6}"/>
              </a:ext>
            </a:extLst>
          </p:cNvPr>
          <p:cNvSpPr txBox="1"/>
          <p:nvPr/>
        </p:nvSpPr>
        <p:spPr>
          <a:xfrm>
            <a:off x="76049" y="1048794"/>
            <a:ext cx="6126631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Control – Disturbance Observer (GMO)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pic>
        <p:nvPicPr>
          <p:cNvPr id="5" name="Picture 4" descr="\documentclass{article}&#10;\usepackage{amsmath}&#10;\pagestyle{empty}&#10;\begin{document}&#10;&#10;$&#10;\boldsymbol{p} &#10;= \tilde{\boldsymbol{M}} \boldsymbol{\xi} &#10;$&#10;&#10;&#10;\end{document}" title="IguanaTex Bitmap Display">
            <a:extLst>
              <a:ext uri="{FF2B5EF4-FFF2-40B4-BE49-F238E27FC236}">
                <a16:creationId xmlns:a16="http://schemas.microsoft.com/office/drawing/2014/main" id="{FB8F68C3-0CAB-4132-A2D0-09765B2CEE3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97" y="3055598"/>
            <a:ext cx="903254" cy="278150"/>
          </a:xfrm>
          <a:prstGeom prst="rect">
            <a:avLst/>
          </a:prstGeom>
        </p:spPr>
      </p:pic>
      <p:pic>
        <p:nvPicPr>
          <p:cNvPr id="7" name="Picture 6" descr="\documentclass{article}&#10;\usepackage{amsmath}&#10;\pagestyle{empty}&#10;\begin{document}&#10;&#10;$&#10;\dot{\hat{\boldsymbol{p}}}&#10;= \tilde{\boldsymbol{C}}^T \boldsymbol{\xi} - \tilde{\boldsymbol{g}} + \boldsymbol{u} + \hat{\boldsymbol{d}}_e&#10;$&#10;&#10;&#10;\end{document}" title="IguanaTex Bitmap Display">
            <a:extLst>
              <a:ext uri="{FF2B5EF4-FFF2-40B4-BE49-F238E27FC236}">
                <a16:creationId xmlns:a16="http://schemas.microsoft.com/office/drawing/2014/main" id="{A7457475-2570-41BD-9C0D-9FCE5C28B89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348" y="3429000"/>
            <a:ext cx="2409652" cy="333780"/>
          </a:xfrm>
          <a:prstGeom prst="rect">
            <a:avLst/>
          </a:prstGeom>
        </p:spPr>
      </p:pic>
      <p:pic>
        <p:nvPicPr>
          <p:cNvPr id="9" name="Picture 8" descr="\documentclass{article}&#10;\usepackage{amsmath}&#10;\pagestyle{empty}&#10;\begin{document}&#10;&#10;$&#10;\hat{\boldsymbol{d}}_e = \boldsymbol{K}_o \big( \boldsymbol{p} - \hat{\boldsymbol{p}} \big)&#10;$&#10;&#10;&#10;\end{document}" title="IguanaTex Bitmap Display">
            <a:extLst>
              <a:ext uri="{FF2B5EF4-FFF2-40B4-BE49-F238E27FC236}">
                <a16:creationId xmlns:a16="http://schemas.microsoft.com/office/drawing/2014/main" id="{F67527D0-1C61-4F58-8263-EEED7A68892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97" y="3464237"/>
            <a:ext cx="1706959" cy="323532"/>
          </a:xfrm>
          <a:prstGeom prst="rect">
            <a:avLst/>
          </a:prstGeom>
        </p:spPr>
      </p:pic>
      <p:pic>
        <p:nvPicPr>
          <p:cNvPr id="29" name="Picture 28" descr="\documentclass{article}&#10;\usepackage{amsmath}&#10;\usepackage{amssymb}&#10;\pagestyle{empty}&#10;\begin{document}&#10;&#10;$&#10;\boldsymbol{K}_o &#10;= \operatorname{diag} \big( \boldsymbol{K}_{o,t}, \boldsymbol{K}_{o,r}, \boldsymbol{K}_{o,\rho} \big) \succ 0,&#10;\qquad&#10;\boldsymbol{K}_{o,t}, \boldsymbol{K}_{o,r} \in \mathbb{R}^{3 \times 3},&#10;\quad&#10;\boldsymbol{K}_{o,\rho} \in \mathbb{R}^{n \times n}.&#10;$&#10;&#10;&#10;\end{document}" title="IguanaTex Bitmap Display">
            <a:extLst>
              <a:ext uri="{FF2B5EF4-FFF2-40B4-BE49-F238E27FC236}">
                <a16:creationId xmlns:a16="http://schemas.microsoft.com/office/drawing/2014/main" id="{438DADCB-4E60-474A-BE45-3A4A1D8FDDC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97" y="1747038"/>
            <a:ext cx="7914083" cy="297181"/>
          </a:xfrm>
          <a:prstGeom prst="rect">
            <a:avLst/>
          </a:prstGeom>
        </p:spPr>
      </p:pic>
      <p:pic>
        <p:nvPicPr>
          <p:cNvPr id="31" name="Picture 30" descr="\documentclass{article}&#10;\usepackage{amsmath}&#10;\pagestyle{empty}&#10;\begin{document}&#10;&#10;$&#10;\hat{\boldsymbol{p}}(0) = \boldsymbol{p}(0) = \tilde{\boldsymbol{M}}(\boldsymbol{q}(0)) \boldsymbol{\xi}(0)&#10;$&#10;&#10;&#10;\end{document}" title="IguanaTex Bitmap Display">
            <a:extLst>
              <a:ext uri="{FF2B5EF4-FFF2-40B4-BE49-F238E27FC236}">
                <a16:creationId xmlns:a16="http://schemas.microsoft.com/office/drawing/2014/main" id="{76794223-6359-43B6-A967-2A2EED7E31E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97" y="2211505"/>
            <a:ext cx="2932281" cy="289861"/>
          </a:xfrm>
          <a:prstGeom prst="rect">
            <a:avLst/>
          </a:prstGeom>
        </p:spPr>
      </p:pic>
      <p:pic>
        <p:nvPicPr>
          <p:cNvPr id="33" name="Picture 32" descr="\documentclass{article}&#10;\usepackage{amsmath}&#10;\pagestyle{empty}&#10;\begin{document}&#10;&#10;$&#10;\hat{\boldsymbol{d}}_e = \begin{bmatrix} \hat{\boldsymbol{d}}_t^T &amp; \hat{\boldsymbol{d}}_r^T &amp; \hat{\boldsymbol{d}}_\rho^T \end{bmatrix}^T&#10;$&#10;&#10;&#10;\end{document}" title="IguanaTex Bitmap Display">
            <a:extLst>
              <a:ext uri="{FF2B5EF4-FFF2-40B4-BE49-F238E27FC236}">
                <a16:creationId xmlns:a16="http://schemas.microsoft.com/office/drawing/2014/main" id="{205F3187-7825-419B-B269-1D95155D3DB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97" y="3918258"/>
            <a:ext cx="2324744" cy="497742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21B04A53-9B4F-45EF-93C9-5723BA1B41C5}"/>
              </a:ext>
            </a:extLst>
          </p:cNvPr>
          <p:cNvSpPr/>
          <p:nvPr/>
        </p:nvSpPr>
        <p:spPr>
          <a:xfrm>
            <a:off x="2924207" y="3516628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2CBA9E-B11F-4688-A42B-63418460B4E9}"/>
              </a:ext>
            </a:extLst>
          </p:cNvPr>
          <p:cNvSpPr txBox="1"/>
          <p:nvPr/>
        </p:nvSpPr>
        <p:spPr>
          <a:xfrm>
            <a:off x="3630591" y="3958417"/>
            <a:ext cx="5208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Georgia" panose="02040502050405020303" pitchFamily="18" charset="0"/>
              </a:rPr>
              <a:t>Note that      will be updated after </a:t>
            </a:r>
            <a:r>
              <a:rPr lang="en-US" altLang="zh-CN" sz="1400" b="1" i="1" dirty="0">
                <a:latin typeface="Georgia" panose="02040502050405020303" pitchFamily="18" charset="0"/>
              </a:rPr>
              <a:t>u</a:t>
            </a:r>
            <a:r>
              <a:rPr lang="en-US" altLang="zh-CN" sz="1400" dirty="0">
                <a:latin typeface="Georgia" panose="02040502050405020303" pitchFamily="18" charset="0"/>
              </a:rPr>
              <a:t> is computed.</a:t>
            </a:r>
            <a:endParaRPr lang="zh-CN" altLang="en-US" sz="1400" dirty="0">
              <a:latin typeface="Georgia" panose="02040502050405020303" pitchFamily="18" charset="0"/>
            </a:endParaRPr>
          </a:p>
        </p:txBody>
      </p:sp>
      <p:pic>
        <p:nvPicPr>
          <p:cNvPr id="6" name="Picture 5" descr="\documentclass{article}&#10;\usepackage{amsmath}&#10;\pagestyle{empty}&#10;\begin{document}&#10;&#10;$&#10;\dot{\hat{\boldsymbol{p}}}&#10;$&#10;&#10;&#10;\end{document}" title="IguanaTex Bitmap Display">
            <a:extLst>
              <a:ext uri="{FF2B5EF4-FFF2-40B4-BE49-F238E27FC236}">
                <a16:creationId xmlns:a16="http://schemas.microsoft.com/office/drawing/2014/main" id="{EA51FD56-3F04-4358-8F4C-89BA4A85443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665" y="3936872"/>
            <a:ext cx="150786" cy="27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04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B8D4DE-B7D6-407A-A816-472A51E7D19C}"/>
              </a:ext>
            </a:extLst>
          </p:cNvPr>
          <p:cNvSpPr txBox="1"/>
          <p:nvPr/>
        </p:nvSpPr>
        <p:spPr>
          <a:xfrm>
            <a:off x="76049" y="107776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Controller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62BF37-C835-45C2-BF8B-A2285A46776E}"/>
              </a:ext>
            </a:extLst>
          </p:cNvPr>
          <p:cNvCxnSpPr>
            <a:cxnSpLocks/>
          </p:cNvCxnSpPr>
          <p:nvPr/>
        </p:nvCxnSpPr>
        <p:spPr>
          <a:xfrm>
            <a:off x="0" y="708414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\documentclass{article}&#10;\usepackage{amsmath}&#10;\pagestyle{empty}&#10;\begin{document}&#10;&#10;$&#10;\boldsymbol{e}_x&#10;= \boldsymbol{x}_c - \boldsymbol{x}_{c,d}&#10;$&#10;&#10;&#10;\end{document}" title="IguanaTex Bitmap Display">
            <a:extLst>
              <a:ext uri="{FF2B5EF4-FFF2-40B4-BE49-F238E27FC236}">
                <a16:creationId xmlns:a16="http://schemas.microsoft.com/office/drawing/2014/main" id="{BEAEAE0B-EAD9-4239-BA8B-DBDA19C5A1B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62" y="1791753"/>
            <a:ext cx="1532751" cy="1844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773FC5-D2F2-4437-BA8E-2C04699FD2BE}"/>
              </a:ext>
            </a:extLst>
          </p:cNvPr>
          <p:cNvSpPr txBox="1"/>
          <p:nvPr/>
        </p:nvSpPr>
        <p:spPr>
          <a:xfrm>
            <a:off x="76049" y="1012089"/>
            <a:ext cx="3964361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Control – Translation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pic>
        <p:nvPicPr>
          <p:cNvPr id="21" name="Picture 20" descr="\documentclass{article}&#10;\usepackage{amsmath}&#10;\usepackage{color}&#10;\pagestyle{empty}&#10;\begin{document}&#10;&#10;$&#10;\color{blue}&#10;\boldsymbol{f}_{d}&#10;= -k_x\boldsymbol{e}_x&#10;- k_v\boldsymbol{e}_{v_x}&#10;+ m \ddot{\boldsymbol{x}}_{c,d}&#10;+ m g \boldsymbol{e}_3&#10;- \hat{\boldsymbol{d}}_{t}&#10;$&#10;&#10;&#10;\end{document}" title="IguanaTex Bitmap Display">
            <a:extLst>
              <a:ext uri="{FF2B5EF4-FFF2-40B4-BE49-F238E27FC236}">
                <a16:creationId xmlns:a16="http://schemas.microsoft.com/office/drawing/2014/main" id="{2420BA1F-D2C8-44C4-952A-D19B4DB5DBA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640" y="1946033"/>
            <a:ext cx="4495774" cy="307429"/>
          </a:xfrm>
          <a:prstGeom prst="rect">
            <a:avLst/>
          </a:prstGeom>
        </p:spPr>
      </p:pic>
      <p:pic>
        <p:nvPicPr>
          <p:cNvPr id="7" name="Picture 6" descr="\documentclass{article}&#10;\usepackage{amsmath}&#10;\pagestyle{empty}&#10;\begin{document}&#10;&#10;$&#10;\boldsymbol{e}_{v_x}&#10;= \dot{\boldsymbol{x}}_c - \dot{\boldsymbol{x}}_{c,d}&#10;$&#10;&#10;&#10;\end{document}" title="IguanaTex Bitmap Display">
            <a:extLst>
              <a:ext uri="{FF2B5EF4-FFF2-40B4-BE49-F238E27FC236}">
                <a16:creationId xmlns:a16="http://schemas.microsoft.com/office/drawing/2014/main" id="{F31EA892-7C8C-403A-B83F-786BD60980A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53" y="2081036"/>
            <a:ext cx="1627906" cy="240088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&#10;\boldsymbol{e}_{a_x} &#10;= \ddot{\boldsymbol{x}}_c - \ddot{\boldsymbol{x}}_{c,d}&#10;$&#10;&#10;&#10;\end{document}" title="IguanaTex Bitmap Display">
            <a:extLst>
              <a:ext uri="{FF2B5EF4-FFF2-40B4-BE49-F238E27FC236}">
                <a16:creationId xmlns:a16="http://schemas.microsoft.com/office/drawing/2014/main" id="{06EDB8CA-AD61-4DAD-8620-D3B73E36BAC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32" y="4052440"/>
            <a:ext cx="1636690" cy="240088"/>
          </a:xfrm>
          <a:prstGeom prst="rect">
            <a:avLst/>
          </a:prstGeom>
        </p:spPr>
      </p:pic>
      <p:pic>
        <p:nvPicPr>
          <p:cNvPr id="9" name="Picture 8" descr="\documentclass{article}&#10;\usepackage{amsmath}&#10;\pagestyle{empty}&#10;\begin{document}&#10;&#10;$&#10;\boldsymbol{e}_{j_x} &#10;= {\boldsymbol{x}}_c^{(3)} - {\boldsymbol{x}}_{c,d}^{(3)}&#10;$&#10;&#10;&#10;\end{document}" title="IguanaTex Bitmap Display">
            <a:extLst>
              <a:ext uri="{FF2B5EF4-FFF2-40B4-BE49-F238E27FC236}">
                <a16:creationId xmlns:a16="http://schemas.microsoft.com/office/drawing/2014/main" id="{041A0B9C-B678-4E5B-8C8A-C8A7D27EEE7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583" y="4757773"/>
            <a:ext cx="1772838" cy="36598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C4F115C-7DE0-4344-BB71-340C76E60E1E}"/>
              </a:ext>
            </a:extLst>
          </p:cNvPr>
          <p:cNvSpPr/>
          <p:nvPr/>
        </p:nvSpPr>
        <p:spPr>
          <a:xfrm>
            <a:off x="2421931" y="1556464"/>
            <a:ext cx="400310" cy="1009009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pic>
        <p:nvPicPr>
          <p:cNvPr id="11" name="Picture 10" descr="\documentclass{article}&#10;\usepackage{amsmath}&#10;\usepackage{color}&#10;\pagestyle{empty}&#10;\begin{document}&#10;&#10;$&#10;\color{blue}&#10;u_1 = \boldsymbol{f}_{d}^{T} \boldsymbol{R}_0 \boldsymbol{e}_3&#10;$&#10;&#10;&#10;\end{document}" title="IguanaTex Bitmap Display">
            <a:extLst>
              <a:ext uri="{FF2B5EF4-FFF2-40B4-BE49-F238E27FC236}">
                <a16:creationId xmlns:a16="http://schemas.microsoft.com/office/drawing/2014/main" id="{40C0EB67-D1BD-45C7-BDFF-E04993125F2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150" y="1886755"/>
            <a:ext cx="1431737" cy="291325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8C20057F-6DF3-4BB5-BFB7-0E87FCFAC65E}"/>
              </a:ext>
            </a:extLst>
          </p:cNvPr>
          <p:cNvSpPr/>
          <p:nvPr/>
        </p:nvSpPr>
        <p:spPr>
          <a:xfrm>
            <a:off x="7941900" y="1572480"/>
            <a:ext cx="400310" cy="1009009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pic>
        <p:nvPicPr>
          <p:cNvPr id="13" name="Picture 12" descr="\documentclass{article}&#10;\usepackage{amsmath}&#10;\usepackage{color}&#10;\pagestyle{empty}&#10;\begin{document}&#10;&#10;$&#10;\color{blue}&#10;\dot{\boldsymbol{f}}_{d}&#10;= -k_x \boldsymbol{e}_{v_x}&#10;- k_v \boldsymbol{e}_{a_x}&#10;+ m \boldsymbol{x}_{c,d}^{(3)}&#10;$&#10;&#10;&#10;\end{document}" title="IguanaTex Bitmap Display">
            <a:extLst>
              <a:ext uri="{FF2B5EF4-FFF2-40B4-BE49-F238E27FC236}">
                <a16:creationId xmlns:a16="http://schemas.microsoft.com/office/drawing/2014/main" id="{BD792161-2903-49E0-90AF-AC422FA0520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185" y="3005017"/>
            <a:ext cx="3195792" cy="364523"/>
          </a:xfrm>
          <a:prstGeom prst="rect">
            <a:avLst/>
          </a:prstGeom>
        </p:spPr>
      </p:pic>
      <p:pic>
        <p:nvPicPr>
          <p:cNvPr id="14" name="Picture 13" descr="\documentclass{article}&#10;\usepackage{amsmath}&#10;\usepackage{color}&#10;\pagestyle{empty}&#10;\begin{document}&#10;&#10;$&#10;\color{blue}&#10;\ddot{\boldsymbol{f}}_{d}&#10;= -k_x \boldsymbol{e}_{a_x}&#10;- k_v \boldsymbol{e}_{j_x}&#10;+ m \boldsymbol{x}_{c,d}^{(4)}&#10;$&#10;&#10;&#10;\end{document}" title="IguanaTex Bitmap Display">
            <a:extLst>
              <a:ext uri="{FF2B5EF4-FFF2-40B4-BE49-F238E27FC236}">
                <a16:creationId xmlns:a16="http://schemas.microsoft.com/office/drawing/2014/main" id="{BEF43DF6-EBCE-4ECB-A322-431C7019F37C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846" y="3827181"/>
            <a:ext cx="3178224" cy="364523"/>
          </a:xfrm>
          <a:prstGeom prst="rect">
            <a:avLst/>
          </a:prstGeom>
        </p:spPr>
      </p:pic>
      <p:pic>
        <p:nvPicPr>
          <p:cNvPr id="15" name="Picture 14" descr="\documentclass{article}&#10;\usepackage{amsmath}&#10;\pagestyle{empty}&#10;\begin{document}&#10;&#10;$&#10;\ddot{\boldsymbol{x}}_c = \dfrac{u_1}{m}\boldsymbol{R}_0\boldsymbol{e}_3 - g\boldsymbol{e}_3&#10;+ \dfrac{1}{m} \hat{\boldsymbol{d}}_t&#10;$&#10;&#10;&#10;\end{document}" title="IguanaTex Bitmap Display">
            <a:extLst>
              <a:ext uri="{FF2B5EF4-FFF2-40B4-BE49-F238E27FC236}">
                <a16:creationId xmlns:a16="http://schemas.microsoft.com/office/drawing/2014/main" id="{8968D878-D6BE-47C2-8F73-8EE729BF3AD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17" y="3419857"/>
            <a:ext cx="2898612" cy="500671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1747C56F-9E48-4EDF-B83B-5D34209ADE20}"/>
              </a:ext>
            </a:extLst>
          </p:cNvPr>
          <p:cNvSpPr/>
          <p:nvPr/>
        </p:nvSpPr>
        <p:spPr>
          <a:xfrm>
            <a:off x="3414100" y="3450802"/>
            <a:ext cx="400310" cy="1009009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01182E4-90DF-4ECA-9C9E-6D300611170D}"/>
              </a:ext>
            </a:extLst>
          </p:cNvPr>
          <p:cNvSpPr/>
          <p:nvPr/>
        </p:nvSpPr>
        <p:spPr>
          <a:xfrm>
            <a:off x="7673954" y="3450802"/>
            <a:ext cx="400310" cy="1009009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pic>
        <p:nvPicPr>
          <p:cNvPr id="18" name="Picture 17" descr="\documentclass{article}&#10;\usepackage{amsmath}&#10;\pagestyle{empty}&#10;\begin{document}&#10;&#10;$&#10;\dot{u}_1 = \dot{\boldsymbol{f}}_d^T \boldsymbol{R}_0\boldsymbol{e}_3 &#10;          + \boldsymbol{f}_d^T \boldsymbol{R}_0\hat{\boldsymbol{\omega}}_0\boldsymbol{e}_3&#10;$&#10;&#10;&#10;\end{document}" title="IguanaTex Bitmap Display">
            <a:extLst>
              <a:ext uri="{FF2B5EF4-FFF2-40B4-BE49-F238E27FC236}">
                <a16:creationId xmlns:a16="http://schemas.microsoft.com/office/drawing/2014/main" id="{D9C74D19-BE55-4DE4-9FA5-25F7C91AF70C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185" y="3579301"/>
            <a:ext cx="2905930" cy="348420"/>
          </a:xfrm>
          <a:prstGeom prst="rect">
            <a:avLst/>
          </a:prstGeom>
        </p:spPr>
      </p:pic>
      <p:pic>
        <p:nvPicPr>
          <p:cNvPr id="19" name="Picture 18" descr="\documentclass{article}&#10;\usepackage{amsmath}&#10;\pagestyle{empty}&#10;\begin{document}&#10;&#10;$&#10;\boldsymbol{x}_c^{(3)} = \dfrac{\dot{u}_1}{m}\boldsymbol{R}_0\boldsymbol{e}_3 &#10;                       + \dfrac{u_1}{m}\boldsymbol{R}_0\hat{\boldsymbol{\omega}}_0\boldsymbol{e}_3&#10;$&#10;&#10;&#10;\end{document}" title="IguanaTex Bitmap Display">
            <a:extLst>
              <a:ext uri="{FF2B5EF4-FFF2-40B4-BE49-F238E27FC236}">
                <a16:creationId xmlns:a16="http://schemas.microsoft.com/office/drawing/2014/main" id="{C2CD6E0C-73C3-4B53-90D0-ED355739A7DA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583" y="4102404"/>
            <a:ext cx="3053789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428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B8D4DE-B7D6-407A-A816-472A51E7D19C}"/>
              </a:ext>
            </a:extLst>
          </p:cNvPr>
          <p:cNvSpPr txBox="1"/>
          <p:nvPr/>
        </p:nvSpPr>
        <p:spPr>
          <a:xfrm>
            <a:off x="76049" y="107776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Controller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62BF37-C835-45C2-BF8B-A2285A46776E}"/>
              </a:ext>
            </a:extLst>
          </p:cNvPr>
          <p:cNvCxnSpPr>
            <a:cxnSpLocks/>
          </p:cNvCxnSpPr>
          <p:nvPr/>
        </p:nvCxnSpPr>
        <p:spPr>
          <a:xfrm>
            <a:off x="0" y="708414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93180C-F271-4A42-B910-28BFB897C308}"/>
              </a:ext>
            </a:extLst>
          </p:cNvPr>
          <p:cNvSpPr txBox="1"/>
          <p:nvPr/>
        </p:nvSpPr>
        <p:spPr>
          <a:xfrm>
            <a:off x="30637" y="1103369"/>
            <a:ext cx="4419760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Control – Rotation</a:t>
            </a:r>
          </a:p>
        </p:txBody>
      </p:sp>
      <p:pic>
        <p:nvPicPr>
          <p:cNvPr id="5" name="Picture 4" descr="\documentclass{article}&#10;\usepackage{amsmath}&#10;\usepackage{color}&#10;\pagestyle{empty}&#10;\begin{document}&#10;&#10;$&#10;\color{blue}&#10;\boldsymbol{b}_{3,c}&#10;= \dfrac{\boldsymbol{f}_d}{\|\boldsymbol{f}_d\|}&#10;$&#10;&#10;&#10;\end{document}" title="IguanaTex Bitmap Display">
            <a:extLst>
              <a:ext uri="{FF2B5EF4-FFF2-40B4-BE49-F238E27FC236}">
                <a16:creationId xmlns:a16="http://schemas.microsoft.com/office/drawing/2014/main" id="{B5B3AD3C-9E3B-47F1-9938-E87676B5FBE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5" y="1869147"/>
            <a:ext cx="1247281" cy="568010"/>
          </a:xfrm>
          <a:prstGeom prst="rect">
            <a:avLst/>
          </a:prstGeom>
        </p:spPr>
      </p:pic>
      <p:pic>
        <p:nvPicPr>
          <p:cNvPr id="6" name="Picture 5" descr="\documentclass{article}&#10;\usepackage{amsmath}&#10;\usepackage{color}&#10;\pagestyle{empty}&#10;\begin{document}&#10;&#10;$&#10;\color{blue}&#10;\boldsymbol{P}_1 = \boldsymbol{I}_3 - \boldsymbol{b}_{3,c} \boldsymbol{b}_{3,c}^{T}&#10;$&#10;&#10;&#10;\end{document}" title="IguanaTex Bitmap Display">
            <a:extLst>
              <a:ext uri="{FF2B5EF4-FFF2-40B4-BE49-F238E27FC236}">
                <a16:creationId xmlns:a16="http://schemas.microsoft.com/office/drawing/2014/main" id="{68E9C436-C67B-484E-991E-055D5FF86E7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275" y="2018986"/>
            <a:ext cx="1936800" cy="322069"/>
          </a:xfrm>
          <a:prstGeom prst="rect">
            <a:avLst/>
          </a:prstGeom>
        </p:spPr>
      </p:pic>
      <p:pic>
        <p:nvPicPr>
          <p:cNvPr id="7" name="Picture 6" descr="\documentclass{article}&#10;\usepackage{amsmath}&#10;\usepackage{color}&#10;\pagestyle{empty}&#10;\begin{document}&#10;&#10;$&#10;\color{blue}&#10;\dot{\boldsymbol{b}}_{1,c}&#10;= \dfrac{1}{\|\boldsymbol{s}\|} \boldsymbol{P}_2 \dot{\boldsymbol{s}}&#10;$&#10;&#10;&#10;\end{document}" title="IguanaTex Bitmap Display">
            <a:extLst>
              <a:ext uri="{FF2B5EF4-FFF2-40B4-BE49-F238E27FC236}">
                <a16:creationId xmlns:a16="http://schemas.microsoft.com/office/drawing/2014/main" id="{4F269177-F4E8-429B-A0BA-037A24F94B6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504" y="3082708"/>
            <a:ext cx="1566420" cy="559227"/>
          </a:xfrm>
          <a:prstGeom prst="rect">
            <a:avLst/>
          </a:prstGeom>
        </p:spPr>
      </p:pic>
      <p:pic>
        <p:nvPicPr>
          <p:cNvPr id="8" name="Picture 7" descr="\documentclass{article}&#10;\usepackage{amsmath}&#10;\usepackage{color}&#10;\pagestyle{empty}&#10;\begin{document}&#10;&#10;$&#10;\color{blue}&#10;\boldsymbol{b}_{1,c}&#10;= \dfrac{\boldsymbol{s}}{\|\boldsymbol{s}\|}&#10;$&#10;&#10;&#10;\end{document}" title="IguanaTex Bitmap Display">
            <a:extLst>
              <a:ext uri="{FF2B5EF4-FFF2-40B4-BE49-F238E27FC236}">
                <a16:creationId xmlns:a16="http://schemas.microsoft.com/office/drawing/2014/main" id="{C9017F24-DE3D-4980-B9F7-06B7DFDAA3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96" y="3274381"/>
            <a:ext cx="1097958" cy="506526"/>
          </a:xfrm>
          <a:prstGeom prst="rect">
            <a:avLst/>
          </a:prstGeom>
        </p:spPr>
      </p:pic>
      <p:pic>
        <p:nvPicPr>
          <p:cNvPr id="9" name="Picture 8" descr="\documentclass{article}&#10;\usepackage{amsmath}&#10;\usepackage{color}&#10;\pagestyle{empty}&#10;\begin{document}&#10;&#10;$&#10;\color{blue}&#10;\dot{\boldsymbol{b}}_{2,c}&#10;= \dot{\boldsymbol{b}}_{3,c} \times \boldsymbol{b}_{1,c} &#10;+ \boldsymbol{b}_{3,c} \times \dot{\boldsymbol{b}}_{1,c}&#10;$&#10;&#10;&#10;\end{document}" title="IguanaTex Bitmap Display">
            <a:extLst>
              <a:ext uri="{FF2B5EF4-FFF2-40B4-BE49-F238E27FC236}">
                <a16:creationId xmlns:a16="http://schemas.microsoft.com/office/drawing/2014/main" id="{A0C3CE15-5B97-4AA7-BC90-0CDE78BD5AA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091" y="4463210"/>
            <a:ext cx="3094778" cy="301573"/>
          </a:xfrm>
          <a:prstGeom prst="rect">
            <a:avLst/>
          </a:prstGeom>
        </p:spPr>
      </p:pic>
      <p:pic>
        <p:nvPicPr>
          <p:cNvPr id="10" name="Picture 9" descr="\documentclass{article}&#10;\usepackage{amsmath}&#10;\usepackage{color}&#10;\pagestyle{empty}&#10;\begin{document}&#10;&#10;$&#10;\color{blue}&#10;\dot{\boldsymbol{R}}_{0,c}&#10;= \begin{bmatrix}&#10;\dot{\boldsymbol{b}}_{1,c} &amp;&#10;\dot{\boldsymbol{b}}_{2,c} &amp;&#10;\dot{\boldsymbol{b}}_{3,c}&#10;\end{bmatrix}&#10;$&#10;&#10;&#10;\end{document}" title="IguanaTex Bitmap Display">
            <a:extLst>
              <a:ext uri="{FF2B5EF4-FFF2-40B4-BE49-F238E27FC236}">
                <a16:creationId xmlns:a16="http://schemas.microsoft.com/office/drawing/2014/main" id="{33E79CC0-8414-4ECC-8134-E05F0829754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302" y="5035798"/>
            <a:ext cx="2564832" cy="314747"/>
          </a:xfrm>
          <a:prstGeom prst="rect">
            <a:avLst/>
          </a:prstGeom>
        </p:spPr>
      </p:pic>
      <p:pic>
        <p:nvPicPr>
          <p:cNvPr id="11" name="Picture 10" descr="\documentclass{article}&#10;\usepackage{amsmath}&#10;\usepackage{color}&#10;\pagestyle{empty}&#10;\begin{document}&#10;&#10;$&#10;\color{blue}&#10;\dot{\boldsymbol{P}_1}&#10;= -\bigl( \dot{\boldsymbol{b}}_{3,c}\boldsymbol{b}_{3,c}^{T} &#10;+ \boldsymbol{b}_{3,c}\dot{\boldsymbol{b}}_{3,c}^{T} \bigr)&#10;$&#10;&#10;&#10;\end{document}" title="IguanaTex Bitmap Display">
            <a:extLst>
              <a:ext uri="{FF2B5EF4-FFF2-40B4-BE49-F238E27FC236}">
                <a16:creationId xmlns:a16="http://schemas.microsoft.com/office/drawing/2014/main" id="{73D7C7DF-D334-4E3B-9A4B-575F764BDC2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348" y="3112376"/>
            <a:ext cx="2835661" cy="379162"/>
          </a:xfrm>
          <a:prstGeom prst="rect">
            <a:avLst/>
          </a:prstGeom>
        </p:spPr>
      </p:pic>
      <p:pic>
        <p:nvPicPr>
          <p:cNvPr id="12" name="Picture 11" descr="\documentclass{article}&#10;\usepackage{amsmath}&#10;\usepackage{color}&#10;\pagestyle{empty}&#10;\begin{document}&#10;&#10;$&#10;\color{blue}&#10;\dot{\boldsymbol{s}}&#10;= \dot{\boldsymbol{P}_1} \boldsymbol{b}_{1,d} + \boldsymbol{P}_1 \dot{\boldsymbol{b}}_{1,d}&#10;$&#10;&#10;&#10;\end{document}" title="IguanaTex Bitmap Display">
            <a:extLst>
              <a:ext uri="{FF2B5EF4-FFF2-40B4-BE49-F238E27FC236}">
                <a16:creationId xmlns:a16="http://schemas.microsoft.com/office/drawing/2014/main" id="{4D1923C1-5096-40E3-A6C8-BFEC723EDC2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419" y="3355403"/>
            <a:ext cx="2162247" cy="301573"/>
          </a:xfrm>
          <a:prstGeom prst="rect">
            <a:avLst/>
          </a:prstGeom>
        </p:spPr>
      </p:pic>
      <p:pic>
        <p:nvPicPr>
          <p:cNvPr id="13" name="Picture 12" descr="\documentclass{article}&#10;\usepackage{amsmath}&#10;\usepackage{color}&#10;\pagestyle{empty}&#10;\begin{document}&#10;&#10;$&#10;\color{blue}&#10;\boldsymbol{s}&#10;= \boldsymbol{P}_1\boldsymbol{b}_{1,d}&#10;$&#10;&#10;&#10;\end{document}" title="IguanaTex Bitmap Display">
            <a:extLst>
              <a:ext uri="{FF2B5EF4-FFF2-40B4-BE49-F238E27FC236}">
                <a16:creationId xmlns:a16="http://schemas.microsoft.com/office/drawing/2014/main" id="{561509E0-998B-4CEC-A3EE-BB450D965CF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418" y="2078317"/>
            <a:ext cx="1146268" cy="243014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9E5E4862-176E-41C0-BC01-E989BD9D94B6}"/>
              </a:ext>
            </a:extLst>
          </p:cNvPr>
          <p:cNvSpPr/>
          <p:nvPr/>
        </p:nvSpPr>
        <p:spPr>
          <a:xfrm>
            <a:off x="1546347" y="2047837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333D440-E534-4B58-88AB-E3C930C2874C}"/>
              </a:ext>
            </a:extLst>
          </p:cNvPr>
          <p:cNvSpPr/>
          <p:nvPr/>
        </p:nvSpPr>
        <p:spPr>
          <a:xfrm>
            <a:off x="5147323" y="2021935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870B386-546D-418F-85C0-C14F59B98E07}"/>
              </a:ext>
            </a:extLst>
          </p:cNvPr>
          <p:cNvSpPr/>
          <p:nvPr/>
        </p:nvSpPr>
        <p:spPr>
          <a:xfrm>
            <a:off x="1570577" y="3388946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7A30B9C-151D-4C09-87E6-D7CB7B688701}"/>
              </a:ext>
            </a:extLst>
          </p:cNvPr>
          <p:cNvSpPr/>
          <p:nvPr/>
        </p:nvSpPr>
        <p:spPr>
          <a:xfrm>
            <a:off x="5162580" y="3423124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CB59A57-86B6-4266-831C-1A5E5313C7E9}"/>
              </a:ext>
            </a:extLst>
          </p:cNvPr>
          <p:cNvSpPr/>
          <p:nvPr/>
        </p:nvSpPr>
        <p:spPr>
          <a:xfrm>
            <a:off x="8176610" y="2028623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042FD18-5C69-4425-9C97-71D8B3781A9F}"/>
              </a:ext>
            </a:extLst>
          </p:cNvPr>
          <p:cNvSpPr/>
          <p:nvPr/>
        </p:nvSpPr>
        <p:spPr>
          <a:xfrm>
            <a:off x="8191867" y="3429812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pic>
        <p:nvPicPr>
          <p:cNvPr id="20" name="Picture 19" descr="\documentclass{article}&#10;\usepackage{amsmath}&#10;\usepackage{color}&#10;\pagestyle{empty}&#10;\begin{document}&#10;&#10;$&#10;\color{blue}&#10;\dot{\boldsymbol{b}}_{3,c}&#10;= \dfrac{1}{\|\boldsymbol{f}_{d}\|} &#10;\boldsymbol{P}_1 \dot{\boldsymbol{f}}_d&#10;$&#10;&#10;&#10;\end{document}" title="IguanaTex Bitmap Display">
            <a:extLst>
              <a:ext uri="{FF2B5EF4-FFF2-40B4-BE49-F238E27FC236}">
                <a16:creationId xmlns:a16="http://schemas.microsoft.com/office/drawing/2014/main" id="{206D4BB6-D079-4D81-BD22-900341266182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45" y="1883045"/>
            <a:ext cx="1862137" cy="559228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0E284E45-20BF-420C-B43B-B59247459EED}"/>
              </a:ext>
            </a:extLst>
          </p:cNvPr>
          <p:cNvSpPr/>
          <p:nvPr/>
        </p:nvSpPr>
        <p:spPr>
          <a:xfrm>
            <a:off x="8224876" y="4524442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pic>
        <p:nvPicPr>
          <p:cNvPr id="22" name="Picture 21" descr="\documentclass{article}&#10;\usepackage{amsmath}&#10;\usepackage{color}&#10;\pagestyle{empty}&#10;\begin{document}&#10;&#10;$&#10;\color{blue}&#10;\boldsymbol{P}_2&#10;= \boldsymbol{I}_3 - \boldsymbol{b}_{1,c} \boldsymbol{b}_{1,c}^{T}&#10;$&#10;&#10;&#10;\end{document}" title="IguanaTex Bitmap Display">
            <a:extLst>
              <a:ext uri="{FF2B5EF4-FFF2-40B4-BE49-F238E27FC236}">
                <a16:creationId xmlns:a16="http://schemas.microsoft.com/office/drawing/2014/main" id="{5C81C9F9-2644-458B-AA8A-856238A7812F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17" y="3701499"/>
            <a:ext cx="1936800" cy="322069"/>
          </a:xfrm>
          <a:prstGeom prst="rect">
            <a:avLst/>
          </a:prstGeom>
        </p:spPr>
      </p:pic>
      <p:pic>
        <p:nvPicPr>
          <p:cNvPr id="23" name="Picture 22" descr="\documentclass{article}&#10;\usepackage{amsmath}&#10;\usepackage{color}&#10;\pagestyle{empty}&#10;\begin{document}&#10;&#10;$&#10;\color{blue}&#10;\dot{\boldsymbol{P}}_2&#10;= -\bigl( \dot{\boldsymbol{b}}_{1,c}\boldsymbol{b}_{1,c}^{T}&#10;+ \boldsymbol{b}_{1,c}\dot{\boldsymbol{b}}_{1,c}^{T} \bigr)&#10;$&#10;&#10;&#10;\end{document}" title="IguanaTex Bitmap Display">
            <a:extLst>
              <a:ext uri="{FF2B5EF4-FFF2-40B4-BE49-F238E27FC236}">
                <a16:creationId xmlns:a16="http://schemas.microsoft.com/office/drawing/2014/main" id="{F3D4D2A7-A02A-469B-A004-31E426EC97E9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301" y="3731036"/>
            <a:ext cx="2835660" cy="379162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5C55D85D-1FA2-40AC-BBC2-E3FD1649E58F}"/>
              </a:ext>
            </a:extLst>
          </p:cNvPr>
          <p:cNvSpPr/>
          <p:nvPr/>
        </p:nvSpPr>
        <p:spPr>
          <a:xfrm>
            <a:off x="1548471" y="4526565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pic>
        <p:nvPicPr>
          <p:cNvPr id="25" name="Picture 24" descr="\documentclass{article}&#10;\usepackage{amsmath}&#10;\usepackage{color}&#10;\pagestyle{empty}&#10;\begin{document}&#10;&#10;$&#10;\color{blue}&#10;\boldsymbol{b}_{2,c} = \boldsymbol{b}_{3,c} \times \boldsymbol{b}_{1,c}&#10;$&#10;&#10;&#10;\end{document}" title="IguanaTex Bitmap Display">
            <a:extLst>
              <a:ext uri="{FF2B5EF4-FFF2-40B4-BE49-F238E27FC236}">
                <a16:creationId xmlns:a16="http://schemas.microsoft.com/office/drawing/2014/main" id="{38D1E1B2-5F09-405D-B0F8-B46993B6C70B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17" y="4539829"/>
            <a:ext cx="1739167" cy="243014"/>
          </a:xfrm>
          <a:prstGeom prst="rect">
            <a:avLst/>
          </a:prstGeom>
        </p:spPr>
      </p:pic>
      <p:pic>
        <p:nvPicPr>
          <p:cNvPr id="26" name="Picture 25" descr="\documentclass{article}&#10;\usepackage{amsmath}&#10;\usepackage{color}&#10;\pagestyle{empty}&#10;\begin{document}&#10;&#10;$&#10;\color{blue}&#10;\boldsymbol{R}_{0,c}&#10;= \begin{bmatrix}&#10;\boldsymbol{b}_{1,c} &amp;&#10;\boldsymbol{b}_{2,c} &amp;&#10;\boldsymbol{b}_{3,c}&#10;\end{bmatrix}&#10;$&#10;&#10;&#10;\end{document}" title="IguanaTex Bitmap Display">
            <a:extLst>
              <a:ext uri="{FF2B5EF4-FFF2-40B4-BE49-F238E27FC236}">
                <a16:creationId xmlns:a16="http://schemas.microsoft.com/office/drawing/2014/main" id="{C88E3116-7713-452D-86A7-AF502A8E9D8F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38" y="5034984"/>
            <a:ext cx="2564833" cy="297181"/>
          </a:xfrm>
          <a:prstGeom prst="rect">
            <a:avLst/>
          </a:prstGeom>
        </p:spPr>
      </p:pic>
      <p:pic>
        <p:nvPicPr>
          <p:cNvPr id="27" name="Picture 26" descr="\documentclass{article}&#10;\usepackage{amsmath}&#10;\usepackage{color}&#10;\pagestyle{empty}&#10;\begin{document}&#10;&#10;$&#10;\color{blue}&#10;\boldsymbol{\omega}_{0,c}&#10;= \left( \boldsymbol{R}_{0,c}^{T} \dot{\boldsymbol{R}}_{0,c} \right)^{\vee}&#10;$&#10;&#10;&#10;\end{document}" title="IguanaTex Bitmap Display">
            <a:extLst>
              <a:ext uri="{FF2B5EF4-FFF2-40B4-BE49-F238E27FC236}">
                <a16:creationId xmlns:a16="http://schemas.microsoft.com/office/drawing/2014/main" id="{B7BD51F0-B706-4C2F-B2AC-572E4E79E82E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186" y="5512867"/>
            <a:ext cx="2102224" cy="484564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8F37E6EC-A386-439A-B13D-DF7C60E7D114}"/>
              </a:ext>
            </a:extLst>
          </p:cNvPr>
          <p:cNvSpPr/>
          <p:nvPr/>
        </p:nvSpPr>
        <p:spPr>
          <a:xfrm>
            <a:off x="8195781" y="5531235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</p:spTree>
    <p:extLst>
      <p:ext uri="{BB962C8B-B14F-4D97-AF65-F5344CB8AC3E}">
        <p14:creationId xmlns:p14="http://schemas.microsoft.com/office/powerpoint/2010/main" val="42551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B8D4DE-B7D6-407A-A816-472A51E7D19C}"/>
              </a:ext>
            </a:extLst>
          </p:cNvPr>
          <p:cNvSpPr txBox="1"/>
          <p:nvPr/>
        </p:nvSpPr>
        <p:spPr>
          <a:xfrm>
            <a:off x="76049" y="107776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Controller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62BF37-C835-45C2-BF8B-A2285A46776E}"/>
              </a:ext>
            </a:extLst>
          </p:cNvPr>
          <p:cNvCxnSpPr>
            <a:cxnSpLocks/>
          </p:cNvCxnSpPr>
          <p:nvPr/>
        </p:nvCxnSpPr>
        <p:spPr>
          <a:xfrm>
            <a:off x="0" y="708414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\documentclass{article}&#10;\usepackage{amsmath}&#10;\usepackage{color}&#10;\pagestyle{empty}&#10;\begin{document}&#10;&#10;$&#10;\color{blue}&#10;\dot{\boldsymbol{\omega}}_{0,c}&#10;= \bigl( \dot{\boldsymbol{R}}_{0,c}^{T} \dot{\boldsymbol{R}}_{0,c}&#10;+ \boldsymbol{R}_{0,c}^{T} \ddot{\boldsymbol{R}}_{0,c}&#10;\bigr)^{\vee}&#10;$&#10;&#10;&#10;\end{document}" title="IguanaTex Bitmap Display">
            <a:extLst>
              <a:ext uri="{FF2B5EF4-FFF2-40B4-BE49-F238E27FC236}">
                <a16:creationId xmlns:a16="http://schemas.microsoft.com/office/drawing/2014/main" id="{A0F374E8-56FA-40E8-8F8C-1F8E65F3018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054" y="3962828"/>
            <a:ext cx="3266061" cy="377697"/>
          </a:xfrm>
          <a:prstGeom prst="rect">
            <a:avLst/>
          </a:prstGeom>
        </p:spPr>
      </p:pic>
      <p:pic>
        <p:nvPicPr>
          <p:cNvPr id="5" name="Picture 4" descr="\documentclass{article}&#10;\usepackage{amsmath}&#10;\usepackage{color}&#10;\pagestyle{empty}&#10;\begin{document}&#10;&#10;$&#10;\color{blue}&#10;\ddot{\boldsymbol{R}}_{0,c}&#10;= \begin{bmatrix}&#10;\ddot{\boldsymbol{b}}_{1,c} &amp;&#10;\ddot{\boldsymbol{b}}_{2,c} &amp;&#10;\ddot{\boldsymbol{b}}_{3,c}&#10;\end{bmatrix}&#10;$&#10;&#10;&#10;\end{document}" title="IguanaTex Bitmap Display">
            <a:extLst>
              <a:ext uri="{FF2B5EF4-FFF2-40B4-BE49-F238E27FC236}">
                <a16:creationId xmlns:a16="http://schemas.microsoft.com/office/drawing/2014/main" id="{710BF4C6-D8B7-4E4B-9C2C-DBA9DC6DFD1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154" y="3326131"/>
            <a:ext cx="2564833" cy="314747"/>
          </a:xfrm>
          <a:prstGeom prst="rect">
            <a:avLst/>
          </a:prstGeom>
        </p:spPr>
      </p:pic>
      <p:pic>
        <p:nvPicPr>
          <p:cNvPr id="6" name="Picture 5" descr="\documentclass{article}&#10;\usepackage{amsmath}&#10;\usepackage{color}&#10;\pagestyle{empty}&#10;\begin{document}&#10;&#10;$&#10;\color{blue}&#10;\ddot{\boldsymbol{P}}_1&#10;= -( \ddot{\boldsymbol{b}}_{3,c}\boldsymbol{b}_{3,c}^{T}&#10;+ 2\dot{\boldsymbol{b}}_{3,c}\dot{\boldsymbol{b}}_{3,c}^{T}&#10;+ \boldsymbol{b}_{3,c}\ddot{\boldsymbol{b}}_{3,c}^{T} )&#10;$&#10;&#10;&#10;\end{document}" title="IguanaTex Bitmap Display">
            <a:extLst>
              <a:ext uri="{FF2B5EF4-FFF2-40B4-BE49-F238E27FC236}">
                <a16:creationId xmlns:a16="http://schemas.microsoft.com/office/drawing/2014/main" id="{8D411CBB-3A11-478F-9C83-001F8375A0A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053" y="1362347"/>
            <a:ext cx="3993640" cy="379162"/>
          </a:xfrm>
          <a:prstGeom prst="rect">
            <a:avLst/>
          </a:prstGeom>
        </p:spPr>
      </p:pic>
      <p:pic>
        <p:nvPicPr>
          <p:cNvPr id="7" name="Picture 6" descr="\documentclass{article}&#10;\usepackage{amsmath}&#10;\usepackage{color}&#10;\pagestyle{empty}&#10;\begin{document}&#10;&#10;$&#10;\color{blue}&#10;\ddot{\boldsymbol{b}}_{3,c}&#10;= \dfrac{1}{\|\boldsymbol{f}_{d}\|} \left( \dot{\boldsymbol{P}}_1 \dot{\boldsymbol{f}}_{d} + \boldsymbol{P}_1 \ddot{\boldsymbol{f}}_{d} \right)&#10;- \dfrac{ \boldsymbol{b}_{3,c}^{T}\dot{\boldsymbol{f}}_{d} }{ \|\boldsymbol{f}_{d}\|^2 } \boldsymbol{P}_1\dot{\boldsymbol{f}}_{d}&#10;$&#10;&#10;&#10;\end{document}" title="IguanaTex Bitmap Display">
            <a:extLst>
              <a:ext uri="{FF2B5EF4-FFF2-40B4-BE49-F238E27FC236}">
                <a16:creationId xmlns:a16="http://schemas.microsoft.com/office/drawing/2014/main" id="{F55B5793-308F-4900-8109-DA944E21523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74" y="1222736"/>
            <a:ext cx="4708043" cy="64706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889FA12-7B78-4CBF-8ABE-4C4BD3FEC034}"/>
              </a:ext>
            </a:extLst>
          </p:cNvPr>
          <p:cNvSpPr/>
          <p:nvPr/>
        </p:nvSpPr>
        <p:spPr>
          <a:xfrm>
            <a:off x="5431424" y="1423191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pic>
        <p:nvPicPr>
          <p:cNvPr id="9" name="Picture 8" descr="\documentclass{article}&#10;\usepackage{amsmath}&#10;\usepackage{color}&#10;\pagestyle{empty}&#10;\begin{document}&#10;&#10;$&#10;\color{blue}&#10;\ddot{\boldsymbol{b}}_{1,c}&#10;= \dfrac{1}{\|\boldsymbol{s}\|} \bigl( \dot{\boldsymbol{P}}_2\dot{\boldsymbol{s}} + \boldsymbol{P}_2\ddot{\boldsymbol{s}} \bigr) &#10;- \dfrac{ \boldsymbol{b}_{1,c}^{T}\dot{\boldsymbol{s}} }{ \|\boldsymbol{s}\| } \dot{\boldsymbol{b}}_{1,c}&#10;$&#10;&#10;&#10;\end{document}" title="IguanaTex Bitmap Display">
            <a:extLst>
              <a:ext uri="{FF2B5EF4-FFF2-40B4-BE49-F238E27FC236}">
                <a16:creationId xmlns:a16="http://schemas.microsoft.com/office/drawing/2014/main" id="{D81207AF-DEA5-4458-9E12-461C2E938F0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71" y="2582609"/>
            <a:ext cx="3782832" cy="644137"/>
          </a:xfrm>
          <a:prstGeom prst="rect">
            <a:avLst/>
          </a:prstGeom>
        </p:spPr>
      </p:pic>
      <p:pic>
        <p:nvPicPr>
          <p:cNvPr id="10" name="Picture 9" descr="\documentclass{article}&#10;\usepackage{amsmath}&#10;\usepackage{color}&#10;\pagestyle{empty}&#10;\begin{document}&#10;&#10;$&#10;\color{blue}&#10;\ddot{\boldsymbol{b}}_{2,c}&#10;= \ddot{\boldsymbol{b}}_{3,c} \times \boldsymbol{b}_{1,c}&#10;+ 2\dot{\boldsymbol{b}}_{3,c} \times \dot{\boldsymbol{b}}_{1,c}&#10;+ \boldsymbol{b}_{3,c} \times \ddot{\boldsymbol{b}}_{1,c}&#10;$&#10;&#10;&#10;\end{document}" title="IguanaTex Bitmap Display">
            <a:extLst>
              <a:ext uri="{FF2B5EF4-FFF2-40B4-BE49-F238E27FC236}">
                <a16:creationId xmlns:a16="http://schemas.microsoft.com/office/drawing/2014/main" id="{386C5F89-889E-4668-A144-0C7AADB1416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367" y="2751750"/>
            <a:ext cx="4570436" cy="301573"/>
          </a:xfrm>
          <a:prstGeom prst="rect">
            <a:avLst/>
          </a:prstGeom>
        </p:spPr>
      </p:pic>
      <p:pic>
        <p:nvPicPr>
          <p:cNvPr id="11" name="Picture 10" descr="\documentclass{article}&#10;\usepackage{amsmath}&#10;\usepackage{color}&#10;\pagestyle{empty}&#10;\begin{document}&#10;&#10;$&#10;\color{blue}&#10;\ddot{\boldsymbol{s}}&#10;= \ddot{\boldsymbol{P}}_1 \boldsymbol{b}_{1,d}&#10;+ 2 \dot{\boldsymbol{P}}_1 \dot{\boldsymbol{b}}_{1,d}&#10;+ \boldsymbol{P}_1 \ddot{\boldsymbol{b}}_{1,d}&#10;$&#10;&#10;&#10;\end{document}" title="IguanaTex Bitmap Display">
            <a:extLst>
              <a:ext uri="{FF2B5EF4-FFF2-40B4-BE49-F238E27FC236}">
                <a16:creationId xmlns:a16="http://schemas.microsoft.com/office/drawing/2014/main" id="{3AD02FA5-7C3F-4DAD-854E-6E3CF786B41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054" y="2032927"/>
            <a:ext cx="3298267" cy="301573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278F7B78-5A71-41D0-B03B-A5CF88A9C91F}"/>
              </a:ext>
            </a:extLst>
          </p:cNvPr>
          <p:cNvSpPr/>
          <p:nvPr/>
        </p:nvSpPr>
        <p:spPr>
          <a:xfrm>
            <a:off x="5401792" y="2751749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7544BB0-E2E4-4805-84E9-B7FA4593F5E6}"/>
              </a:ext>
            </a:extLst>
          </p:cNvPr>
          <p:cNvSpPr/>
          <p:nvPr/>
        </p:nvSpPr>
        <p:spPr>
          <a:xfrm>
            <a:off x="5389340" y="4002907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</p:spTree>
    <p:extLst>
      <p:ext uri="{BB962C8B-B14F-4D97-AF65-F5344CB8AC3E}">
        <p14:creationId xmlns:p14="http://schemas.microsoft.com/office/powerpoint/2010/main" val="2295890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B8D4DE-B7D6-407A-A816-472A51E7D19C}"/>
              </a:ext>
            </a:extLst>
          </p:cNvPr>
          <p:cNvSpPr txBox="1"/>
          <p:nvPr/>
        </p:nvSpPr>
        <p:spPr>
          <a:xfrm>
            <a:off x="76049" y="107776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Controller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62BF37-C835-45C2-BF8B-A2285A46776E}"/>
              </a:ext>
            </a:extLst>
          </p:cNvPr>
          <p:cNvCxnSpPr>
            <a:cxnSpLocks/>
          </p:cNvCxnSpPr>
          <p:nvPr/>
        </p:nvCxnSpPr>
        <p:spPr>
          <a:xfrm>
            <a:off x="0" y="708414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ACE46C-E0DE-479A-9A98-D7063A7310F0}"/>
              </a:ext>
            </a:extLst>
          </p:cNvPr>
          <p:cNvGrpSpPr/>
          <p:nvPr/>
        </p:nvGrpSpPr>
        <p:grpSpPr>
          <a:xfrm>
            <a:off x="1190698" y="2658345"/>
            <a:ext cx="9168182" cy="442110"/>
            <a:chOff x="1190698" y="2658345"/>
            <a:chExt cx="9168182" cy="442110"/>
          </a:xfrm>
        </p:grpSpPr>
        <p:pic>
          <p:nvPicPr>
            <p:cNvPr id="12" name="Picture 11" descr="\documentclass{article}&#10;\usepackage{amsmath}&#10;\usepackage{color}&#10;\pagestyle{empty}&#10;\begin{document}&#10;&#10;$&#10;\color{blue}&#10;+ \tilde{\boldsymbol{C}}_{r\rho} \boldsymbol{\rho}&#10;- \hat{\boldsymbol{d}}_{r}&#10;$&#10;&#10;&#10;\end{document}" title="IguanaTex Bitmap Display">
              <a:extLst>
                <a:ext uri="{FF2B5EF4-FFF2-40B4-BE49-F238E27FC236}">
                  <a16:creationId xmlns:a16="http://schemas.microsoft.com/office/drawing/2014/main" id="{71B09A2C-BE2E-4E42-8267-9DE5DA3410B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73536" y="2695069"/>
              <a:ext cx="1285344" cy="310356"/>
            </a:xfrm>
            <a:prstGeom prst="rect">
              <a:avLst/>
            </a:prstGeom>
          </p:spPr>
        </p:pic>
        <p:pic>
          <p:nvPicPr>
            <p:cNvPr id="6" name="Picture 5" descr="\documentclass{article}&#10;\usepackage{amsmath}&#10;\usepackage{color}&#10;\pagestyle{empty}&#10;\begin{document}&#10;&#10;$&#10;\color{blue}&#10;\boldsymbol{u}_2&#10;=&#10;\tilde{\boldsymbol{M}}_{r}&#10;\left[&#10;  \boldsymbol{R}_0^T \boldsymbol{R}_{0,c} \dot{\boldsymbol{\omega}}_{0,c}&#10;- \hat{\boldsymbol{\omega}}_0 \boldsymbol{R}_0^T \boldsymbol{R}_{0,c} \boldsymbol{\omega}_{0,c}&#10;- \tilde{\boldsymbol{M}}_{r,d}^{-1} \left( k_R \boldsymbol{e}_R + k_{\omega} \boldsymbol{e}_{\omega} \right)&#10;\right]&#10;+ \tilde{\boldsymbol{C}}_{r} \boldsymbol{\omega}_0&#10;$&#10;&#10;&#10;\end{document}" title="IguanaTex Bitmap Display">
              <a:extLst>
                <a:ext uri="{FF2B5EF4-FFF2-40B4-BE49-F238E27FC236}">
                  <a16:creationId xmlns:a16="http://schemas.microsoft.com/office/drawing/2014/main" id="{C002FDA5-9812-4473-A791-95D5F064CCDA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0698" y="2658345"/>
              <a:ext cx="7813072" cy="442110"/>
            </a:xfrm>
            <a:prstGeom prst="rect">
              <a:avLst/>
            </a:prstGeom>
          </p:spPr>
        </p:pic>
      </p:grpSp>
      <p:pic>
        <p:nvPicPr>
          <p:cNvPr id="7" name="Picture 6" descr="\documentclass{article}&#10;\usepackage{amsmath}&#10;\usepackage{color}&#10;\pagestyle{empty}&#10;\begin{document}&#10;&#10;$&#10;\boldsymbol{e}_{\omega}&#10;=&#10;\boldsymbol{\omega}_0&#10;-&#10;\boldsymbol{R}_0^T \boldsymbol{R}_{0,c} \boldsymbol{\omega}_{0,c}&#10;$&#10;&#10;&#10;\end{document}" title="IguanaTex Bitmap Display">
            <a:extLst>
              <a:ext uri="{FF2B5EF4-FFF2-40B4-BE49-F238E27FC236}">
                <a16:creationId xmlns:a16="http://schemas.microsoft.com/office/drawing/2014/main" id="{C2F3C078-FFBC-49AA-8E50-FDC02C0D3B6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01" y="1887133"/>
            <a:ext cx="2437472" cy="295717"/>
          </a:xfrm>
          <a:prstGeom prst="rect">
            <a:avLst/>
          </a:prstGeom>
        </p:spPr>
      </p:pic>
      <p:pic>
        <p:nvPicPr>
          <p:cNvPr id="8" name="Picture 7" descr="\documentclass{article}&#10;\usepackage{amsmath}&#10;\usepackage{color}&#10;\pagestyle{empty}&#10;\begin{document}&#10;&#10;$&#10;\boldsymbol{e}_R&#10;=&#10;\dfrac{1}{2}&#10;\left(&#10;  \boldsymbol{R}_{0,c}^T\boldsymbol{R}_0&#10;- \boldsymbol{R}_0^T\boldsymbol{R}_{0,c}&#10;\right)^\vee&#10;$&#10;&#10;&#10;\end{document}" title="IguanaTex Bitmap Display">
            <a:extLst>
              <a:ext uri="{FF2B5EF4-FFF2-40B4-BE49-F238E27FC236}">
                <a16:creationId xmlns:a16="http://schemas.microsoft.com/office/drawing/2014/main" id="{C29A7858-6FD9-4638-89C9-1C596D6D698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79" y="1195233"/>
            <a:ext cx="3157726" cy="49774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04B9CA16-2C58-4413-B978-B2B8D1EF530D}"/>
              </a:ext>
            </a:extLst>
          </p:cNvPr>
          <p:cNvSpPr/>
          <p:nvPr/>
        </p:nvSpPr>
        <p:spPr>
          <a:xfrm>
            <a:off x="309201" y="2756324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</p:spTree>
    <p:extLst>
      <p:ext uri="{BB962C8B-B14F-4D97-AF65-F5344CB8AC3E}">
        <p14:creationId xmlns:p14="http://schemas.microsoft.com/office/powerpoint/2010/main" val="1992162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B8D4DE-B7D6-407A-A816-472A51E7D19C}"/>
              </a:ext>
            </a:extLst>
          </p:cNvPr>
          <p:cNvSpPr txBox="1"/>
          <p:nvPr/>
        </p:nvSpPr>
        <p:spPr>
          <a:xfrm>
            <a:off x="76049" y="107776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Controller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62BF37-C835-45C2-BF8B-A2285A46776E}"/>
              </a:ext>
            </a:extLst>
          </p:cNvPr>
          <p:cNvCxnSpPr>
            <a:cxnSpLocks/>
          </p:cNvCxnSpPr>
          <p:nvPr/>
        </p:nvCxnSpPr>
        <p:spPr>
          <a:xfrm>
            <a:off x="0" y="708414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1883A2B-F894-419E-99B4-ABFF3DED36E8}"/>
              </a:ext>
            </a:extLst>
          </p:cNvPr>
          <p:cNvSpPr txBox="1"/>
          <p:nvPr/>
        </p:nvSpPr>
        <p:spPr>
          <a:xfrm>
            <a:off x="76049" y="1070032"/>
            <a:ext cx="4419760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Control – Arm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9EE6381-1EC5-43ED-9087-12C03FBF39D8}"/>
              </a:ext>
            </a:extLst>
          </p:cNvPr>
          <p:cNvGrpSpPr/>
          <p:nvPr/>
        </p:nvGrpSpPr>
        <p:grpSpPr>
          <a:xfrm>
            <a:off x="196855" y="1915034"/>
            <a:ext cx="11929757" cy="2931281"/>
            <a:chOff x="295915" y="1915033"/>
            <a:chExt cx="13813729" cy="3394195"/>
          </a:xfrm>
        </p:grpSpPr>
        <p:pic>
          <p:nvPicPr>
            <p:cNvPr id="18" name="Picture 17" descr="\documentclass{article}&#10;\usepackage{amsmath}&#10;\usepackage{color}&#10;\pagestyle{empty}&#10;\begin{document}&#10;&#10;$&#10;\boldsymbol{b}_{1,e}=\boldsymbol{R}_e \boldsymbol{e}_1&#10;$&#10;&#10;&#10;\end{document}" title="IguanaTex Bitmap Display">
              <a:extLst>
                <a:ext uri="{FF2B5EF4-FFF2-40B4-BE49-F238E27FC236}">
                  <a16:creationId xmlns:a16="http://schemas.microsoft.com/office/drawing/2014/main" id="{A3016D08-0C2B-4BFC-BE67-B3771B32673A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915" y="1927254"/>
              <a:ext cx="1234104" cy="243014"/>
            </a:xfrm>
            <a:prstGeom prst="rect">
              <a:avLst/>
            </a:prstGeom>
          </p:spPr>
        </p:pic>
        <p:pic>
          <p:nvPicPr>
            <p:cNvPr id="19" name="Picture 18" descr="\documentclass{article}&#10;\usepackage{amsmath}&#10;\usepackage{color}&#10;\pagestyle{empty}&#10;\begin{document}&#10;&#10;$&#10;\boldsymbol{b}_{2,e}=\boldsymbol{R}_e \boldsymbol{e}_2&#10;$&#10;&#10;&#10;\end{document}" title="IguanaTex Bitmap Display">
              <a:extLst>
                <a:ext uri="{FF2B5EF4-FFF2-40B4-BE49-F238E27FC236}">
                  <a16:creationId xmlns:a16="http://schemas.microsoft.com/office/drawing/2014/main" id="{47550282-C2EB-4C19-BECC-E9456D3F143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12" y="2314387"/>
              <a:ext cx="1239960" cy="243014"/>
            </a:xfrm>
            <a:prstGeom prst="rect">
              <a:avLst/>
            </a:prstGeom>
          </p:spPr>
        </p:pic>
        <p:pic>
          <p:nvPicPr>
            <p:cNvPr id="20" name="Picture 19" descr="\documentclass{article}&#10;\usepackage{amsmath}&#10;\usepackage{color}&#10;\pagestyle{empty}&#10;\begin{document}&#10;&#10;$&#10;\boldsymbol{b}_{3,e}=\boldsymbol{R}_e \boldsymbol{e}_3&#10;$&#10;&#10;&#10;\end{document}" title="IguanaTex Bitmap Display">
              <a:extLst>
                <a:ext uri="{FF2B5EF4-FFF2-40B4-BE49-F238E27FC236}">
                  <a16:creationId xmlns:a16="http://schemas.microsoft.com/office/drawing/2014/main" id="{9A59A780-A52D-4094-8253-70249F39CEE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916" y="2701558"/>
              <a:ext cx="1241424" cy="243014"/>
            </a:xfrm>
            <a:prstGeom prst="rect">
              <a:avLst/>
            </a:prstGeom>
          </p:spPr>
        </p:pic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0DA32B73-4D81-4C1C-B431-967FEE40D3B2}"/>
                </a:ext>
              </a:extLst>
            </p:cNvPr>
            <p:cNvSpPr/>
            <p:nvPr/>
          </p:nvSpPr>
          <p:spPr>
            <a:xfrm>
              <a:off x="6222312" y="2273485"/>
              <a:ext cx="409383" cy="246152"/>
            </a:xfrm>
            <a:prstGeom prst="rightArrow">
              <a:avLst>
                <a:gd name="adj1" fmla="val 50000"/>
                <a:gd name="adj2" fmla="val 6821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66"/>
            </a:p>
          </p:txBody>
        </p:sp>
        <p:pic>
          <p:nvPicPr>
            <p:cNvPr id="22" name="Picture 21" descr="\documentclass{article}&#10;\usepackage{amsmath}&#10;\usepackage{color}&#10;\pagestyle{empty}&#10;\begin{document}&#10;&#10;$&#10;\color{blue}&#10;\boldsymbol{P}_{1,e} &#10;= \boldsymbol{I}_3 - \boldsymbol{b}_{3,e}\boldsymbol{b}_{3,e}^T&#10;$&#10;&#10;&#10;\end{document}" title="IguanaTex Bitmap Display">
              <a:extLst>
                <a:ext uri="{FF2B5EF4-FFF2-40B4-BE49-F238E27FC236}">
                  <a16:creationId xmlns:a16="http://schemas.microsoft.com/office/drawing/2014/main" id="{0FAD9317-07C0-4F70-9032-145A0941BAE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0091" y="2040598"/>
              <a:ext cx="2091980" cy="322069"/>
            </a:xfrm>
            <a:prstGeom prst="rect">
              <a:avLst/>
            </a:prstGeom>
          </p:spPr>
        </p:pic>
        <p:pic>
          <p:nvPicPr>
            <p:cNvPr id="23" name="Picture 22" descr="\documentclass{article}&#10;\usepackage{amsmath}&#10;\usepackage{color}&#10;\pagestyle{empty}&#10;\begin{document}&#10;&#10;$&#10;\color{blue}&#10;\boldsymbol{s}_e &#10;= \boldsymbol{P}_{1,e} \boldsymbol{b}_{1,e,d}&#10;$&#10;&#10;&#10;\end{document}" title="IguanaTex Bitmap Display">
              <a:extLst>
                <a:ext uri="{FF2B5EF4-FFF2-40B4-BE49-F238E27FC236}">
                  <a16:creationId xmlns:a16="http://schemas.microsoft.com/office/drawing/2014/main" id="{4E5B3D28-A834-42FD-AC16-F581AF6254E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2114" y="2259246"/>
              <a:ext cx="1551780" cy="243014"/>
            </a:xfrm>
            <a:prstGeom prst="rect">
              <a:avLst/>
            </a:prstGeom>
          </p:spPr>
        </p:pic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F1B2B711-FD19-4D21-B463-81C03448CC54}"/>
                </a:ext>
              </a:extLst>
            </p:cNvPr>
            <p:cNvSpPr/>
            <p:nvPr/>
          </p:nvSpPr>
          <p:spPr>
            <a:xfrm>
              <a:off x="10023618" y="2211483"/>
              <a:ext cx="409383" cy="246152"/>
            </a:xfrm>
            <a:prstGeom prst="rightArrow">
              <a:avLst>
                <a:gd name="adj1" fmla="val 50000"/>
                <a:gd name="adj2" fmla="val 6821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66"/>
            </a:p>
          </p:txBody>
        </p:sp>
        <p:pic>
          <p:nvPicPr>
            <p:cNvPr id="25" name="Picture 24" descr="\documentclass{article}&#10;\usepackage{amsmath}&#10;\usepackage{color}&#10;\pagestyle{empty}&#10;\begin{document}&#10;&#10;$&#10;\color{blue}&#10;\dot{\boldsymbol{b}}_{3,e}&#10;= \boldsymbol{R}_e \hat{\boldsymbol{\omega}}_e \boldsymbol{e}_3&#10;$&#10;&#10;&#10;\end{document}" title="IguanaTex Bitmap Display">
              <a:extLst>
                <a:ext uri="{FF2B5EF4-FFF2-40B4-BE49-F238E27FC236}">
                  <a16:creationId xmlns:a16="http://schemas.microsoft.com/office/drawing/2014/main" id="{92C67BBC-3FA1-44F2-9089-FCB9CF3A393F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543" y="2493697"/>
              <a:ext cx="1529821" cy="301574"/>
            </a:xfrm>
            <a:prstGeom prst="rect">
              <a:avLst/>
            </a:prstGeom>
          </p:spPr>
        </p:pic>
        <p:pic>
          <p:nvPicPr>
            <p:cNvPr id="26" name="Picture 25" descr="\documentclass{article}&#10;\usepackage{amsmath}&#10;\usepackage{color}&#10;\pagestyle{empty}&#10;\begin{document}&#10;&#10;$&#10;\color{blue}&#10;\dot{\boldsymbol{b}}_{1,e,c} &#10;= \dfrac{1}{\|\boldsymbol{s}_e\|}\boldsymbol{P}_{2,e} \dot{\boldsymbol{s}}_e &#10;$&#10;&#10;&#10;\end{document}" title="IguanaTex Bitmap Display">
              <a:extLst>
                <a:ext uri="{FF2B5EF4-FFF2-40B4-BE49-F238E27FC236}">
                  <a16:creationId xmlns:a16="http://schemas.microsoft.com/office/drawing/2014/main" id="{5ECCCE30-B7DF-4C11-9EF2-5F31F8F615A4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8651" y="3624978"/>
              <a:ext cx="2068552" cy="559227"/>
            </a:xfrm>
            <a:prstGeom prst="rect">
              <a:avLst/>
            </a:prstGeom>
          </p:spPr>
        </p:pic>
        <p:pic>
          <p:nvPicPr>
            <p:cNvPr id="27" name="Picture 26" descr="\documentclass{article}&#10;\usepackage{amsmath}&#10;\usepackage{color}&#10;\pagestyle{empty}&#10;\begin{document}&#10;&#10;$&#10;\color{blue}&#10;\boldsymbol{b}_{1,e,c}&#10;= \dfrac{\boldsymbol{s}_e}{\|\boldsymbol{s}_e\|}&#10;$&#10;&#10;&#10;\end{document}" title="IguanaTex Bitmap Display">
              <a:extLst>
                <a:ext uri="{FF2B5EF4-FFF2-40B4-BE49-F238E27FC236}">
                  <a16:creationId xmlns:a16="http://schemas.microsoft.com/office/drawing/2014/main" id="{5665FA1A-7576-46C3-8DB8-AE594E804E88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857" y="3816650"/>
              <a:ext cx="1352685" cy="506526"/>
            </a:xfrm>
            <a:prstGeom prst="rect">
              <a:avLst/>
            </a:prstGeom>
          </p:spPr>
        </p:pic>
        <p:pic>
          <p:nvPicPr>
            <p:cNvPr id="28" name="Picture 27" descr="\documentclass{article}&#10;\usepackage{amsmath}&#10;\usepackage{color}&#10;\pagestyle{empty}&#10;\begin{document}&#10;&#10;$&#10;\color{blue}&#10;\dot{\boldsymbol{P}}_{1,e}&#10;= -\bigl( \dot{\boldsymbol{b}}_{3,e}\boldsymbol{b}_{3,e}^T&#10;+ \boldsymbol{b}_{3,e}\dot{\boldsymbol{b}}_{3,e}^T \bigr)&#10;$&#10;&#10;&#10;\end{document}" title="IguanaTex Bitmap Display">
              <a:extLst>
                <a:ext uri="{FF2B5EF4-FFF2-40B4-BE49-F238E27FC236}">
                  <a16:creationId xmlns:a16="http://schemas.microsoft.com/office/drawing/2014/main" id="{2E16559B-705D-41FC-8F2A-406FAE5D6A23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6108" y="3654646"/>
              <a:ext cx="3006941" cy="379162"/>
            </a:xfrm>
            <a:prstGeom prst="rect">
              <a:avLst/>
            </a:prstGeom>
          </p:spPr>
        </p:pic>
        <p:pic>
          <p:nvPicPr>
            <p:cNvPr id="29" name="Picture 28" descr="\documentclass{article}&#10;\usepackage{amsmath}&#10;\usepackage{color}&#10;\pagestyle{empty}&#10;\begin{document}&#10;&#10;$&#10;\color{blue}&#10;\dot{\boldsymbol{s}}_e&#10;= \dot{\boldsymbol{P}}_{1,e}\boldsymbol{b}_{1,e,d}&#10;+ \boldsymbol{P}_{1,e}\dot{\boldsymbol{b}}_{1,e,d}&#10;$&#10;&#10;&#10;\end{document}" title="IguanaTex Bitmap Display">
              <a:extLst>
                <a:ext uri="{FF2B5EF4-FFF2-40B4-BE49-F238E27FC236}">
                  <a16:creationId xmlns:a16="http://schemas.microsoft.com/office/drawing/2014/main" id="{A53BB7E1-48DC-424C-B3A5-94CB2A82F785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2119" y="3897671"/>
              <a:ext cx="2866402" cy="301573"/>
            </a:xfrm>
            <a:prstGeom prst="rect">
              <a:avLst/>
            </a:prstGeom>
          </p:spPr>
        </p:pic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485CC19D-1984-454B-8C6E-EDFFA0F974F3}"/>
                </a:ext>
              </a:extLst>
            </p:cNvPr>
            <p:cNvSpPr/>
            <p:nvPr/>
          </p:nvSpPr>
          <p:spPr>
            <a:xfrm>
              <a:off x="1979337" y="3931215"/>
              <a:ext cx="409383" cy="246152"/>
            </a:xfrm>
            <a:prstGeom prst="rightArrow">
              <a:avLst>
                <a:gd name="adj1" fmla="val 50000"/>
                <a:gd name="adj2" fmla="val 6821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66"/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842D6086-C11E-473D-B366-551C2B32FBA0}"/>
                </a:ext>
              </a:extLst>
            </p:cNvPr>
            <p:cNvSpPr/>
            <p:nvPr/>
          </p:nvSpPr>
          <p:spPr>
            <a:xfrm>
              <a:off x="5850405" y="3965393"/>
              <a:ext cx="409383" cy="246152"/>
            </a:xfrm>
            <a:prstGeom prst="rightArrow">
              <a:avLst>
                <a:gd name="adj1" fmla="val 50000"/>
                <a:gd name="adj2" fmla="val 6821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66"/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F7D621B4-42FB-4108-B0D3-0F6FE0C56EEA}"/>
                </a:ext>
              </a:extLst>
            </p:cNvPr>
            <p:cNvSpPr/>
            <p:nvPr/>
          </p:nvSpPr>
          <p:spPr>
            <a:xfrm>
              <a:off x="9676014" y="3972081"/>
              <a:ext cx="409383" cy="246152"/>
            </a:xfrm>
            <a:prstGeom prst="rightArrow">
              <a:avLst>
                <a:gd name="adj1" fmla="val 50000"/>
                <a:gd name="adj2" fmla="val 6821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66"/>
            </a:p>
          </p:txBody>
        </p:sp>
        <p:pic>
          <p:nvPicPr>
            <p:cNvPr id="33" name="Picture 32" descr="\documentclass{article}&#10;\usepackage{amsmath}&#10;\usepackage{color}&#10;\pagestyle{empty}&#10;\begin{document}&#10;&#10;$&#10;\color{blue}&#10;\boldsymbol{P}_{2,e} &#10;= I_3 - \boldsymbol{b}_{1,e,c} \boldsymbol{b}_{1,e,c}^T&#10;$&#10;&#10;&#10;\end{document}" title="IguanaTex Bitmap Display">
              <a:extLst>
                <a:ext uri="{FF2B5EF4-FFF2-40B4-BE49-F238E27FC236}">
                  <a16:creationId xmlns:a16="http://schemas.microsoft.com/office/drawing/2014/main" id="{365EC055-1BFA-4A31-B80D-98710E30C79B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5397" y="4295875"/>
              <a:ext cx="2351096" cy="322069"/>
            </a:xfrm>
            <a:prstGeom prst="rect">
              <a:avLst/>
            </a:prstGeom>
          </p:spPr>
        </p:pic>
        <p:pic>
          <p:nvPicPr>
            <p:cNvPr id="34" name="Picture 33" descr="\documentclass{article}&#10;\usepackage{amsmath}&#10;\usepackage{color}&#10;\pagestyle{empty}&#10;\begin{document}&#10;&#10;$&#10;\color{blue}&#10;\dot{\boldsymbol{P}}_{2,e} &#10;= -\bigl(\dot{\boldsymbol{b}}_{1,e,c}\boldsymbol{b}_{1,e,c}^T &#10;+ \boldsymbol{b}_{1,e,c}\dot{\boldsymbol{b}}_{1,e,c}^T\bigr)&#10;$&#10;&#10;&#10;\end{document}" title="IguanaTex Bitmap Display">
              <a:extLst>
                <a:ext uri="{FF2B5EF4-FFF2-40B4-BE49-F238E27FC236}">
                  <a16:creationId xmlns:a16="http://schemas.microsoft.com/office/drawing/2014/main" id="{4A1F155E-9864-4FF2-97FD-1E6C64C8ED95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4446" y="4338932"/>
              <a:ext cx="3585198" cy="379162"/>
            </a:xfrm>
            <a:prstGeom prst="rect">
              <a:avLst/>
            </a:prstGeom>
          </p:spPr>
        </p:pic>
        <p:pic>
          <p:nvPicPr>
            <p:cNvPr id="35" name="Picture 34" descr="\documentclass{article}&#10;\usepackage{amsmath}&#10;\usepackage{color}&#10;\pagestyle{empty}&#10;\begin{document}&#10;&#10;$&#10;\omega_{3,e} = \boldsymbol{\omega}_e \boldsymbol{e}_3&#10;$&#10;&#10;&#10;\end{document}" title="IguanaTex Bitmap Display">
              <a:extLst>
                <a:ext uri="{FF2B5EF4-FFF2-40B4-BE49-F238E27FC236}">
                  <a16:creationId xmlns:a16="http://schemas.microsoft.com/office/drawing/2014/main" id="{08B40CB8-F70E-447E-862A-59C70E06E635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6136" y="2897900"/>
              <a:ext cx="1245816" cy="184456"/>
            </a:xfrm>
            <a:prstGeom prst="rect">
              <a:avLst/>
            </a:prstGeom>
          </p:spPr>
        </p:pic>
        <p:pic>
          <p:nvPicPr>
            <p:cNvPr id="36" name="Picture 35" descr="\documentclass{article}&#10;\usepackage{amsmath}&#10;\usepackage{color}&#10;\pagestyle{empty}&#10;\begin{document}&#10;&#10;$&#10;\color{blue}&#10;\omega_{3,e,c}&#10;= \boldsymbol{b}_{3,e}^T ( \boldsymbol{b}_{1,e,c} \times \dot{\boldsymbol{b}}_{1,e,c} )&#10;$&#10;&#10;&#10;\end{document}" title="IguanaTex Bitmap Display">
              <a:extLst>
                <a:ext uri="{FF2B5EF4-FFF2-40B4-BE49-F238E27FC236}">
                  <a16:creationId xmlns:a16="http://schemas.microsoft.com/office/drawing/2014/main" id="{F77BC548-94F3-49D9-827D-CE6A3DFDAEEA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39810" y="4984233"/>
              <a:ext cx="2788815" cy="324995"/>
            </a:xfrm>
            <a:prstGeom prst="rect">
              <a:avLst/>
            </a:prstGeom>
          </p:spPr>
        </p:pic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B848B21B-E4A1-463F-83DC-FD6BDFD38109}"/>
                </a:ext>
              </a:extLst>
            </p:cNvPr>
            <p:cNvSpPr/>
            <p:nvPr/>
          </p:nvSpPr>
          <p:spPr>
            <a:xfrm>
              <a:off x="9725218" y="4977595"/>
              <a:ext cx="409383" cy="246152"/>
            </a:xfrm>
            <a:prstGeom prst="rightArrow">
              <a:avLst>
                <a:gd name="adj1" fmla="val 50000"/>
                <a:gd name="adj2" fmla="val 6821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66"/>
            </a:p>
          </p:txBody>
        </p:sp>
        <p:pic>
          <p:nvPicPr>
            <p:cNvPr id="38" name="Picture 37" descr="\documentclass{article}&#10;\usepackage{amsmath}&#10;\usepackage{color}&#10;\pagestyle{empty}&#10;\begin{document}&#10;&#10;$&#10;\boldsymbol{R}^{0}_{e}(\boldsymbol{q}) = \boldsymbol{R}^{0}_{n}(\boldsymbol{q}) &#10;$&#10;&#10;&#10;\end{document}" title="IguanaTex Bitmap Display">
              <a:extLst>
                <a:ext uri="{FF2B5EF4-FFF2-40B4-BE49-F238E27FC236}">
                  <a16:creationId xmlns:a16="http://schemas.microsoft.com/office/drawing/2014/main" id="{3C880874-EC3F-470B-A32E-08032FD410E6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6136" y="1915033"/>
              <a:ext cx="1622049" cy="286931"/>
            </a:xfrm>
            <a:prstGeom prst="rect">
              <a:avLst/>
            </a:prstGeom>
          </p:spPr>
        </p:pic>
        <p:pic>
          <p:nvPicPr>
            <p:cNvPr id="39" name="Picture 38" descr="\documentclass{article}&#10;\usepackage{amsmath}&#10;\usepackage{color}&#10;\pagestyle{empty}&#10;\begin{document}&#10;&#10;$&#10;\boldsymbol{\omega}_e&#10;= \left(\boldsymbol{R}^{0}_e\right)^T \boldsymbol{\omega}^{0}_e &#10;= \boldsymbol{R}_{0}^{e} (\boldsymbol{\omega}_0 + \boldsymbol{J}^{q}_{\omega_e} \dot{\boldsymbol{q}})&#10;$&#10;&#10;&#10;\end{document}" title="IguanaTex Bitmap Display">
              <a:extLst>
                <a:ext uri="{FF2B5EF4-FFF2-40B4-BE49-F238E27FC236}">
                  <a16:creationId xmlns:a16="http://schemas.microsoft.com/office/drawing/2014/main" id="{79912175-2E26-4CF5-B2AD-3375A0B80468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5882" y="2334519"/>
              <a:ext cx="3591053" cy="361592"/>
            </a:xfrm>
            <a:prstGeom prst="rect">
              <a:avLst/>
            </a:prstGeom>
          </p:spPr>
        </p:pic>
        <p:pic>
          <p:nvPicPr>
            <p:cNvPr id="40" name="Picture 39" descr="\documentclass{article}&#10;\usepackage{amsmath}&#10;\pagestyle{empty}&#10;\begin{document}&#10;&#10;$&#10;\boldsymbol{\omega}_e^0&#10;= \boldsymbol{\omega}_n^0&#10;$&#10;&#10;&#10;\end{document}" title="IguanaTex Bitmap Display">
              <a:extLst>
                <a:ext uri="{FF2B5EF4-FFF2-40B4-BE49-F238E27FC236}">
                  <a16:creationId xmlns:a16="http://schemas.microsoft.com/office/drawing/2014/main" id="{C29D4BA2-5FAB-4890-8956-F60FCC04EC83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4072" y="1915033"/>
              <a:ext cx="912037" cy="2679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41650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F146D32-4532-4743-9816-C5B8BC31235E}"/>
              </a:ext>
            </a:extLst>
          </p:cNvPr>
          <p:cNvSpPr txBox="1"/>
          <p:nvPr/>
        </p:nvSpPr>
        <p:spPr>
          <a:xfrm>
            <a:off x="76049" y="107776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Controller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CC7581-6C21-4A0E-9701-D441D8461501}"/>
              </a:ext>
            </a:extLst>
          </p:cNvPr>
          <p:cNvCxnSpPr>
            <a:cxnSpLocks/>
          </p:cNvCxnSpPr>
          <p:nvPr/>
        </p:nvCxnSpPr>
        <p:spPr>
          <a:xfrm>
            <a:off x="0" y="708414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\documentclass{article}&#10;\usepackage{amsmath}&#10;\usepackage{color}&#10;\pagestyle{empty}&#10;\begin{document}&#10;&#10;$&#10;\color{blue}&#10;\ddot{\boldsymbol{s}}_e &#10;= \ddot{\boldsymbol{P}}_{1,e} \boldsymbol{b}_{1,e,d} &#10;+ 2\dot{\boldsymbol{P}}_{1,e} \dot{\boldsymbol{b}}_{1,e,d} &#10;+ \boldsymbol{P}_{1,e} \ddot{\boldsymbol{b}}_{1,e,d}&#10;$&#10;&#10;&#10;\end{document}" title="IguanaTex Bitmap Display">
            <a:extLst>
              <a:ext uri="{FF2B5EF4-FFF2-40B4-BE49-F238E27FC236}">
                <a16:creationId xmlns:a16="http://schemas.microsoft.com/office/drawing/2014/main" id="{10D7F642-D247-414E-8CA9-480447328F2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024" y="3229651"/>
            <a:ext cx="4302534" cy="301573"/>
          </a:xfrm>
          <a:prstGeom prst="rect">
            <a:avLst/>
          </a:prstGeom>
        </p:spPr>
      </p:pic>
      <p:pic>
        <p:nvPicPr>
          <p:cNvPr id="17" name="Picture 16" descr="\documentclass{article}&#10;\usepackage{amsmath}&#10;\usepackage{color}&#10;\pagestyle{empty}&#10;\begin{document}&#10;&#10;$&#10;\color{blue}&#10;\ddot{\boldsymbol{b}}_{1,e,c} &#10;= \dfrac{1}{\|\boldsymbol{s}_e\|} \left(\dot{\boldsymbol{P}}_{2,e} \dot{\boldsymbol{s}}_e  + \boldsymbol{P}_{2,e} \ddot{\boldsymbol{s}}_e \right) &#10;- \dfrac{\boldsymbol{b}_{1,e,c}^T \dot{\boldsymbol{s}}_e }{\|\boldsymbol{s}_e\|}\dot{\boldsymbol{b}}_{1,e,c}&#10;$&#10;&#10;&#10;\end{document}" title="IguanaTex Bitmap Display">
            <a:extLst>
              <a:ext uri="{FF2B5EF4-FFF2-40B4-BE49-F238E27FC236}">
                <a16:creationId xmlns:a16="http://schemas.microsoft.com/office/drawing/2014/main" id="{752D54BF-6ACE-46A2-BC15-ABA115CF5DA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487" y="3811959"/>
            <a:ext cx="5057931" cy="6441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344AE1C9-E7F6-405E-A44F-88924F7512B4}"/>
              </a:ext>
            </a:extLst>
          </p:cNvPr>
          <p:cNvSpPr/>
          <p:nvPr/>
        </p:nvSpPr>
        <p:spPr>
          <a:xfrm>
            <a:off x="5109094" y="3225778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pic>
        <p:nvPicPr>
          <p:cNvPr id="19" name="Picture 18" descr="\documentclass{article}&#10;\usepackage{amsmath}&#10;\usepackage{color}&#10;\pagestyle{empty}&#10;\begin{document}&#10;&#10;$&#10;\color{blue}&#10;\dot{\omega}_{3,e,c}&#10;= \dot{\boldsymbol{b}}_{3,e}^T \bigl(\boldsymbol{b}_{1,e,c} \times \dot{\boldsymbol{b}}_{1,e,c}\bigr) &#10;+ \bigl(\boldsymbol{b}_{3,e} \times \boldsymbol{b}_{1,e,c}\bigr)^T \ddot{\boldsymbol{b}}_{1,e,c}&#10;$&#10;&#10;&#10;\end{document}" title="IguanaTex Bitmap Display">
            <a:extLst>
              <a:ext uri="{FF2B5EF4-FFF2-40B4-BE49-F238E27FC236}">
                <a16:creationId xmlns:a16="http://schemas.microsoft.com/office/drawing/2014/main" id="{FE13111E-D310-415F-B737-37B07B3B459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734" y="5049687"/>
            <a:ext cx="5248243" cy="379161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A304B518-35B0-45BD-8FF8-176FD22FC6E8}"/>
              </a:ext>
            </a:extLst>
          </p:cNvPr>
          <p:cNvSpPr/>
          <p:nvPr/>
        </p:nvSpPr>
        <p:spPr>
          <a:xfrm>
            <a:off x="5190594" y="5068056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pic>
        <p:nvPicPr>
          <p:cNvPr id="21" name="Picture 20" descr="\documentclass{article}&#10;\usepackage{amsmath}&#10;\usepackage{color}&#10;\pagestyle{empty}&#10;\begin{document}&#10;&#10;$&#10;\color{blue}&#10;\ddot{\boldsymbol{b}}_{3,e} &#10;= \boldsymbol{R}_e \bigl(\hat{\boldsymbol{\omega}}_e^2 &#10;+ \dot{\hat{\boldsymbol{\omega}}}_e\bigr) \boldsymbol{e}_3&#10;$&#10;&#10;&#10;\end{document}" title="IguanaTex Bitmap Display">
            <a:extLst>
              <a:ext uri="{FF2B5EF4-FFF2-40B4-BE49-F238E27FC236}">
                <a16:creationId xmlns:a16="http://schemas.microsoft.com/office/drawing/2014/main" id="{B1026DA2-9E1A-4F46-87A1-EED994B139C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323" y="1340569"/>
            <a:ext cx="2340847" cy="316212"/>
          </a:xfrm>
          <a:prstGeom prst="rect">
            <a:avLst/>
          </a:prstGeom>
        </p:spPr>
      </p:pic>
      <p:pic>
        <p:nvPicPr>
          <p:cNvPr id="22" name="Picture 21" descr="\documentclass{article}&#10;\usepackage{amsmath}&#10;\usepackage{color}&#10;\pagestyle{empty}&#10;\begin{document}&#10;&#10;$&#10;\color{blue}&#10;\ddot{\boldsymbol{P}}_{1,e} = -\bigl(\ddot{\boldsymbol{b}}_{3,e}\boldsymbol{b}_{3,e}^T &#10;+ 2\dot{\boldsymbol{b}}_{3,e}\dot{\boldsymbol{b}}_{3,e}^T &#10;+ \boldsymbol{b}_{3,e}\ddot{\boldsymbol{b}}_{3,e}^T\bigr)&#10;$&#10;&#10;&#10;\end{document}" title="IguanaTex Bitmap Display">
            <a:extLst>
              <a:ext uri="{FF2B5EF4-FFF2-40B4-BE49-F238E27FC236}">
                <a16:creationId xmlns:a16="http://schemas.microsoft.com/office/drawing/2014/main" id="{11F239AD-894A-4181-8876-14C523259A4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492" y="2263994"/>
            <a:ext cx="4195666" cy="379162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414ACAB7-FC49-4F1F-938B-27A7104F3908}"/>
              </a:ext>
            </a:extLst>
          </p:cNvPr>
          <p:cNvSpPr/>
          <p:nvPr/>
        </p:nvSpPr>
        <p:spPr>
          <a:xfrm>
            <a:off x="5089227" y="2321120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pic>
        <p:nvPicPr>
          <p:cNvPr id="24" name="Picture 23" descr="\documentclass{article}&#10;\usepackage{amsmath}&#10;\usepackage{color}&#10;\pagestyle{empty}&#10;\begin{document}&#10;&#10;$&#10;\dot{\boldsymbol{\omega}}_e&#10;= \boldsymbol{R}_0^e\left(\dot{\boldsymbol{\omega}}_0+\boldsymbol{J}_{\omega_e}^q \ddot{\boldsymbol{q}}+\dot{\boldsymbol{J}}_{\omega_e}^q \dot{\boldsymbol{q}}+\hat{\boldsymbol{\omega}}_0 \boldsymbol{J}_{\omega_e}^q \dot{\boldsymbol{q}}\right)&#10;$&#10;&#10;&#10;\end{document}" title="IguanaTex Bitmap Display">
            <a:extLst>
              <a:ext uri="{FF2B5EF4-FFF2-40B4-BE49-F238E27FC236}">
                <a16:creationId xmlns:a16="http://schemas.microsoft.com/office/drawing/2014/main" id="{4950B327-764D-437E-BB0D-4F69E0D9E21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55" y="1215992"/>
            <a:ext cx="4340593" cy="442110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539804BD-B276-4F59-9C03-4DC78329F08D}"/>
              </a:ext>
            </a:extLst>
          </p:cNvPr>
          <p:cNvSpPr/>
          <p:nvPr/>
        </p:nvSpPr>
        <p:spPr>
          <a:xfrm>
            <a:off x="5110235" y="1371777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</p:spTree>
    <p:extLst>
      <p:ext uri="{BB962C8B-B14F-4D97-AF65-F5344CB8AC3E}">
        <p14:creationId xmlns:p14="http://schemas.microsoft.com/office/powerpoint/2010/main" val="3737643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4C1F0A-A2CD-4C69-A432-1C989B5D7143}"/>
              </a:ext>
            </a:extLst>
          </p:cNvPr>
          <p:cNvSpPr txBox="1"/>
          <p:nvPr/>
        </p:nvSpPr>
        <p:spPr>
          <a:xfrm>
            <a:off x="76049" y="107776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Controller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25552B-47D8-43DC-BDB3-E4C5AB3D85C4}"/>
              </a:ext>
            </a:extLst>
          </p:cNvPr>
          <p:cNvCxnSpPr>
            <a:cxnSpLocks/>
          </p:cNvCxnSpPr>
          <p:nvPr/>
        </p:nvCxnSpPr>
        <p:spPr>
          <a:xfrm>
            <a:off x="0" y="708414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\documentclass{article}&#10;\usepackage{amsmath}&#10;\usepackage{color}&#10;\pagestyle{empty}&#10;\begin{document}&#10;&#10;$&#10;\boldsymbol{e}_{y} = &#10;\begin{bmatrix} \boldsymbol{e}_{x_E} \\ e_{R_{E,3}} \end{bmatrix} &#10;$&#10;&#10;&#10;\end{document}" title="IguanaTex Bitmap Display">
            <a:extLst>
              <a:ext uri="{FF2B5EF4-FFF2-40B4-BE49-F238E27FC236}">
                <a16:creationId xmlns:a16="http://schemas.microsoft.com/office/drawing/2014/main" id="{9ED847EA-D885-4C14-A839-6E05E12A98B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934" y="1526035"/>
            <a:ext cx="1314622" cy="588505"/>
          </a:xfrm>
          <a:prstGeom prst="rect">
            <a:avLst/>
          </a:prstGeom>
        </p:spPr>
      </p:pic>
      <p:pic>
        <p:nvPicPr>
          <p:cNvPr id="5" name="Picture 4" descr="\documentclass{article}&#10;\usepackage{amsmath}&#10;\usepackage{color}&#10;\pagestyle{empty}&#10;\begin{document}&#10;&#10;$&#10;\boldsymbol{e}_{v_y} = &#10;\begin{bmatrix} \boldsymbol{e}_{v_E} \\ e_{\omega_{E,3}} \end{bmatrix} &#10;$&#10;&#10;&#10;\end{document}" title="IguanaTex Bitmap Display">
            <a:extLst>
              <a:ext uri="{FF2B5EF4-FFF2-40B4-BE49-F238E27FC236}">
                <a16:creationId xmlns:a16="http://schemas.microsoft.com/office/drawing/2014/main" id="{BF19A551-5E2F-4C62-B9E6-4423AC874FD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599" y="2590703"/>
            <a:ext cx="1389282" cy="588505"/>
          </a:xfrm>
          <a:prstGeom prst="rect">
            <a:avLst/>
          </a:prstGeom>
        </p:spPr>
      </p:pic>
      <p:pic>
        <p:nvPicPr>
          <p:cNvPr id="6" name="Picture 5" descr="\documentclass{article}&#10;\usepackage{amsmath}&#10;\usepackage{color}&#10;\pagestyle{empty}&#10;\begin{document}&#10;&#10;$&#10;\ddot{\boldsymbol{y}}_d = &#10;\begin{bmatrix} \ddot{\boldsymbol{r}}_{e,d} \\ \dot{\omega}_{3,e,c} \end{bmatrix} &#10;$&#10;&#10;&#10;\end{document}" title="IguanaTex Bitmap Display">
            <a:extLst>
              <a:ext uri="{FF2B5EF4-FFF2-40B4-BE49-F238E27FC236}">
                <a16:creationId xmlns:a16="http://schemas.microsoft.com/office/drawing/2014/main" id="{7E79B4E2-208B-4CEC-8CA9-329886D0D28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026" y="3429000"/>
            <a:ext cx="1338045" cy="588505"/>
          </a:xfrm>
          <a:prstGeom prst="rect">
            <a:avLst/>
          </a:prstGeom>
        </p:spPr>
      </p:pic>
      <p:pic>
        <p:nvPicPr>
          <p:cNvPr id="7" name="Picture 6" descr="\documentclass{article}&#10;\usepackage{amsmath}&#10;\usepackage{color}&#10;\pagestyle{empty}&#10;\begin{document}&#10;&#10;$&#10;e_{R_{E,3}} &#10;= - \boldsymbol{b}_{1,e,c}^T \boldsymbol{b}_{2,e}&#10;$&#10;&#10;&#10;\end{document}" title="IguanaTex Bitmap Display">
            <a:extLst>
              <a:ext uri="{FF2B5EF4-FFF2-40B4-BE49-F238E27FC236}">
                <a16:creationId xmlns:a16="http://schemas.microsoft.com/office/drawing/2014/main" id="{E57622AC-006D-4B47-AEEF-950369015FC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5" y="1850011"/>
            <a:ext cx="1952902" cy="322069"/>
          </a:xfrm>
          <a:prstGeom prst="rect">
            <a:avLst/>
          </a:prstGeom>
        </p:spPr>
      </p:pic>
      <p:pic>
        <p:nvPicPr>
          <p:cNvPr id="8" name="Picture 7" descr="\documentclass{article}&#10;\usepackage{amsmath}&#10;\usepackage{color}&#10;\pagestyle{empty}&#10;\begin{document}&#10;&#10;$&#10;\boldsymbol{e}_{x_E} = \boldsymbol{r}_e - \boldsymbol{r}_{e,d}&#10;$&#10;&#10;&#10;\end{document}" title="IguanaTex Bitmap Display">
            <a:extLst>
              <a:ext uri="{FF2B5EF4-FFF2-40B4-BE49-F238E27FC236}">
                <a16:creationId xmlns:a16="http://schemas.microsoft.com/office/drawing/2014/main" id="{53F15824-BC39-4278-903B-C62A6D60AD4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8" y="1526034"/>
            <a:ext cx="1636689" cy="184456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831B4080-FE5C-4CE7-BC47-D97430728500}"/>
              </a:ext>
            </a:extLst>
          </p:cNvPr>
          <p:cNvSpPr/>
          <p:nvPr/>
        </p:nvSpPr>
        <p:spPr>
          <a:xfrm>
            <a:off x="3012083" y="1686353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pic>
        <p:nvPicPr>
          <p:cNvPr id="10" name="Picture 9" descr="\documentclass{article}&#10;\usepackage{amsmath}&#10;\usepackage{color}&#10;\pagestyle{empty}&#10;\begin{document}&#10;&#10;$&#10;e_{\omega_{E,3}} = \omega_{3,e} - \omega_{3,e,c}&#10;$&#10;&#10;&#10;\end{document}" title="IguanaTex Bitmap Display">
            <a:extLst>
              <a:ext uri="{FF2B5EF4-FFF2-40B4-BE49-F238E27FC236}">
                <a16:creationId xmlns:a16="http://schemas.microsoft.com/office/drawing/2014/main" id="{3BD5511A-B553-4A4C-B128-15DEF617B89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08" y="2981575"/>
            <a:ext cx="2093440" cy="197632"/>
          </a:xfrm>
          <a:prstGeom prst="rect">
            <a:avLst/>
          </a:prstGeom>
        </p:spPr>
      </p:pic>
      <p:pic>
        <p:nvPicPr>
          <p:cNvPr id="11" name="Picture 10" descr="\documentclass{article}&#10;\usepackage{amsmath}&#10;\usepackage{color}&#10;\pagestyle{empty}&#10;\begin{document}&#10;&#10;$&#10;\boldsymbol{e}_{v_E} = \dot{\boldsymbol{r}}_e - \dot{\boldsymbol{r}}_{e,d}&#10;$&#10;&#10;&#10;\end{document}" title="IguanaTex Bitmap Display">
            <a:extLst>
              <a:ext uri="{FF2B5EF4-FFF2-40B4-BE49-F238E27FC236}">
                <a16:creationId xmlns:a16="http://schemas.microsoft.com/office/drawing/2014/main" id="{F333E14E-9685-4D1A-9B20-D2AC7E2E172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96" y="2582392"/>
            <a:ext cx="1623513" cy="240086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7114BBB5-9630-48AB-8050-578C31E0E560}"/>
              </a:ext>
            </a:extLst>
          </p:cNvPr>
          <p:cNvSpPr/>
          <p:nvPr/>
        </p:nvSpPr>
        <p:spPr>
          <a:xfrm>
            <a:off x="3007308" y="2715052"/>
            <a:ext cx="409383" cy="246152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</p:spTree>
    <p:extLst>
      <p:ext uri="{BB962C8B-B14F-4D97-AF65-F5344CB8AC3E}">
        <p14:creationId xmlns:p14="http://schemas.microsoft.com/office/powerpoint/2010/main" val="371702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D1E6D7-B904-4BE4-8839-27AB37EC1524}"/>
              </a:ext>
            </a:extLst>
          </p:cNvPr>
          <p:cNvSpPr txBox="1"/>
          <p:nvPr/>
        </p:nvSpPr>
        <p:spPr>
          <a:xfrm>
            <a:off x="76049" y="107776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Controller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6BA68D-5FC0-4BC0-AF38-5FC7739755A7}"/>
              </a:ext>
            </a:extLst>
          </p:cNvPr>
          <p:cNvCxnSpPr>
            <a:cxnSpLocks/>
          </p:cNvCxnSpPr>
          <p:nvPr/>
        </p:nvCxnSpPr>
        <p:spPr>
          <a:xfrm>
            <a:off x="0" y="708414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\documentclass{article}&#10;\usepackage{amsmath}&#10;\usepackage{color}&#10;\pagestyle{empty}&#10;\begin{document}&#10;&#10;$&#10;\color{blue}&#10;\begin{aligned}&#10;\boldsymbol{u}_{3}&#10;=&amp; - \bar{\boldsymbol{J}}_{3,y}^{-1}&#10;\left(&#10;\begin{bmatrix}&#10;\bar{\boldsymbol{J}}_{1,y} &amp;&#10;\bar{\boldsymbol{J}}_{2,y}&#10;\end{bmatrix}&#10;\begin{bmatrix}&#10;  \boldsymbol{u}_{1} &#10;- \tilde{\boldsymbol{g}}_t &#10;\\&#10;  \boldsymbol{u}_{2} &#10;- \tilde{\boldsymbol{C}}_{r} \boldsymbol{\omega}_{0} &#10;- \tilde{\boldsymbol{C}}_{r \rho} \boldsymbol{\rho} &#10;\end{bmatrix}&#10;+ \boldsymbol{\Lambda}_{y}&#10;(\dot{\boldsymbol{J}}_{y} \boldsymbol{\xi}&#10;- \ddot{\boldsymbol{y}}_{d})&#10;+ \boldsymbol{\Lambda}_{y} \boldsymbol{M}_{y}^{-1} &#10;(\boldsymbol{D}_{y} \boldsymbol{e}_{v_y}&#10;+ \boldsymbol{K}_{y} \boldsymbol{e}_{y})&#10;\right.&#10;\\&#10;&amp;\left.&#10;- \big( \boldsymbol{\Lambda}_{y} \boldsymbol{M}_{y}^{-1} - \boldsymbol{I}_4 \big) \hat{\boldsymbol{F}}_{y}&#10;\right)&#10;- \tilde{\boldsymbol{C}}_{r\rho}^{T} \boldsymbol{\omega}_{0}&#10;+ \tilde{\boldsymbol{C}}_{\rho} \boldsymbol{\rho}&#10;\end{aligned}&#10;$&#10;&#10;&#10;\end{document}" title="IguanaTex Bitmap Display">
            <a:extLst>
              <a:ext uri="{FF2B5EF4-FFF2-40B4-BE49-F238E27FC236}">
                <a16:creationId xmlns:a16="http://schemas.microsoft.com/office/drawing/2014/main" id="{5459EC9B-8438-43DC-822B-B5495B67A1A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11" y="3141056"/>
            <a:ext cx="9941643" cy="1134556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&#10;$&#10;\hat{\boldsymbol{F}}_y&#10;= \big( \boldsymbol{J}_y^{\dagger} \big)^T \hat{\boldsymbol{d}}_e&#10;= \bar{\boldsymbol{J}}_{1,y} \hat{\boldsymbol{d}}_t&#10;+ \bar{\boldsymbol{J}}_{2,y} \hat{\boldsymbol{d}}_r&#10;+ \bar{\boldsymbol{J}}_{3,y} \hat{\boldsymbol{d}}_\rho&#10;$&#10;&#10;&#10;\end{document}" title="IguanaTex Bitmap Display">
            <a:extLst>
              <a:ext uri="{FF2B5EF4-FFF2-40B4-BE49-F238E27FC236}">
                <a16:creationId xmlns:a16="http://schemas.microsoft.com/office/drawing/2014/main" id="{386BE803-94B2-40F5-B002-38732AF6FE1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78" y="2414525"/>
            <a:ext cx="4564579" cy="361595"/>
          </a:xfrm>
          <a:prstGeom prst="rect">
            <a:avLst/>
          </a:prstGeom>
        </p:spPr>
      </p:pic>
      <p:pic>
        <p:nvPicPr>
          <p:cNvPr id="23" name="Picture 22" descr="\documentclass{article}&#10;\usepackage{amsmath}&#10;\pagestyle{empty}&#10;\begin{document}&#10;&#10;$&#10;\boldsymbol{M}_{y} = \boldsymbol{M}_{y}^T \succ 0, \quad&#10;\boldsymbol{K}_{y} = \boldsymbol{K}_{y}^T \succ 0, \quad&#10;\boldsymbol{D}_{y} = \boldsymbol{D}_{y}^T \succ 0.&#10;$&#10;&#10;&#10;\end{document}" title="IguanaTex Bitmap Display">
            <a:extLst>
              <a:ext uri="{FF2B5EF4-FFF2-40B4-BE49-F238E27FC236}">
                <a16:creationId xmlns:a16="http://schemas.microsoft.com/office/drawing/2014/main" id="{81268833-B1C8-45E6-8DA7-18263FDA831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11" y="1196421"/>
            <a:ext cx="5450267" cy="3220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6E1F1BD-2F5C-4401-8F0E-6A85F82B5D4B}"/>
              </a:ext>
            </a:extLst>
          </p:cNvPr>
          <p:cNvSpPr txBox="1"/>
          <p:nvPr/>
        </p:nvSpPr>
        <p:spPr>
          <a:xfrm>
            <a:off x="376851" y="1698718"/>
            <a:ext cx="3593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Georgia" panose="02040502050405020303" pitchFamily="18" charset="0"/>
              </a:rPr>
              <a:t>The translational block of </a:t>
            </a:r>
            <a:r>
              <a:rPr lang="en-US" altLang="zh-CN" sz="1400" b="1" i="1" dirty="0">
                <a:latin typeface="Georgia" panose="02040502050405020303" pitchFamily="18" charset="0"/>
              </a:rPr>
              <a:t>M</a:t>
            </a:r>
            <a:r>
              <a:rPr lang="en-US" altLang="zh-CN" sz="1400" i="1" dirty="0">
                <a:latin typeface="Georgia" panose="02040502050405020303" pitchFamily="18" charset="0"/>
              </a:rPr>
              <a:t>y</a:t>
            </a:r>
            <a:r>
              <a:rPr lang="en-US" altLang="zh-CN" sz="1400" dirty="0">
                <a:latin typeface="Georgia" panose="02040502050405020303" pitchFamily="18" charset="0"/>
              </a:rPr>
              <a:t> is isotropic.</a:t>
            </a:r>
            <a:endParaRPr lang="zh-CN" altLang="en-US" sz="1400" dirty="0">
              <a:latin typeface="Georgia" panose="02040502050405020303" pitchFamily="18" charset="0"/>
            </a:endParaRPr>
          </a:p>
        </p:txBody>
      </p:sp>
      <p:pic>
        <p:nvPicPr>
          <p:cNvPr id="5" name="Picture 4" descr="\documentclass{article}&#10;\usepackage{amsmath}&#10;\pagestyle{empty}&#10;\begin{document}&#10;&#10;$&#10;\boldsymbol{u}_1&#10;= u_1 \boldsymbol{R}_0 \boldsymbol{e}_3&#10;$&#10;&#10;&#10;\end{document}" title="IguanaTex Bitmap Display">
            <a:extLst>
              <a:ext uri="{FF2B5EF4-FFF2-40B4-BE49-F238E27FC236}">
                <a16:creationId xmlns:a16="http://schemas.microsoft.com/office/drawing/2014/main" id="{75C3B4C2-F06E-4DC9-B64B-B785954BEED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575" y="2489186"/>
            <a:ext cx="1387820" cy="21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32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D1E6D7-B904-4BE4-8839-27AB37EC1524}"/>
              </a:ext>
            </a:extLst>
          </p:cNvPr>
          <p:cNvSpPr txBox="1"/>
          <p:nvPr/>
        </p:nvSpPr>
        <p:spPr>
          <a:xfrm>
            <a:off x="76049" y="107776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Controller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6BA68D-5FC0-4BC0-AF38-5FC7739755A7}"/>
              </a:ext>
            </a:extLst>
          </p:cNvPr>
          <p:cNvCxnSpPr>
            <a:cxnSpLocks/>
          </p:cNvCxnSpPr>
          <p:nvPr/>
        </p:nvCxnSpPr>
        <p:spPr>
          <a:xfrm>
            <a:off x="0" y="708414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9038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7.5261"/>
  <p:tag name="ORIGINALWIDTH" val="1137.909"/>
  <p:tag name="OUTPUTTYPE" val="PNG"/>
  <p:tag name="IGUANATEXVERSION" val="160"/>
  <p:tag name="LATEXADDIN" val="\documentclass{article}&#10;\usepackage{amsmath}&#10;\pagestyle{empty}&#10;\begin{document}&#10;&#10;$&#10;\boldsymbol{x}_{c,d},~&#10;\dot{\boldsymbol{x}}_{c,d},~&#10;\ddot{\boldsymbol{x}}_{c,d},~&#10;\boldsymbol{x}_{c,d}^{(3)}&#10;$&#10;&#10;&#10;\end{document}"/>
  <p:tag name="IGUANATEXSIZE" val="20"/>
  <p:tag name="IGUANATEXCURSOR" val="19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5216"/>
  <p:tag name="ORIGINALWIDTH" val="788.36"/>
  <p:tag name="OUTPUTTYPE" val="PNG"/>
  <p:tag name="IGUANATEXVERSION" val="160"/>
  <p:tag name="LATEXADDIN" val="\documentclass{article}&#10;\usepackage{amsmath}&#10;\pagestyle{empty}&#10;\begin{document}&#10;&#10;$&#10;\boldsymbol{b}_{1,d},~&#10;\dot{\boldsymbol{b}}_{1,d},~&#10;\ddot{\boldsymbol{b}}_{1,d}&#10;$&#10;&#10;&#10;\end{document}"/>
  <p:tag name="IGUANATEXSIZE" val="20"/>
  <p:tag name="IGUANATEXCURSOR" val="162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798.1114"/>
  <p:tag name="OUTPUTTYPE" val="PNG"/>
  <p:tag name="IGUANATEXVERSION" val="160"/>
  <p:tag name="LATEXADDIN" val="\documentclass{article}&#10;\usepackage{amsmath}&#10;\pagestyle{empty}&#10;\begin{document}&#10;&#10;$&#10;\boldsymbol{r}_{e,d},~&#10;\dot{\boldsymbol{r}}_{e,d},~&#10;\ddot{\boldsymbol{r}}_{e,d}&#10;$&#10;&#10;&#10;\end{document}"/>
  <p:tag name="IGUANATEXSIZE" val="20"/>
  <p:tag name="IGUANATEXCURSOR" val="162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5216"/>
  <p:tag name="ORIGINALWIDTH" val="1016.392"/>
  <p:tag name="OUTPUTTYPE" val="PNG"/>
  <p:tag name="IGUANATEXVERSION" val="160"/>
  <p:tag name="LATEXADDIN" val="\documentclass{article}&#10;\usepackage{amsmath}&#10;\pagestyle{empty}&#10;\begin{document}&#10;&#10;$&#10;\boldsymbol{b}_{1,d,e},~&#10;\dot{\boldsymbol{b}}_{1,d,e},~&#10;\ddot{\boldsymbol{b}}_{1,d,e}&#10;$&#10;&#10;&#10;\end{document}"/>
  <p:tag name="IGUANATEXSIZE" val="20"/>
  <p:tag name="IGUANATEXCURSOR" val="16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.7677"/>
  <p:tag name="ORIGINALWIDTH" val="849.1185"/>
  <p:tag name="OUTPUTTYPE" val="PNG"/>
  <p:tag name="IGUANATEXVERSION" val="160"/>
  <p:tag name="LATEXADDIN" val="\documentclass{article}&#10;\usepackage{amsmath}&#10;\pagestyle{empty}&#10;\begin{document}&#10;&#10;$&#10;\boldsymbol{X}&#10;=&#10;\left(&#10;\boldsymbol{r}_0,&#10;\boldsymbol{R}_0,&#10;\boldsymbol{q}&#10;\right)&#10;$&#10;&#10;&#10;\end{document}"/>
  <p:tag name="IGUANATEXSIZE" val="20"/>
  <p:tag name="IGUANATEXCURSOR" val="165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5257"/>
  <p:tag name="ORIGINALWIDTH" val="1286.43"/>
  <p:tag name="OUTPUTTYPE" val="PNG"/>
  <p:tag name="IGUANATEXVERSION" val="160"/>
  <p:tag name="LATEXADDIN" val="\documentclass{article}&#10;\usepackage{amsmath}&#10;\pagestyle{empty}&#10;\begin{document}&#10;&#10;$&#10;\boldsymbol{V}&#10;= \begin{bmatrix}&#10;{\boldsymbol{v}_0}^T &amp;&#10;{\boldsymbol{\omega}_0}^T &amp;&#10;{\dot{\boldsymbol{q}}}^T&#10;\end{bmatrix}^T&#10;$&#10;&#10;&#10;\end{document}"/>
  <p:tag name="IGUANATEXSIZE" val="20"/>
  <p:tag name="IGUANATEXCURSOR" val="20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6.8138"/>
  <p:tag name="ORIGINALWIDTH" val="1509.211"/>
  <p:tag name="OUTPUTTYPE" val="PNG"/>
  <p:tag name="IGUANATEXVERSION" val="160"/>
  <p:tag name="LATEXADDIN" val="\documentclass{article}&#10;\usepackage{amsmath}&#10;\usepackage{color}&#10;\pagestyle{empty}&#10;\begin{document}&#10;&#10;$&#10;\color{blue}&#10;\boldsymbol{T}&#10;= \begin{bmatrix}&#10;\boldsymbol{R}_0 &amp; -\boldsymbol{R}_0 \hat{\boldsymbol{r}}_{0c}^0 &amp; \boldsymbol{R}_0 \boldsymbol{A} \\&#10;\boldsymbol{0} &amp; \boldsymbol{I}_3 &amp; \boldsymbol{0} \\&#10;\boldsymbol{0} &amp; \boldsymbol{N}_1 &amp; \boldsymbol{I}_n&#10;\end{bmatrix}&#10;$&#10;&#10;&#10;\end{document}"/>
  <p:tag name="IGUANATEXSIZE" val="20"/>
  <p:tag name="IGUANATEXCURSOR" val="37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5.5161"/>
  <p:tag name="ORIGINALWIDTH" val="442.5617"/>
  <p:tag name="OUTPUTTYPE" val="PNG"/>
  <p:tag name="IGUANATEXVERSION" val="160"/>
  <p:tag name="LATEXADDIN" val="\documentclass{article}&#10;\usepackage{amsmath}&#10;\usepackage{color}&#10;\pagestyle{empty}&#10;\begin{document}&#10;&#10;$&#10;\color{blue}&#10;\boldsymbol{\xi}=\boldsymbol{T}\boldsymbol{V}&#10;$&#10;&#10;&#10;\end{document}"/>
  <p:tag name="IGUANATEXSIZE" val="20"/>
  <p:tag name="IGUANATEXCURSOR" val="16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0.8129"/>
  <p:tag name="ORIGINALWIDTH" val="507.8209"/>
  <p:tag name="OUTPUTTYPE" val="PNG"/>
  <p:tag name="IGUANATEXVERSION" val="160"/>
  <p:tag name="LATEXADDIN" val="\documentclass{article}&#10;\usepackage{amsmath}&#10;\usepackage{color}&#10;\pagestyle{empty}&#10;\begin{document}&#10;&#10;$&#10;\color{blue}&#10;\boldsymbol{\xi}&#10;= \begin{bmatrix}&#10;\dot{\boldsymbol{x}}_c \\&#10;\boldsymbol{\omega}_0 \\&#10;\boldsymbol{\rho}&#10;\end{bmatrix}&#10;$&#10;&#10;&#10;\end{document}"/>
  <p:tag name="IGUANATEXSIZE" val="20"/>
  <p:tag name="IGUANATEXCURSOR" val="232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.5199"/>
  <p:tag name="ORIGINALWIDTH" val="462.8146"/>
  <p:tag name="OUTPUTTYPE" val="PNG"/>
  <p:tag name="IGUANATEXVERSION" val="160"/>
  <p:tag name="LATEXADDIN" val="\documentclass{article}&#10;\usepackage{amsmath}&#10;\pagestyle{empty}&#10;\begin{document}&#10;&#10;$&#10;\boldsymbol{p} &#10;= \tilde{\boldsymbol{M}} \boldsymbol{\xi} &#10;$&#10;&#10;&#10;\end{document}"/>
  <p:tag name="IGUANATEXSIZE" val="20"/>
  <p:tag name="IGUANATEXCURSOR" val="14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1.0239"/>
  <p:tag name="ORIGINALWIDTH" val="1234.672"/>
  <p:tag name="OUTPUTTYPE" val="PNG"/>
  <p:tag name="IGUANATEXVERSION" val="160"/>
  <p:tag name="LATEXADDIN" val="\documentclass{article}&#10;\usepackage{amsmath}&#10;\pagestyle{empty}&#10;\begin{document}&#10;&#10;$&#10;\dot{\hat{\boldsymbol{p}}}&#10;= \tilde{\boldsymbol{C}}^T \boldsymbol{\xi} - \tilde{\boldsymbol{g}} + \boldsymbol{u} + \hat{\boldsymbol{d}}_e&#10;$&#10;&#10;&#10;\end{document}"/>
  <p:tag name="IGUANATEXSIZE" val="20"/>
  <p:tag name="IGUANATEXCURSOR" val="22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.7731"/>
  <p:tag name="ORIGINALWIDTH" val="874.6221"/>
  <p:tag name="OUTPUTTYPE" val="PNG"/>
  <p:tag name="IGUANATEXVERSION" val="160"/>
  <p:tag name="LATEXADDIN" val="\documentclass{article}&#10;\usepackage{amsmath}&#10;\pagestyle{empty}&#10;\begin{document}&#10;&#10;$&#10;\hat{\boldsymbol{d}}_e = \boldsymbol{K}_o \big( \boldsymbol{p} - \hat{\boldsymbol{p}} \big)&#10;$&#10;&#10;&#10;\end{document}"/>
  <p:tag name="IGUANATEXSIZE" val="20"/>
  <p:tag name="IGUANATEXCURSOR" val="174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2.2713"/>
  <p:tag name="ORIGINALWIDTH" val="4055.066"/>
  <p:tag name="OUTPUTTYPE" val="PNG"/>
  <p:tag name="IGUANATEXVERSION" val="160"/>
  <p:tag name="LATEXADDIN" val="\documentclass{article}&#10;\usepackage{amsmath}&#10;\usepackage{amssymb}&#10;\pagestyle{empty}&#10;\begin{document}&#10;&#10;$&#10;\boldsymbol{K}_o &#10;= \operatorname{diag} \big( \boldsymbol{K}_{o,t}, \boldsymbol{K}_{o,r}, \boldsymbol{K}_{o,\rho} \big) \succ 0,&#10;\qquad&#10;\boldsymbol{K}_{o,t}, \boldsymbol{K}_{o,r} \in \mathbb{R}^{3 \times 3},&#10;\quad&#10;\boldsymbol{K}_{o,\rho} \in \mathbb{R}^{n \times n}.&#10;$&#10;&#10;&#10;\end{document}"/>
  <p:tag name="IGUANATEXSIZE" val="20"/>
  <p:tag name="IGUANATEXCURSOR" val="6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8.5207"/>
  <p:tag name="ORIGINALWIDTH" val="1502.46"/>
  <p:tag name="OUTPUTTYPE" val="PNG"/>
  <p:tag name="IGUANATEXVERSION" val="160"/>
  <p:tag name="LATEXADDIN" val="\documentclass{article}&#10;\usepackage{amsmath}&#10;\pagestyle{empty}&#10;\begin{document}&#10;&#10;$&#10;\hat{\boldsymbol{p}}(0) = \boldsymbol{p}(0) = \tilde{\boldsymbol{M}}(\boldsymbol{q}(0)) \boldsymbol{\xi}(0)&#10;$&#10;&#10;&#10;\end{document}"/>
  <p:tag name="IGUANATEXSIZE" val="20"/>
  <p:tag name="IGUANATEXCURSOR" val="19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5.0356"/>
  <p:tag name="ORIGINALWIDTH" val="1191.166"/>
  <p:tag name="OUTPUTTYPE" val="PNG"/>
  <p:tag name="IGUANATEXVERSION" val="160"/>
  <p:tag name="LATEXADDIN" val="\documentclass{article}&#10;\usepackage{amsmath}&#10;\pagestyle{empty}&#10;\begin{document}&#10;&#10;$&#10;\hat{\boldsymbol{d}}_e = \begin{bmatrix} \hat{\boldsymbol{d}}_t^T &amp; \hat{\boldsymbol{d}}_r^T &amp; \hat{\boldsymbol{d}}_\rho^T \end{bmatrix}^T&#10;$&#10;&#10;&#10;\end{document}"/>
  <p:tag name="IGUANATEXSIZE" val="20"/>
  <p:tag name="IGUANATEXCURSOR" val="22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.5199"/>
  <p:tag name="ORIGINALWIDTH" val="77.26079"/>
  <p:tag name="OUTPUTTYPE" val="PNG"/>
  <p:tag name="IGUANATEXVERSION" val="160"/>
  <p:tag name="LATEXADDIN" val="\documentclass{article}&#10;\usepackage{amsmath}&#10;\pagestyle{empty}&#10;\begin{document}&#10;&#10;$&#10;\dot{\hat{\boldsymbol{p}}}&#10;$&#10;&#10;&#10;\end{document}"/>
  <p:tag name="IGUANATEXSIZE" val="20"/>
  <p:tag name="IGUANATEXCURSOR" val="109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4.51323"/>
  <p:tag name="ORIGINALWIDTH" val="785.3596"/>
  <p:tag name="OUTPUTTYPE" val="PNG"/>
  <p:tag name="IGUANATEXVERSION" val="160"/>
  <p:tag name="LATEXADDIN" val="\documentclass{article}&#10;\usepackage{amsmath}&#10;\pagestyle{empty}&#10;\begin{document}&#10;&#10;$&#10;\boldsymbol{e}_x&#10;= \boldsymbol{x}_c - \boldsymbol{x}_{c,d}&#10;$&#10;&#10;&#10;\end{document}"/>
  <p:tag name="IGUANATEXSIZE" val="20"/>
  <p:tag name="IGUANATEXCURSOR" val="14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7.522"/>
  <p:tag name="ORIGINALWIDTH" val="2303.572"/>
  <p:tag name="OUTPUTTYPE" val="PNG"/>
  <p:tag name="IGUANATEXVERSION" val="160"/>
  <p:tag name="LATEXADDIN" val="\documentclass{article}&#10;\usepackage{amsmath}&#10;\usepackage{color}&#10;\pagestyle{empty}&#10;\begin{document}&#10;&#10;$&#10;\color{blue}&#10;\boldsymbol{f}_{d}&#10;= -k_x\boldsymbol{e}_x&#10;- k_v\boldsymbol{e}_{v_x}&#10;+ m \ddot{\boldsymbol{x}}_{c,d}&#10;+ m g \boldsymbol{e}_3&#10;- \hat{\boldsymbol{d}}_{t}&#10;$&#10;&#10;&#10;\end{document}"/>
  <p:tag name="IGUANATEXSIZE" val="20"/>
  <p:tag name="IGUANATEXCURSOR" val="264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834.1164"/>
  <p:tag name="OUTPUTTYPE" val="PNG"/>
  <p:tag name="IGUANATEXVERSION" val="160"/>
  <p:tag name="LATEXADDIN" val="\documentclass{article}&#10;\usepackage{amsmath}&#10;\pagestyle{empty}&#10;\begin{document}&#10;&#10;$&#10;\boldsymbol{e}_{v_x}&#10;= \dot{\boldsymbol{x}}_c - \dot{\boldsymbol{x}}_{c,d}&#10;$&#10;&#10;&#10;\end{document}"/>
  <p:tag name="IGUANATEXSIZE" val="20"/>
  <p:tag name="IGUANATEXCURSOR" val="15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838.617"/>
  <p:tag name="OUTPUTTYPE" val="PNG"/>
  <p:tag name="IGUANATEXVERSION" val="160"/>
  <p:tag name="LATEXADDIN" val="\documentclass{article}&#10;\usepackage{amsmath}&#10;\pagestyle{empty}&#10;\begin{document}&#10;&#10;$&#10;\boldsymbol{e}_{a_x} &#10;= \ddot{\boldsymbol{x}}_c - \ddot{\boldsymbol{x}}_{c,d}&#10;$&#10;&#10;&#10;\end{document}"/>
  <p:tag name="IGUANATEXSIZE" val="20"/>
  <p:tag name="IGUANATEXCURSOR" val="16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7.5261"/>
  <p:tag name="ORIGINALWIDTH" val="908.3768"/>
  <p:tag name="OUTPUTTYPE" val="PNG"/>
  <p:tag name="IGUANATEXVERSION" val="160"/>
  <p:tag name="LATEXADDIN" val="\documentclass{article}&#10;\usepackage{amsmath}&#10;\pagestyle{empty}&#10;\begin{document}&#10;&#10;$&#10;\boldsymbol{e}_{j_x} &#10;= {\boldsymbol{x}}_c^{(3)} - {\boldsymbol{x}}_{c,d}^{(3)}&#10;$&#10;&#10;&#10;\end{document}"/>
  <p:tag name="IGUANATEXSIZE" val="20"/>
  <p:tag name="IGUANATEXCURSOR" val="162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709"/>
  <p:tag name="ORIGINALWIDTH" val="733.6024"/>
  <p:tag name="OUTPUTTYPE" val="PNG"/>
  <p:tag name="IGUANATEXVERSION" val="160"/>
  <p:tag name="LATEXADDIN" val="\documentclass{article}&#10;\usepackage{amsmath}&#10;\usepackage{color}&#10;\pagestyle{empty}&#10;\begin{document}&#10;&#10;$&#10;\color{blue}&#10;u_1 = \boldsymbol{f}_{d}^{T} \boldsymbol{R}_0 \boldsymbol{e}_3&#10;$&#10;&#10;&#10;\end{document}"/>
  <p:tag name="IGUANATEXSIZE" val="20"/>
  <p:tag name="IGUANATEXCURSOR" val="17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6.7761"/>
  <p:tag name="ORIGINALWIDTH" val="1637.478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f}}_{d}&#10;= -k_x \boldsymbol{e}_{v_x}&#10;- k_v \boldsymbol{e}_{a_x}&#10;+ m \boldsymbol{x}_{c,d}^{(3)}&#10;$&#10;&#10;&#10;\end{document}"/>
  <p:tag name="IGUANATEXSIZE" val="20"/>
  <p:tag name="IGUANATEXCURSOR" val="225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6.7761"/>
  <p:tag name="ORIGINALWIDTH" val="1628.477"/>
  <p:tag name="OUTPUTTYPE" val="PNG"/>
  <p:tag name="IGUANATEXVERSION" val="160"/>
  <p:tag name="LATEXADDIN" val="\documentclass{article}&#10;\usepackage{amsmath}&#10;\usepackage{color}&#10;\pagestyle{empty}&#10;\begin{document}&#10;&#10;$&#10;\color{blue}&#10;\ddot{\boldsymbol{f}}_{d}&#10;= -k_x \boldsymbol{e}_{a_x}&#10;- k_v \boldsymbol{e}_{j_x}&#10;+ m \boldsymbol{x}_{c,d}^{(4)}&#10;$&#10;&#10;&#10;\end{document}"/>
  <p:tag name="IGUANATEXSIZE" val="20"/>
  <p:tag name="IGUANATEXCURSOR" val="22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6.5358"/>
  <p:tag name="ORIGINALWIDTH" val="1485.207"/>
  <p:tag name="OUTPUTTYPE" val="PNG"/>
  <p:tag name="IGUANATEXVERSION" val="160"/>
  <p:tag name="LATEXADDIN" val="\documentclass{article}&#10;\usepackage{amsmath}&#10;\pagestyle{empty}&#10;\begin{document}&#10;&#10;$&#10;\ddot{\boldsymbol{x}}_c = \dfrac{u_1}{m}\boldsymbol{R}_0\boldsymbol{e}_3 - g\boldsymbol{e}_3&#10;+ \dfrac{1}{m} \hat{\boldsymbol{d}}_t&#10;$&#10;&#10;&#10;\end{document}"/>
  <p:tag name="IGUANATEXSIZE" val="20"/>
  <p:tag name="IGUANATEXCURSOR" val="21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8.5249"/>
  <p:tag name="ORIGINALWIDTH" val="1488.958"/>
  <p:tag name="OUTPUTTYPE" val="PNG"/>
  <p:tag name="IGUANATEXVERSION" val="160"/>
  <p:tag name="LATEXADDIN" val="\documentclass{article}&#10;\usepackage{amsmath}&#10;\pagestyle{empty}&#10;\begin{document}&#10;&#10;$&#10;\dot{u}_1 = \dot{\boldsymbol{f}}_d^T \boldsymbol{R}_0\boldsymbol{e}_3 &#10;          + \boldsymbol{f}_d^T \boldsymbol{R}_0\hat{\boldsymbol{\omega}}_0\boldsymbol{e}_3&#10;$&#10;&#10;&#10;\end{document}"/>
  <p:tag name="IGUANATEXSIZE" val="20"/>
  <p:tag name="IGUANATEXCURSOR" val="244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7.2859"/>
  <p:tag name="ORIGINALWIDTH" val="1564.718"/>
  <p:tag name="OUTPUTTYPE" val="PNG"/>
  <p:tag name="IGUANATEXVERSION" val="160"/>
  <p:tag name="LATEXADDIN" val="\documentclass{article}&#10;\usepackage{amsmath}&#10;\pagestyle{empty}&#10;\begin{document}&#10;&#10;$&#10;\boldsymbol{x}_c^{(3)} = \dfrac{\dot{u}_1}{m}\boldsymbol{R}_0\boldsymbol{e}_3 &#10;                       + \dfrac{u_1}{m}\boldsymbol{R}_0\hat{\boldsymbol{\omega}}_0\boldsymbol{e}_3&#10;$&#10;&#10;&#10;\end{document}"/>
  <p:tag name="IGUANATEXSIZE" val="20"/>
  <p:tag name="IGUANATEXCURSOR" val="26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1.0406"/>
  <p:tag name="ORIGINALWIDTH" val="639.0892"/>
  <p:tag name="OUTPUTTYPE" val="PNG"/>
  <p:tag name="IGUANATEXVERSION" val="160"/>
  <p:tag name="LATEXADDIN" val="\documentclass{article}&#10;\usepackage{amsmath}&#10;\usepackage{color}&#10;\pagestyle{empty}&#10;\begin{document}&#10;&#10;$&#10;\color{blue}&#10;\boldsymbol{b}_{3,c}&#10;= \dfrac{\boldsymbol{f}_d}{\|\boldsymbol{f}_d\|}&#10;$&#10;&#10;&#10;\end{document}"/>
  <p:tag name="IGUANATEXSIZE" val="20"/>
  <p:tag name="IGUANATEXCURSOR" val="203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.023"/>
  <p:tag name="ORIGINALWIDTH" val="992.3885"/>
  <p:tag name="OUTPUTTYPE" val="PNG"/>
  <p:tag name="IGUANATEXVERSION" val="160"/>
  <p:tag name="LATEXADDIN" val="\documentclass{article}&#10;\usepackage{amsmath}&#10;\usepackage{color}&#10;\pagestyle{empty}&#10;\begin{document}&#10;&#10;$&#10;\color{blue}&#10;\boldsymbol{P}_1 = \boldsymbol{I}_3 - \boldsymbol{b}_{3,c} \boldsymbol{b}_{3,c}^{T}&#10;$&#10;&#10;&#10;\end{document}"/>
  <p:tag name="IGUANATEXSIZE" val="20"/>
  <p:tag name="IGUANATEXCURSOR" val="21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6.54"/>
  <p:tag name="ORIGINALWIDTH" val="802.6121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b}}_{1,c}&#10;= \dfrac{1}{\|\boldsymbol{s}\|} \boldsymbol{P}_2 \dot{\boldsymbol{s}}&#10;$&#10;&#10;&#10;\end{document}"/>
  <p:tag name="IGUANATEXSIZE" val="20"/>
  <p:tag name="IGUANATEXCURSOR" val="14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9.5362"/>
  <p:tag name="ORIGINALWIDTH" val="562.5785"/>
  <p:tag name="OUTPUTTYPE" val="PNG"/>
  <p:tag name="IGUANATEXVERSION" val="160"/>
  <p:tag name="LATEXADDIN" val="\documentclass{article}&#10;\usepackage{amsmath}&#10;\usepackage{color}&#10;\pagestyle{empty}&#10;\begin{document}&#10;&#10;$&#10;\color{blue}&#10;\boldsymbol{b}_{1,c}&#10;= \dfrac{\boldsymbol{s}}{\|\boldsymbol{s}\|}&#10;$&#10;&#10;&#10;\end{document}"/>
  <p:tag name="IGUANATEXSIZE" val="20"/>
  <p:tag name="IGUANATEXCURSOR" val="14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5216"/>
  <p:tag name="ORIGINALWIDTH" val="1585.721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b}}_{2,c}&#10;= \dot{\boldsymbol{b}}_{3,c} \times \boldsymbol{b}_{1,c} &#10;+ \boldsymbol{b}_{3,c} \times \dot{\boldsymbol{b}}_{1,c}&#10;$&#10;&#10;&#10;\end{document}"/>
  <p:tag name="IGUANATEXSIZE" val="20"/>
  <p:tag name="IGUANATEXCURSOR" val="25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.2725"/>
  <p:tag name="ORIGINALWIDTH" val="1314.183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R}}_{0,c}&#10;= \begin{bmatrix}&#10;\dot{\boldsymbol{b}}_{1,c} &amp;&#10;\dot{\boldsymbol{b}}_{2,c} &amp;&#10;\dot{\boldsymbol{b}}_{3,c}&#10;\end{bmatrix}&#10;$&#10;&#10;&#10;\end{document}"/>
  <p:tag name="IGUANATEXSIZE" val="20"/>
  <p:tag name="IGUANATEXCURSOR" val="25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771"/>
  <p:tag name="ORIGINALWIDTH" val="1452.953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P}_1}&#10;= -\bigl( \dot{\boldsymbol{b}}_{3,c}\boldsymbol{b}_{3,c}^{T} &#10;+ \boldsymbol{b}_{3,c}\dot{\boldsymbol{b}}_{3,c}^{T} \bigr)&#10;$&#10;&#10;&#10;\end{document}"/>
  <p:tag name="IGUANATEXSIZE" val="20"/>
  <p:tag name="IGUANATEXCURSOR" val="259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5216"/>
  <p:tag name="ORIGINALWIDTH" val="1107.905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s}}&#10;= \dot{\boldsymbol{P}_1} \boldsymbol{b}_{1,d} + \boldsymbol{P}_1 \dot{\boldsymbol{b}}_{1,d}&#10;$&#10;&#10;&#10;\end{document}"/>
  <p:tag name="IGUANATEXSIZE" val="20"/>
  <p:tag name="IGUANATEXCURSOR" val="22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587.332"/>
  <p:tag name="OUTPUTTYPE" val="PNG"/>
  <p:tag name="IGUANATEXVERSION" val="160"/>
  <p:tag name="LATEXADDIN" val="\documentclass{article}&#10;\usepackage{amsmath}&#10;\usepackage{color}&#10;\pagestyle{empty}&#10;\begin{document}&#10;&#10;$&#10;\color{blue}&#10;\boldsymbol{s}&#10;= \boldsymbol{P}_1\boldsymbol{b}_{1,d}&#10;$&#10;&#10;&#10;\end{document}"/>
  <p:tag name="IGUANATEXSIZE" val="20"/>
  <p:tag name="IGUANATEXCURSOR" val="16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6.54"/>
  <p:tag name="ORIGINALWIDTH" val="954.1332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b}}_{3,c}&#10;= \dfrac{1}{\|\boldsymbol{f}_{d}\|} &#10;\boldsymbol{P}_1 \dot{\boldsymbol{f}}_d&#10;$&#10;&#10;&#10;\end{document}"/>
  <p:tag name="IGUANATEXSIZE" val="20"/>
  <p:tag name="IGUANATEXCURSOR" val="14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.023"/>
  <p:tag name="ORIGINALWIDTH" val="992.3885"/>
  <p:tag name="OUTPUTTYPE" val="PNG"/>
  <p:tag name="IGUANATEXVERSION" val="160"/>
  <p:tag name="LATEXADDIN" val="\documentclass{article}&#10;\usepackage{amsmath}&#10;\usepackage{color}&#10;\pagestyle{empty}&#10;\begin{document}&#10;&#10;$&#10;\color{blue}&#10;\boldsymbol{P}_2&#10;= \boldsymbol{I}_3 - \boldsymbol{b}_{1,c} \boldsymbol{b}_{1,c}^{T}&#10;$&#10;&#10;&#10;\end{document}"/>
  <p:tag name="IGUANATEXSIZE" val="20"/>
  <p:tag name="IGUANATEXCURSOR" val="132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771"/>
  <p:tag name="ORIGINALWIDTH" val="1452.953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P}}_2&#10;= -\bigl( \dot{\boldsymbol{b}}_{1,c}\boldsymbol{b}_{1,c}^{T}&#10;+ \boldsymbol{b}_{1,c}\dot{\boldsymbol{b}}_{1,c}^{T} \bigr)&#10;$&#10;&#10;&#10;\end{document}"/>
  <p:tag name="IGUANATEXSIZE" val="20"/>
  <p:tag name="IGUANATEXCURSOR" val="25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891.1243"/>
  <p:tag name="OUTPUTTYPE" val="PNG"/>
  <p:tag name="IGUANATEXVERSION" val="160"/>
  <p:tag name="LATEXADDIN" val="\documentclass{article}&#10;\usepackage{amsmath}&#10;\usepackage{color}&#10;\pagestyle{empty}&#10;\begin{document}&#10;&#10;$&#10;\color{blue}&#10;\boldsymbol{b}_{2,c} = \boldsymbol{b}_{3,c} \times \boldsymbol{b}_{1,c}&#10;$&#10;&#10;&#10;\end{document}"/>
  <p:tag name="IGUANATEXSIZE" val="20"/>
  <p:tag name="IGUANATEXCURSOR" val="18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2.2713"/>
  <p:tag name="ORIGINALWIDTH" val="1314.183"/>
  <p:tag name="OUTPUTTYPE" val="PNG"/>
  <p:tag name="IGUANATEXVERSION" val="160"/>
  <p:tag name="LATEXADDIN" val="\documentclass{article}&#10;\usepackage{amsmath}&#10;\usepackage{color}&#10;\pagestyle{empty}&#10;\begin{document}&#10;&#10;$&#10;\color{blue}&#10;\boldsymbol{R}_{0,c}&#10;= \begin{bmatrix}&#10;\boldsymbol{b}_{1,c} &amp;&#10;\boldsymbol{b}_{2,c} &amp;&#10;\boldsymbol{b}_{3,c}&#10;\end{bmatrix}&#10;$&#10;&#10;&#10;\end{document}"/>
  <p:tag name="IGUANATEXSIZE" val="20"/>
  <p:tag name="IGUANATEXCURSOR" val="234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8.2847"/>
  <p:tag name="ORIGINALWIDTH" val="1077.15"/>
  <p:tag name="OUTPUTTYPE" val="PNG"/>
  <p:tag name="IGUANATEXVERSION" val="160"/>
  <p:tag name="LATEXADDIN" val="\documentclass{article}&#10;\usepackage{amsmath}&#10;\usepackage{color}&#10;\pagestyle{empty}&#10;\begin{document}&#10;&#10;$&#10;\color{blue}&#10;\boldsymbol{\omega}_{0,c}&#10;= \left( \boldsymbol{R}_{0,c}^{T} \dot{\boldsymbol{R}}_{0,c} \right)^{\vee}&#10;$&#10;&#10;&#10;\end{document}"/>
  <p:tag name="IGUANATEXSIZE" val="20"/>
  <p:tag name="IGUANATEXCURSOR" val="21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3.527"/>
  <p:tag name="ORIGINALWIDTH" val="1673.484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\omega}}_{0,c}&#10;= \bigl( \dot{\boldsymbol{R}}_{0,c}^{T} \dot{\boldsymbol{R}}_{0,c}&#10;+ \boldsymbol{R}_{0,c}^{T} \ddot{\boldsymbol{R}}_{0,c}&#10;\bigr)^{\vee}&#10;$&#10;&#10;&#10;\end{document}"/>
  <p:tag name="IGUANATEXSIZE" val="20"/>
  <p:tag name="IGUANATEXCURSOR" val="282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.2725"/>
  <p:tag name="ORIGINALWIDTH" val="1314.183"/>
  <p:tag name="OUTPUTTYPE" val="PNG"/>
  <p:tag name="IGUANATEXVERSION" val="160"/>
  <p:tag name="LATEXADDIN" val="\documentclass{article}&#10;\usepackage{amsmath}&#10;\usepackage{color}&#10;\pagestyle{empty}&#10;\begin{document}&#10;&#10;$&#10;\color{blue}&#10;\ddot{\boldsymbol{R}}_{0,c}&#10;= \begin{bmatrix}&#10;\ddot{\boldsymbol{b}}_{1,c} &amp;&#10;\ddot{\boldsymbol{b}}_{2,c} &amp;&#10;\ddot{\boldsymbol{b}}_{3,c}&#10;\end{bmatrix}&#10;$&#10;&#10;&#10;\end{document}"/>
  <p:tag name="IGUANATEXSIZE" val="20"/>
  <p:tag name="IGUANATEXCURSOR" val="262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771"/>
  <p:tag name="ORIGINALWIDTH" val="2046.286"/>
  <p:tag name="OUTPUTTYPE" val="PNG"/>
  <p:tag name="IGUANATEXVERSION" val="160"/>
  <p:tag name="LATEXADDIN" val="\documentclass{article}&#10;\usepackage{amsmath}&#10;\usepackage{color}&#10;\pagestyle{empty}&#10;\begin{document}&#10;&#10;$&#10;\color{blue}&#10;\ddot{\boldsymbol{P}}_1&#10;= -( \ddot{\boldsymbol{b}}_{3,c}\boldsymbol{b}_{3,c}^{T}&#10;+ 2\dot{\boldsymbol{b}}_{3,c}\dot{\boldsymbol{b}}_{3,c}^{T}&#10;+ \boldsymbol{b}_{3,c}\ddot{\boldsymbol{b}}_{3,c}^{T} )&#10;$&#10;&#10;&#10;\end{document}"/>
  <p:tag name="IGUANATEXSIZE" val="20"/>
  <p:tag name="IGUANATEXCURSOR" val="31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1.5463"/>
  <p:tag name="ORIGINALWIDTH" val="2412.337"/>
  <p:tag name="OUTPUTTYPE" val="PNG"/>
  <p:tag name="IGUANATEXVERSION" val="160"/>
  <p:tag name="LATEXADDIN" val="\documentclass{article}&#10;\usepackage{amsmath}&#10;\usepackage{color}&#10;\pagestyle{empty}&#10;\begin{document}&#10;&#10;$&#10;\color{blue}&#10;\ddot{\boldsymbol{b}}_{3,c}&#10;= \dfrac{1}{\|\boldsymbol{f}_{d}\|} \left( \dot{\boldsymbol{P}}_1 \dot{\boldsymbol{f}}_{d} + \boldsymbol{P}_1 \ddot{\boldsymbol{f}}_{d} \right)&#10;- \dfrac{ \boldsymbol{b}_{3,c}^{T}\dot{\boldsymbol{f}}_{d} }{ \|\boldsymbol{f}_{d}\|^2 } \boldsymbol{P}_1\dot{\boldsymbol{f}}_{d}&#10;$&#10;&#10;&#10;\end{document}"/>
  <p:tag name="IGUANATEXSIZE" val="20"/>
  <p:tag name="IGUANATEXCURSOR" val="291"/>
  <p:tag name="TRANSPARENCY" val="True"/>
  <p:tag name="FILENAME" val=""/>
  <p:tag name="LATEXENGINEID" val="1"/>
  <p:tag name="TEMPFOLDER" val="D:\Program Files\IguanaTex\"/>
  <p:tag name="LATEXFORMHEIGHT" val="317"/>
  <p:tag name="LATEXFORMWIDTH" val="385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0.0461"/>
  <p:tag name="ORIGINALWIDTH" val="1938.271"/>
  <p:tag name="OUTPUTTYPE" val="PNG"/>
  <p:tag name="IGUANATEXVERSION" val="160"/>
  <p:tag name="LATEXADDIN" val="\documentclass{article}&#10;\usepackage{amsmath}&#10;\usepackage{color}&#10;\pagestyle{empty}&#10;\begin{document}&#10;&#10;$&#10;\color{blue}&#10;\ddot{\boldsymbol{b}}_{1,c}&#10;= \dfrac{1}{\|\boldsymbol{s}\|} \bigl( \dot{\boldsymbol{P}}_2\dot{\boldsymbol{s}} + \boldsymbol{P}_2\ddot{\boldsymbol{s}} \bigr) &#10;- \dfrac{ \boldsymbol{b}_{1,c}^{T}\dot{\boldsymbol{s}} }{ \|\boldsymbol{s}\| } \dot{\boldsymbol{b}}_{1,c}&#10;$&#10;&#10;&#10;\end{document}"/>
  <p:tag name="IGUANATEXSIZE" val="20"/>
  <p:tag name="IGUANATEXCURSOR" val="139"/>
  <p:tag name="TRANSPARENCY" val="True"/>
  <p:tag name="FILENAME" val=""/>
  <p:tag name="LATEXENGINEID" val="1"/>
  <p:tag name="TEMPFOLDER" val="D:\Program Files\IguanaTex\"/>
  <p:tag name="LATEXFORMHEIGHT" val="448.5"/>
  <p:tag name="LATEXFORMWIDTH" val="490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5216"/>
  <p:tag name="ORIGINALWIDTH" val="2341.827"/>
  <p:tag name="OUTPUTTYPE" val="PNG"/>
  <p:tag name="IGUANATEXVERSION" val="160"/>
  <p:tag name="LATEXADDIN" val="\documentclass{article}&#10;\usepackage{amsmath}&#10;\usepackage{color}&#10;\pagestyle{empty}&#10;\begin{document}&#10;&#10;$&#10;\color{blue}&#10;\ddot{\boldsymbol{b}}_{2,c}&#10;= \ddot{\boldsymbol{b}}_{3,c} \times \boldsymbol{b}_{1,c}&#10;+ 2\dot{\boldsymbol{b}}_{3,c} \times \dot{\boldsymbol{b}}_{1,c}&#10;+ \boldsymbol{b}_{3,c} \times \ddot{\boldsymbol{b}}_{1,c}&#10;$&#10;&#10;&#10;\end{document}"/>
  <p:tag name="IGUANATEXSIZE" val="20"/>
  <p:tag name="IGUANATEXCURSOR" val="322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5216"/>
  <p:tag name="ORIGINALWIDTH" val="1689.986"/>
  <p:tag name="OUTPUTTYPE" val="PNG"/>
  <p:tag name="IGUANATEXVERSION" val="160"/>
  <p:tag name="LATEXADDIN" val="\documentclass{article}&#10;\usepackage{amsmath}&#10;\usepackage{color}&#10;\pagestyle{empty}&#10;\begin{document}&#10;&#10;$&#10;\color{blue}&#10;\ddot{\boldsymbol{s}}&#10;= \ddot{\boldsymbol{P}}_1 \boldsymbol{b}_{1,d}&#10;+ 2 \dot{\boldsymbol{P}}_1 \dot{\boldsymbol{b}}_{1,d}&#10;+ \boldsymbol{P}_1 \ddot{\boldsymbol{b}}_{1,d}&#10;$&#10;&#10;&#10;\end{document}"/>
  <p:tag name="IGUANATEXSIZE" val="20"/>
  <p:tag name="IGUANATEXCURSOR" val="284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.5212"/>
  <p:tag name="ORIGINALWIDTH" val="1248.924"/>
  <p:tag name="OUTPUTTYPE" val="PNG"/>
  <p:tag name="IGUANATEXVERSION" val="160"/>
  <p:tag name="LATEXADDIN" val="\documentclass{article}&#10;\usepackage{amsmath}&#10;\usepackage{color}&#10;\pagestyle{empty}&#10;\begin{document}&#10;&#10;$&#10;\boldsymbol{e}_{\omega}&#10;=&#10;\boldsymbol{\omega}_0&#10;-&#10;\boldsymbol{R}_0^T \boldsymbol{R}_{0,c} \boldsymbol{\omega}_{0,c}&#10;$&#10;&#10;&#10;\end{document}"/>
  <p:tag name="IGUANATEXSIZE" val="20"/>
  <p:tag name="IGUANATEXCURSOR" val="10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5.0356"/>
  <p:tag name="ORIGINALWIDTH" val="1617.976"/>
  <p:tag name="OUTPUTTYPE" val="PNG"/>
  <p:tag name="IGUANATEXVERSION" val="160"/>
  <p:tag name="LATEXADDIN" val="\documentclass{article}&#10;\usepackage{amsmath}&#10;\usepackage{color}&#10;\pagestyle{empty}&#10;\begin{document}&#10;&#10;$&#10;\boldsymbol{e}_R&#10;=&#10;\dfrac{1}{2}&#10;\left(&#10;  \boldsymbol{R}_{0,c}^T\boldsymbol{R}_0&#10;- \boldsymbol{R}_0^T\boldsymbol{R}_{0,c}&#10;\right)^\vee&#10;$&#10;&#10;&#10;\end{document}"/>
  <p:tag name="IGUANATEXSIZE" val="20"/>
  <p:tag name="IGUANATEXCURSOR" val="10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9.0222"/>
  <p:tag name="ORIGINALWIDTH" val="658.5919"/>
  <p:tag name="OUTPUTTYPE" val="PNG"/>
  <p:tag name="IGUANATEXVERSION" val="160"/>
  <p:tag name="LATEXADDIN" val="\documentclass{article}&#10;\usepackage{amsmath}&#10;\usepackage{color}&#10;\pagestyle{empty}&#10;\begin{document}&#10;&#10;$&#10;\color{blue}&#10;+ \tilde{\boldsymbol{C}}_{r\rho} \boldsymbol{\rho}&#10;- \hat{\boldsymbol{d}}_{r}&#10;$&#10;&#10;&#10;\end{document}"/>
  <p:tag name="IGUANATEXSIZE" val="20"/>
  <p:tag name="IGUANATEXCURSOR" val="192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6.5316"/>
  <p:tag name="ORIGINALWIDTH" val="4003.309"/>
  <p:tag name="OUTPUTTYPE" val="PNG"/>
  <p:tag name="IGUANATEXVERSION" val="160"/>
  <p:tag name="LATEXADDIN" val="\documentclass{article}&#10;\usepackage{amsmath}&#10;\usepackage{color}&#10;\pagestyle{empty}&#10;\begin{document}&#10;&#10;$&#10;\color{blue}&#10;\boldsymbol{u}_2&#10;=&#10;\tilde{\boldsymbol{M}}_{r}&#10;\left[&#10;  \boldsymbol{R}_0^T \boldsymbol{R}_{0,c} \dot{\boldsymbol{\omega}}_{0,c}&#10;- \hat{\boldsymbol{\omega}}_0 \boldsymbol{R}_0^T \boldsymbol{R}_{0,c} \boldsymbol{\omega}_{0,c}&#10;- \tilde{\boldsymbol{M}}_{r,d}^{-1} \left( k_R \boldsymbol{e}_R + k_{\omega} \boldsymbol{e}_{\omega} \right)&#10;\right]&#10;+ \tilde{\boldsymbol{C}}_{r} \boldsymbol{\omega}_0&#10;$&#10;&#10;&#10;\end{document}"/>
  <p:tag name="IGUANATEXSIZE" val="20"/>
  <p:tag name="IGUANATEXCURSOR" val="505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632.3383"/>
  <p:tag name="OUTPUTTYPE" val="PNG"/>
  <p:tag name="IGUANATEXVERSION" val="160"/>
  <p:tag name="LATEXADDIN" val="\documentclass{article}&#10;\usepackage{amsmath}&#10;\usepackage{color}&#10;\pagestyle{empty}&#10;\begin{document}&#10;&#10;$&#10;\boldsymbol{b}_{1,e}=\boldsymbol{R}_e \boldsymbol{e}_1&#10;$&#10;&#10;&#10;\end{document}"/>
  <p:tag name="IGUANATEXSIZE" val="20"/>
  <p:tag name="IGUANATEXCURSOR" val="15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635.3387"/>
  <p:tag name="OUTPUTTYPE" val="PNG"/>
  <p:tag name="IGUANATEXVERSION" val="160"/>
  <p:tag name="LATEXADDIN" val="\documentclass{article}&#10;\usepackage{amsmath}&#10;\usepackage{color}&#10;\pagestyle{empty}&#10;\begin{document}&#10;&#10;$&#10;\boldsymbol{b}_{2,e}=\boldsymbol{R}_e \boldsymbol{e}_2&#10;$&#10;&#10;&#10;\end{document}"/>
  <p:tag name="IGUANATEXSIZE" val="20"/>
  <p:tag name="IGUANATEXCURSOR" val="15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636.0887"/>
  <p:tag name="OUTPUTTYPE" val="PNG"/>
  <p:tag name="IGUANATEXVERSION" val="160"/>
  <p:tag name="LATEXADDIN" val="\documentclass{article}&#10;\usepackage{amsmath}&#10;\usepackage{color}&#10;\pagestyle{empty}&#10;\begin{document}&#10;&#10;$&#10;\boldsymbol{b}_{3,e}=\boldsymbol{R}_e \boldsymbol{e}_3&#10;$&#10;&#10;&#10;\end{document}"/>
  <p:tag name="IGUANATEXSIZE" val="20"/>
  <p:tag name="IGUANATEXCURSOR" val="15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.023"/>
  <p:tag name="ORIGINALWIDTH" val="1071.9"/>
  <p:tag name="OUTPUTTYPE" val="PNG"/>
  <p:tag name="IGUANATEXVERSION" val="160"/>
  <p:tag name="LATEXADDIN" val="\documentclass{article}&#10;\usepackage{amsmath}&#10;\usepackage{color}&#10;\pagestyle{empty}&#10;\begin{document}&#10;&#10;$&#10;\color{blue}&#10;\boldsymbol{P}_{1,e} &#10;= \boldsymbol{I}_3 - \boldsymbol{b}_{3,e}\boldsymbol{b}_{3,e}^T&#10;$&#10;&#10;&#10;\end{document}"/>
  <p:tag name="IGUANATEXSIZE" val="20"/>
  <p:tag name="IGUANATEXCURSOR" val="13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795.111"/>
  <p:tag name="OUTPUTTYPE" val="PNG"/>
  <p:tag name="IGUANATEXVERSION" val="160"/>
  <p:tag name="LATEXADDIN" val="\documentclass{article}&#10;\usepackage{amsmath}&#10;\usepackage{color}&#10;\pagestyle{empty}&#10;\begin{document}&#10;&#10;$&#10;\color{blue}&#10;\boldsymbol{s}_e &#10;= \boldsymbol{P}_{1,e} \boldsymbol{b}_{1,e,d}&#10;$&#10;&#10;&#10;\end{document}"/>
  <p:tag name="IGUANATEXSIZE" val="20"/>
  <p:tag name="IGUANATEXCURSOR" val="17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5216"/>
  <p:tag name="ORIGINALWIDTH" val="783.8594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b}}_{3,e}&#10;= \boldsymbol{R}_e \hat{\boldsymbol{\omega}}_e \boldsymbol{e}_3&#10;$&#10;&#10;&#10;\end{document}"/>
  <p:tag name="IGUANATEXSIZE" val="20"/>
  <p:tag name="IGUANATEXCURSOR" val="14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6.54"/>
  <p:tag name="ORIGINALWIDTH" val="1059.898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b}}_{1,e,c} &#10;= \dfrac{1}{\|\boldsymbol{s}_e\|}\boldsymbol{P}_{2,e} \dot{\boldsymbol{s}}_e &#10;$&#10;&#10;&#10;\end{document}"/>
  <p:tag name="IGUANATEXSIZE" val="20"/>
  <p:tag name="IGUANATEXCURSOR" val="149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9.5362"/>
  <p:tag name="ORIGINALWIDTH" val="693.0967"/>
  <p:tag name="OUTPUTTYPE" val="PNG"/>
  <p:tag name="IGUANATEXVERSION" val="160"/>
  <p:tag name="LATEXADDIN" val="\documentclass{article}&#10;\usepackage{amsmath}&#10;\usepackage{color}&#10;\pagestyle{empty}&#10;\begin{document}&#10;&#10;$&#10;\color{blue}&#10;\boldsymbol{b}_{1,e,c}&#10;= \dfrac{\boldsymbol{s}_e}{\|\boldsymbol{s}_e\|}&#10;$&#10;&#10;&#10;\end{document}"/>
  <p:tag name="IGUANATEXSIZE" val="20"/>
  <p:tag name="IGUANATEXCURSOR" val="142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771"/>
  <p:tag name="ORIGINALWIDTH" val="1540.715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P}}_{1,e}&#10;= -\bigl( \dot{\boldsymbol{b}}_{3,e}\boldsymbol{b}_{3,e}^T&#10;+ \boldsymbol{b}_{3,e}\dot{\boldsymbol{b}}_{3,e}^T \bigr)&#10;$&#10;&#10;&#10;\end{document}"/>
  <p:tag name="IGUANATEXSIZE" val="20"/>
  <p:tag name="IGUANATEXCURSOR" val="25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5216"/>
  <p:tag name="ORIGINALWIDTH" val="1468.705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s}}_e&#10;= \dot{\boldsymbol{P}}_{1,e}\boldsymbol{b}_{1,e,d}&#10;+ \boldsymbol{P}_{1,e}\dot{\boldsymbol{b}}_{1,e,d}&#10;$&#10;&#10;&#10;\end{document}"/>
  <p:tag name="IGUANATEXSIZE" val="20"/>
  <p:tag name="IGUANATEXCURSOR" val="239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.023"/>
  <p:tag name="ORIGINALWIDTH" val="1204.668"/>
  <p:tag name="OUTPUTTYPE" val="PNG"/>
  <p:tag name="IGUANATEXVERSION" val="160"/>
  <p:tag name="LATEXADDIN" val="\documentclass{article}&#10;\usepackage{amsmath}&#10;\usepackage{color}&#10;\pagestyle{empty}&#10;\begin{document}&#10;&#10;$&#10;\color{blue}&#10;\boldsymbol{P}_{2,e} &#10;= I_3 - \boldsymbol{b}_{1,e,c} \boldsymbol{b}_{1,e,c}^T&#10;$&#10;&#10;&#10;\end{document}"/>
  <p:tag name="IGUANATEXSIZE" val="20"/>
  <p:tag name="IGUANATEXCURSOR" val="13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771"/>
  <p:tag name="ORIGINALWIDTH" val="1837.006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P}}_{2,e} &#10;= -\bigl(\dot{\boldsymbol{b}}_{1,e,c}\boldsymbol{b}_{1,e,c}^T &#10;+ \boldsymbol{b}_{1,e,c}\dot{\boldsymbol{b}}_{1,e,c}^T\bigr)&#10;$&#10;&#10;&#10;\end{document}"/>
  <p:tag name="IGUANATEXSIZE" val="20"/>
  <p:tag name="IGUANATEXCURSOR" val="26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4.51323"/>
  <p:tag name="ORIGINALWIDTH" val="638.3391"/>
  <p:tag name="OUTPUTTYPE" val="PNG"/>
  <p:tag name="IGUANATEXVERSION" val="160"/>
  <p:tag name="LATEXADDIN" val="\documentclass{article}&#10;\usepackage{amsmath}&#10;\usepackage{color}&#10;\pagestyle{empty}&#10;\begin{document}&#10;&#10;$&#10;\omega_{3,e} = \boldsymbol{\omega}_e \boldsymbol{e}_3&#10;$&#10;&#10;&#10;\end{document}"/>
  <p:tag name="IGUANATEXSIZE" val="20"/>
  <p:tag name="IGUANATEXCURSOR" val="155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6.5232"/>
  <p:tag name="ORIGINALWIDTH" val="1428.949"/>
  <p:tag name="OUTPUTTYPE" val="PNG"/>
  <p:tag name="IGUANATEXVERSION" val="160"/>
  <p:tag name="LATEXADDIN" val="\documentclass{article}&#10;\usepackage{amsmath}&#10;\usepackage{color}&#10;\pagestyle{empty}&#10;\begin{document}&#10;&#10;$&#10;\color{blue}&#10;\omega_{3,e,c}&#10;= \boldsymbol{b}_{3,e}^T ( \boldsymbol{b}_{1,e,c} \times \dot{\boldsymbol{b}}_{1,e,c} )&#10;$&#10;&#10;&#10;\end{document}"/>
  <p:tag name="IGUANATEXSIZE" val="20"/>
  <p:tag name="IGUANATEXCURSOR" val="21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7.0206"/>
  <p:tag name="ORIGINALWIDTH" val="831.116"/>
  <p:tag name="OUTPUTTYPE" val="PNG"/>
  <p:tag name="IGUANATEXVERSION" val="160"/>
  <p:tag name="LATEXADDIN" val="\documentclass{article}&#10;\usepackage{amsmath}&#10;\usepackage{color}&#10;\pagestyle{empty}&#10;\begin{document}&#10;&#10;$&#10;\boldsymbol{R}^{0}_{e}(\boldsymbol{q}) = \boldsymbol{R}^{0}_{n}(\boldsymbol{q}) &#10;$&#10;&#10;&#10;\end{document}"/>
  <p:tag name="IGUANATEXSIZE" val="20"/>
  <p:tag name="IGUANATEXCURSOR" val="182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2758"/>
  <p:tag name="ORIGINALWIDTH" val="1840.007"/>
  <p:tag name="OUTPUTTYPE" val="PNG"/>
  <p:tag name="IGUANATEXVERSION" val="160"/>
  <p:tag name="LATEXADDIN" val="\documentclass{article}&#10;\usepackage{amsmath}&#10;\usepackage{color}&#10;\pagestyle{empty}&#10;\begin{document}&#10;&#10;$&#10;\boldsymbol{\omega}_e&#10;= \left(\boldsymbol{R}^{0}_e\right)^T \boldsymbol{\omega}^{0}_e &#10;= \boldsymbol{R}_{0}^{e} (\boldsymbol{\omega}_0 + \boldsymbol{J}^{q}_{\omega_e} \dot{\boldsymbol{q}})&#10;$&#10;&#10;&#10;\end{document}"/>
  <p:tag name="IGUANATEXSIZE" val="20"/>
  <p:tag name="IGUANATEXCURSOR" val="29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2691"/>
  <p:tag name="ORIGINALWIDTH" val="467.3152"/>
  <p:tag name="OUTPUTTYPE" val="PNG"/>
  <p:tag name="IGUANATEXVERSION" val="160"/>
  <p:tag name="LATEXADDIN" val="\documentclass{article}&#10;\usepackage{amsmath}&#10;\pagestyle{empty}&#10;\begin{document}&#10;&#10;$&#10;\boldsymbol{\omega}_e^0&#10;= \boldsymbol{\omega}_n^0&#10;$&#10;&#10;&#10;\end{document}"/>
  <p:tag name="IGUANATEXSIZE" val="20"/>
  <p:tag name="IGUANATEXCURSOR" val="13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5216"/>
  <p:tag name="ORIGINALWIDTH" val="2204.558"/>
  <p:tag name="OUTPUTTYPE" val="PNG"/>
  <p:tag name="IGUANATEXVERSION" val="160"/>
  <p:tag name="LATEXADDIN" val="\documentclass{article}&#10;\usepackage{amsmath}&#10;\usepackage{color}&#10;\pagestyle{empty}&#10;\begin{document}&#10;&#10;$&#10;\color{blue}&#10;\ddot{\boldsymbol{s}}_e &#10;= \ddot{\boldsymbol{P}}_{1,e} \boldsymbol{b}_{1,e,d} &#10;+ 2\dot{\boldsymbol{P}}_{1,e} \dot{\boldsymbol{b}}_{1,e,d} &#10;+ \boldsymbol{P}_{1,e} \ddot{\boldsymbol{b}}_{1,e,d}&#10;$&#10;&#10;&#10;\end{document}"/>
  <p:tag name="IGUANATEXSIZE" val="20"/>
  <p:tag name="IGUANATEXCURSOR" val="30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0.0461"/>
  <p:tag name="ORIGINALWIDTH" val="2591.612"/>
  <p:tag name="OUTPUTTYPE" val="PNG"/>
  <p:tag name="IGUANATEXVERSION" val="160"/>
  <p:tag name="LATEXADDIN" val="\documentclass{article}&#10;\usepackage{amsmath}&#10;\usepackage{color}&#10;\pagestyle{empty}&#10;\begin{document}&#10;&#10;$&#10;\color{blue}&#10;\ddot{\boldsymbol{b}}_{1,e,c} &#10;= \dfrac{1}{\|\boldsymbol{s}_e\|} \left(\dot{\boldsymbol{P}}_{2,e} \dot{\boldsymbol{s}}_e  + \boldsymbol{P}_{2,e} \ddot{\boldsymbol{s}}_e \right) &#10;- \dfrac{\boldsymbol{b}_{1,e,c}^T \dot{\boldsymbol{s}}_e }{\|\boldsymbol{s}_e\|}\dot{\boldsymbol{b}}_{1,e,c}&#10;$&#10;&#10;&#10;\end{document}"/>
  <p:tag name="IGUANATEXSIZE" val="20"/>
  <p:tag name="IGUANATEXCURSOR" val="29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771"/>
  <p:tag name="ORIGINALWIDTH" val="2689.125"/>
  <p:tag name="OUTPUTTYPE" val="PNG"/>
  <p:tag name="IGUANATEXVERSION" val="160"/>
  <p:tag name="LATEXADDIN" val="\documentclass{article}&#10;\usepackage{amsmath}&#10;\usepackage{color}&#10;\pagestyle{empty}&#10;\begin{document}&#10;&#10;$&#10;\color{blue}&#10;\dot{\omega}_{3,e,c}&#10;= \dot{\boldsymbol{b}}_{3,e}^T \bigl(\boldsymbol{b}_{1,e,c} \times \dot{\boldsymbol{b}}_{1,e,c}\bigr) &#10;+ \bigl(\boldsymbol{b}_{3,e} \times \boldsymbol{b}_{1,e,c}\bigr)^T \ddot{\boldsymbol{b}}_{1,e,c}&#10;$&#10;&#10;&#10;\end{document}"/>
  <p:tag name="IGUANATEXSIZE" val="20"/>
  <p:tag name="IGUANATEXCURSOR" val="335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2.0226"/>
  <p:tag name="ORIGINALWIDTH" val="1199.417"/>
  <p:tag name="OUTPUTTYPE" val="PNG"/>
  <p:tag name="IGUANATEXVERSION" val="160"/>
  <p:tag name="LATEXADDIN" val="\documentclass{article}&#10;\usepackage{amsmath}&#10;\usepackage{color}&#10;\pagestyle{empty}&#10;\begin{document}&#10;&#10;$&#10;\color{blue}&#10;\ddot{\boldsymbol{b}}_{3,e} &#10;= \boldsymbol{R}_e \bigl(\hat{\boldsymbol{\omega}}_e^2 &#10;+ \dot{\hat{\boldsymbol{\omega}}}_e\bigr) \boldsymbol{e}_3&#10;$&#10;&#10;&#10;\end{document}"/>
  <p:tag name="IGUANATEXSIZE" val="20"/>
  <p:tag name="IGUANATEXCURSOR" val="25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771"/>
  <p:tag name="ORIGINALWIDTH" val="2149.8"/>
  <p:tag name="OUTPUTTYPE" val="PNG"/>
  <p:tag name="IGUANATEXVERSION" val="160"/>
  <p:tag name="LATEXADDIN" val="\documentclass{article}&#10;\usepackage{amsmath}&#10;\usepackage{color}&#10;\pagestyle{empty}&#10;\begin{document}&#10;&#10;$&#10;\color{blue}&#10;\ddot{\boldsymbol{P}}_{1,e} = -\bigl(\ddot{\boldsymbol{b}}_{3,e}\boldsymbol{b}_{3,e}^T &#10;+ 2\dot{\boldsymbol{b}}_{3,e}\dot{\boldsymbol{b}}_{3,e}^T &#10;+ \boldsymbol{b}_{3,e}\ddot{\boldsymbol{b}}_{3,e}^T\bigr)&#10;$&#10;&#10;&#10;\end{document}"/>
  <p:tag name="IGUANATEXSIZE" val="20"/>
  <p:tag name="IGUANATEXCURSOR" val="319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6.5316"/>
  <p:tag name="ORIGINALWIDTH" val="2224.061"/>
  <p:tag name="OUTPUTTYPE" val="PNG"/>
  <p:tag name="IGUANATEXVERSION" val="160"/>
  <p:tag name="LATEXADDIN" val="\documentclass{article}&#10;\usepackage{amsmath}&#10;\usepackage{color}&#10;\pagestyle{empty}&#10;\begin{document}&#10;&#10;$&#10;\dot{\boldsymbol{\omega}}_e&#10;= \boldsymbol{R}_0^e\left(\dot{\boldsymbol{\omega}}_0+\boldsymbol{J}_{\omega_e}^q \ddot{\boldsymbol{q}}+\dot{\boldsymbol{J}}_{\omega_e}^q \dot{\boldsymbol{q}}+\hat{\boldsymbol{\omega}}_0 \boldsymbol{J}_{\omega_e}^q \dot{\boldsymbol{q}}\right)&#10;$&#10;&#10;&#10;\end{document}"/>
  <p:tag name="IGUANATEXSIZE" val="20"/>
  <p:tag name="IGUANATEXCURSOR" val="372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1.5421"/>
  <p:tag name="ORIGINALWIDTH" val="673.594"/>
  <p:tag name="OUTPUTTYPE" val="PNG"/>
  <p:tag name="IGUANATEXVERSION" val="160"/>
  <p:tag name="LATEXADDIN" val="\documentclass{article}&#10;\usepackage{amsmath}&#10;\usepackage{color}&#10;\pagestyle{empty}&#10;\begin{document}&#10;&#10;$&#10;\boldsymbol{e}_{y} = &#10;\begin{bmatrix} \boldsymbol{e}_{x_E} \\ e_{R_{E,3}} \end{bmatrix} &#10;$&#10;&#10;&#10;\end{document}"/>
  <p:tag name="IGUANATEXSIZE" val="20"/>
  <p:tag name="IGUANATEXCURSOR" val="19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1.5421"/>
  <p:tag name="ORIGINALWIDTH" val="711.8494"/>
  <p:tag name="OUTPUTTYPE" val="PNG"/>
  <p:tag name="IGUANATEXVERSION" val="160"/>
  <p:tag name="LATEXADDIN" val="\documentclass{article}&#10;\usepackage{amsmath}&#10;\usepackage{color}&#10;\pagestyle{empty}&#10;\begin{document}&#10;&#10;$&#10;\boldsymbol{e}_{v_y} = &#10;\begin{bmatrix} \boldsymbol{e}_{v_E} \\ e_{\omega_{E,3}} \end{bmatrix} &#10;$&#10;&#10;&#10;\end{document}"/>
  <p:tag name="IGUANATEXSIZE" val="20"/>
  <p:tag name="IGUANATEXCURSOR" val="19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1.5421"/>
  <p:tag name="ORIGINALWIDTH" val="685.5956"/>
  <p:tag name="OUTPUTTYPE" val="PNG"/>
  <p:tag name="IGUANATEXVERSION" val="160"/>
  <p:tag name="LATEXADDIN" val="\documentclass{article}&#10;\usepackage{amsmath}&#10;\usepackage{color}&#10;\pagestyle{empty}&#10;\begin{document}&#10;&#10;$&#10;\ddot{\boldsymbol{y}}_d = &#10;\begin{bmatrix} \ddot{\boldsymbol{r}}_{e,d} \\ \dot{\omega}_{3,e,c} \end{bmatrix} &#10;$&#10;&#10;&#10;\end{document}"/>
  <p:tag name="IGUANATEXSIZE" val="20"/>
  <p:tag name="IGUANATEXCURSOR" val="21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.023"/>
  <p:tag name="ORIGINALWIDTH" val="1000.64"/>
  <p:tag name="OUTPUTTYPE" val="PNG"/>
  <p:tag name="IGUANATEXVERSION" val="160"/>
  <p:tag name="LATEXADDIN" val="\documentclass{article}&#10;\usepackage{amsmath}&#10;\usepackage{color}&#10;\pagestyle{empty}&#10;\begin{document}&#10;&#10;$&#10;e_{R_{E,3}} &#10;= - \boldsymbol{b}_{1,e,c}^T \boldsymbol{b}_{2,e}&#10;$&#10;&#10;&#10;\end{document}"/>
  <p:tag name="IGUANATEXSIZE" val="20"/>
  <p:tag name="IGUANATEXCURSOR" val="164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4.51323"/>
  <p:tag name="ORIGINALWIDTH" val="838.617"/>
  <p:tag name="OUTPUTTYPE" val="PNG"/>
  <p:tag name="IGUANATEXVERSION" val="160"/>
  <p:tag name="LATEXADDIN" val="\documentclass{article}&#10;\usepackage{amsmath}&#10;\usepackage{color}&#10;\pagestyle{empty}&#10;\begin{document}&#10;&#10;$&#10;\boldsymbol{e}_{x_E} = \boldsymbol{r}_e - \boldsymbol{r}_{e,d}&#10;$&#10;&#10;&#10;\end{document}"/>
  <p:tag name="IGUANATEXSIZE" val="20"/>
  <p:tag name="IGUANATEXCURSOR" val="164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.2641"/>
  <p:tag name="ORIGINALWIDTH" val="1072.65"/>
  <p:tag name="OUTPUTTYPE" val="PNG"/>
  <p:tag name="IGUANATEXVERSION" val="160"/>
  <p:tag name="LATEXADDIN" val="\documentclass{article}&#10;\usepackage{amsmath}&#10;\usepackage{color}&#10;\pagestyle{empty}&#10;\begin{document}&#10;&#10;$&#10;e_{\omega_{E,3}} = \omega_{3,e} - \omega_{3,e,c}&#10;$&#10;&#10;&#10;\end{document}"/>
  <p:tag name="IGUANATEXSIZE" val="20"/>
  <p:tag name="IGUANATEXCURSOR" val="15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831.8661"/>
  <p:tag name="OUTPUTTYPE" val="PNG"/>
  <p:tag name="IGUANATEXVERSION" val="160"/>
  <p:tag name="LATEXADDIN" val="\documentclass{article}&#10;\usepackage{amsmath}&#10;\usepackage{color}&#10;\pagestyle{empty}&#10;\begin{document}&#10;&#10;$&#10;\boldsymbol{e}_{v_E} = \dot{\boldsymbol{r}}_e - \dot{\boldsymbol{r}}_{e,d}&#10;$&#10;&#10;&#10;\end{document}"/>
  <p:tag name="IGUANATEXSIZE" val="20"/>
  <p:tag name="IGUANATEXCURSOR" val="17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81.3311"/>
  <p:tag name="ORIGINALWIDTH" val="5093.961"/>
  <p:tag name="OUTPUTTYPE" val="PNG"/>
  <p:tag name="IGUANATEXVERSION" val="160"/>
  <p:tag name="LATEXADDIN" val="\documentclass{article}&#10;\usepackage{amsmath}&#10;\usepackage{color}&#10;\pagestyle{empty}&#10;\begin{document}&#10;&#10;$&#10;\color{blue}&#10;\begin{aligned}&#10;\boldsymbol{u}_{3}&#10;=&amp; - \bar{\boldsymbol{J}}_{3,y}^{-1}&#10;\left(&#10;\begin{bmatrix}&#10;\bar{\boldsymbol{J}}_{1,y} &amp;&#10;\bar{\boldsymbol{J}}_{2,y}&#10;\end{bmatrix}&#10;\begin{bmatrix}&#10;  \boldsymbol{u}_{1} &#10;- \tilde{\boldsymbol{g}}_t &#10;\\&#10;  \boldsymbol{u}_{2} &#10;- \tilde{\boldsymbol{C}}_{r} \boldsymbol{\omega}_{0} &#10;- \tilde{\boldsymbol{C}}_{r \rho} \boldsymbol{\rho} &#10;\end{bmatrix}&#10;+ \boldsymbol{\Lambda}_{y}&#10;(\dot{\boldsymbol{J}}_{y} \boldsymbol{\xi}&#10;- \ddot{\boldsymbol{y}}_{d})&#10;+ \boldsymbol{\Lambda}_{y} \boldsymbol{M}_{y}^{-1} &#10;(\boldsymbol{D}_{y} \boldsymbol{e}_{v_y}&#10;+ \boldsymbol{K}_{y} \boldsymbol{e}_{y})&#10;\right.&#10;\\&#10;&amp;\left.&#10;- \big( \boldsymbol{\Lambda}_{y} \boldsymbol{M}_{y}^{-1} - \boldsymbol{I}_4 \big) \hat{\boldsymbol{F}}_{y}&#10;\right)&#10;- \tilde{\boldsymbol{C}}_{r\rho}^{T} \boldsymbol{\omega}_{0}&#10;+ \tilde{\boldsymbol{C}}_{\rho} \boldsymbol{\rho}&#10;\end{aligned}&#10;$&#10;&#10;&#10;\end{document}"/>
  <p:tag name="IGUANATEXSIZE" val="20"/>
  <p:tag name="IGUANATEXCURSOR" val="737"/>
  <p:tag name="TRANSPARENCY" val="True"/>
  <p:tag name="FILENAME" val=""/>
  <p:tag name="LATEXENGINEID" val="1"/>
  <p:tag name="TEMPFOLDER" val="D:\Program Files\IguanaTex\"/>
  <p:tag name="LATEXFORMHEIGHT" val="577.5"/>
  <p:tag name="LATEXFORMWIDTH" val="899.5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2758"/>
  <p:tag name="ORIGINALWIDTH" val="2338.826"/>
  <p:tag name="OUTPUTTYPE" val="PNG"/>
  <p:tag name="IGUANATEXVERSION" val="160"/>
  <p:tag name="LATEXADDIN" val="\documentclass{article}&#10;\usepackage{amsmath}&#10;\pagestyle{empty}&#10;\begin{document}&#10;&#10;$&#10;\hat{\boldsymbol{F}}_y&#10;= \big( \boldsymbol{J}_y^{\dagger} \big)^T \hat{\boldsymbol{d}}_e&#10;= \bar{\boldsymbol{J}}_{1,y} \hat{\boldsymbol{d}}_t&#10;+ \bar{\boldsymbol{J}}_{2,y} \hat{\boldsymbol{d}}_r&#10;+ \bar{\boldsymbol{J}}_{3,y} \hat{\boldsymbol{d}}_\rho&#10;$&#10;&#10;&#10;\end{document}"/>
  <p:tag name="IGUANATEXSIZE" val="20"/>
  <p:tag name="IGUANATEXCURSOR" val="33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.023"/>
  <p:tag name="ORIGINALWIDTH" val="2792.64"/>
  <p:tag name="OUTPUTTYPE" val="PNG"/>
  <p:tag name="IGUANATEXVERSION" val="160"/>
  <p:tag name="LATEXADDIN" val="\documentclass{article}&#10;\usepackage{amsmath}&#10;\pagestyle{empty}&#10;\begin{document}&#10;&#10;$&#10;\boldsymbol{M}_{y} = \boldsymbol{M}_{y}^T \succ 0, \quad&#10;\boldsymbol{K}_{y} = \boldsymbol{K}_{y}^T \succ 0, \quad&#10;\boldsymbol{D}_{y} = \boldsymbol{D}_{y}^T \succ 0.&#10;$&#10;&#10;&#10;\end{document}"/>
  <p:tag name="IGUANATEXSIZE" val="20"/>
  <p:tag name="IGUANATEXCURSOR" val="24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.7652"/>
  <p:tag name="ORIGINALWIDTH" val="711.0992"/>
  <p:tag name="OUTPUTTYPE" val="PNG"/>
  <p:tag name="IGUANATEXVERSION" val="160"/>
  <p:tag name="LATEXADDIN" val="\documentclass{article}&#10;\usepackage{amsmath}&#10;\pagestyle{empty}&#10;\begin{document}&#10;&#10;$&#10;\boldsymbol{u}_1&#10;= u_1 \boldsymbol{R}_0 \boldsymbol{e}_3&#10;$&#10;&#10;&#10;\end{document}"/>
  <p:tag name="IGUANATEXSIZE" val="20"/>
  <p:tag name="IGUANATEXCURSOR" val="10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122</Words>
  <Application>Microsoft Office PowerPoint</Application>
  <PresentationFormat>Widescreen</PresentationFormat>
  <Paragraphs>23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12</cp:revision>
  <dcterms:created xsi:type="dcterms:W3CDTF">2026-07-21T00:49:10Z</dcterms:created>
  <dcterms:modified xsi:type="dcterms:W3CDTF">2026-07-21T01:35:54Z</dcterms:modified>
</cp:coreProperties>
</file>