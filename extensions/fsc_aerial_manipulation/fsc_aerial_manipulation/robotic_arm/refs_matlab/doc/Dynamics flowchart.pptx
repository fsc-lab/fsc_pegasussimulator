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574" y="12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F0E36-642A-485B-BC96-437DC0C06E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6885B0-22B0-4B61-AFA7-9C4D78588B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718E0-BA55-43C3-BA42-0569A819B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F95A-366A-434F-83E8-21308B684540}" type="datetimeFigureOut">
              <a:rPr lang="zh-CN" altLang="en-US" smtClean="0"/>
              <a:t>2026-07-20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CEF35-E128-4723-B0DA-C4577D11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3FD2F-30EE-4CAD-8F73-335388DC5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03F1-A1B8-4688-951C-EBF3743DEC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411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61D88-E1FC-4317-837C-9F7DA4B38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9209F-1021-4BF7-8434-BB000BCFE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8FCF5-36ED-450D-95C7-31C9687C0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F95A-366A-434F-83E8-21308B684540}" type="datetimeFigureOut">
              <a:rPr lang="zh-CN" altLang="en-US" smtClean="0"/>
              <a:t>2026-07-20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C6CD17-1132-47D8-90C3-3CBB75814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AFE80-F757-4680-B75C-4AC154E65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03F1-A1B8-4688-951C-EBF3743DEC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8490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2C46C-7214-42E8-B4BA-D77240A5D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C9FC7-7DE8-41CA-949E-91D39C68E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9D16C-7443-4608-94C2-DCD1C37C3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F95A-366A-434F-83E8-21308B684540}" type="datetimeFigureOut">
              <a:rPr lang="zh-CN" altLang="en-US" smtClean="0"/>
              <a:t>2026-07-20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39E83-F12D-4D58-BEAE-293A1CD17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0E407-582E-4C6E-896C-5E91056B8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03F1-A1B8-4688-951C-EBF3743DEC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7308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4E37C-8765-4EA5-9E79-9B52DBB67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9F873-8022-4E66-823A-AA8CAF99F5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477A9-F465-4EFF-A93D-B268211CB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D92E43-EC1A-4B80-A873-D41EB00BE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F95A-366A-434F-83E8-21308B684540}" type="datetimeFigureOut">
              <a:rPr lang="zh-CN" altLang="en-US" smtClean="0"/>
              <a:t>2026-07-20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C876D1-5E36-45FF-99B1-39A0C70E5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41E602-D39E-460F-AFAC-2C694E507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03F1-A1B8-4688-951C-EBF3743DEC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789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1A659-46DF-45A7-BE26-1A70C9110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9770CF-E923-448E-A30E-14E4A4FFE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E1B436-2F4D-4B36-BB85-7005B79AB1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F50C27-CEB3-47F4-BE4E-F915D36E74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03642E-3C87-4ACD-AD1D-12AE362B41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457896-371E-49D1-A927-3F593BE1C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F95A-366A-434F-83E8-21308B684540}" type="datetimeFigureOut">
              <a:rPr lang="zh-CN" altLang="en-US" smtClean="0"/>
              <a:t>2026-07-20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D3F4C1-797E-444A-A2CC-7DA0538F9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122EB8-514A-40B8-96CB-629BCEF62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03F1-A1B8-4688-951C-EBF3743DEC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7892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4921D-AAD5-47BD-8C00-1601C268F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EBBD2F-FE56-4B32-A3A2-E43B749A1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F95A-366A-434F-83E8-21308B684540}" type="datetimeFigureOut">
              <a:rPr lang="zh-CN" altLang="en-US" smtClean="0"/>
              <a:t>2026-07-20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DB0835-EFFC-484E-9434-20B948C3D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DE53E4-CB61-4B6D-8943-73D00C7DC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03F1-A1B8-4688-951C-EBF3743DEC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1618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CC9683-B1C9-4E67-B007-11E28C365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F95A-366A-434F-83E8-21308B684540}" type="datetimeFigureOut">
              <a:rPr lang="zh-CN" altLang="en-US" smtClean="0"/>
              <a:t>2026-07-20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1D9ECB-B539-422F-BCEE-2BDD23B28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AD0BB-7089-4AD0-8536-6388811AD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03F1-A1B8-4688-951C-EBF3743DEC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69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E0BF0-18DE-45F3-9271-4F1BA44C1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8038B-B361-4B43-91CB-57C89F40D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F9A170-928E-434A-922F-65716C0A3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2A643B-31A7-4699-898D-5A5CC4334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F95A-366A-434F-83E8-21308B684540}" type="datetimeFigureOut">
              <a:rPr lang="zh-CN" altLang="en-US" smtClean="0"/>
              <a:t>2026-07-20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17E937-1373-4DC8-A625-C367D5657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6F6A3-19D4-42AF-A741-A1A7BC996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03F1-A1B8-4688-951C-EBF3743DEC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9998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2BA5F-2C1A-4C6B-B539-A2E8E399B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01C93B-1CDD-4D59-9D55-B910E5A534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6385E4-7AB0-4F20-BAC5-0D40539888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6FB4C-9671-4B1E-B115-FCAB970A0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F95A-366A-434F-83E8-21308B684540}" type="datetimeFigureOut">
              <a:rPr lang="zh-CN" altLang="en-US" smtClean="0"/>
              <a:t>2026-07-20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D03374-C141-4B02-8830-B2E60620F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4EA7E9-483B-4DCD-B841-7A88E476C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03F1-A1B8-4688-951C-EBF3743DEC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6012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52E52-912F-4716-AC6E-ECF1A8E5E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79EF73-841D-456A-A7A5-A6466660DD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ED945-4516-458D-89EC-898394422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F95A-366A-434F-83E8-21308B684540}" type="datetimeFigureOut">
              <a:rPr lang="zh-CN" altLang="en-US" smtClean="0"/>
              <a:t>2026-07-20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365C7-0DF9-4B71-A9EC-10C74C306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D384D-79B2-4AA4-97A8-D670B7458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03F1-A1B8-4688-951C-EBF3743DEC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8394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23E22A-6756-4CFC-AB4B-551DF41DCD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0F5E36-7BAA-4AF4-90E9-34DF402E4F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C22EE-2D0B-4F00-8725-E85A0433D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F95A-366A-434F-83E8-21308B684540}" type="datetimeFigureOut">
              <a:rPr lang="zh-CN" altLang="en-US" smtClean="0"/>
              <a:t>2026-07-20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C52AC-34D7-46C9-BC20-1396DEC4C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D68BE-4DEC-4232-8987-C6123E7F1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03F1-A1B8-4688-951C-EBF3743DEC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368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C7F756-5001-444A-8B73-30F9A3539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76BC4D-4BA6-4507-BB25-CD24CDC96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12DD5-92BF-4D8C-9202-D4A29182F4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2F95A-366A-434F-83E8-21308B684540}" type="datetimeFigureOut">
              <a:rPr lang="zh-CN" altLang="en-US" smtClean="0"/>
              <a:t>2026-07-20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33480-FE7E-4C68-A901-6770D9D491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80C54-3678-4065-99C1-CE6D1CCE1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5303F1-A1B8-4688-951C-EBF3743DEC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1271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5.xml"/><Relationship Id="rId7" Type="http://schemas.openxmlformats.org/officeDocument/2006/relationships/image" Target="../media/image5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6.xml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image" Target="../media/image8.png"/><Relationship Id="rId18" Type="http://schemas.openxmlformats.org/officeDocument/2006/relationships/image" Target="../media/image13.png"/><Relationship Id="rId3" Type="http://schemas.openxmlformats.org/officeDocument/2006/relationships/tags" Target="../tags/tag9.xml"/><Relationship Id="rId21" Type="http://schemas.openxmlformats.org/officeDocument/2006/relationships/image" Target="../media/image16.png"/><Relationship Id="rId7" Type="http://schemas.openxmlformats.org/officeDocument/2006/relationships/tags" Target="../tags/tag13.xml"/><Relationship Id="rId12" Type="http://schemas.openxmlformats.org/officeDocument/2006/relationships/slideLayout" Target="../slideLayouts/slideLayout1.xml"/><Relationship Id="rId17" Type="http://schemas.openxmlformats.org/officeDocument/2006/relationships/image" Target="../media/image12.png"/><Relationship Id="rId2" Type="http://schemas.openxmlformats.org/officeDocument/2006/relationships/tags" Target="../tags/tag8.xml"/><Relationship Id="rId16" Type="http://schemas.openxmlformats.org/officeDocument/2006/relationships/image" Target="../media/image11.png"/><Relationship Id="rId20" Type="http://schemas.openxmlformats.org/officeDocument/2006/relationships/image" Target="../media/image15.png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5" Type="http://schemas.openxmlformats.org/officeDocument/2006/relationships/tags" Target="../tags/tag11.xml"/><Relationship Id="rId15" Type="http://schemas.openxmlformats.org/officeDocument/2006/relationships/image" Target="../media/image10.png"/><Relationship Id="rId23" Type="http://schemas.openxmlformats.org/officeDocument/2006/relationships/image" Target="../media/image18.png"/><Relationship Id="rId10" Type="http://schemas.openxmlformats.org/officeDocument/2006/relationships/tags" Target="../tags/tag16.xml"/><Relationship Id="rId19" Type="http://schemas.openxmlformats.org/officeDocument/2006/relationships/image" Target="../media/image14.png"/><Relationship Id="rId4" Type="http://schemas.openxmlformats.org/officeDocument/2006/relationships/tags" Target="../tags/tag10.xml"/><Relationship Id="rId9" Type="http://schemas.openxmlformats.org/officeDocument/2006/relationships/tags" Target="../tags/tag15.xml"/><Relationship Id="rId14" Type="http://schemas.openxmlformats.org/officeDocument/2006/relationships/image" Target="../media/image9.png"/><Relationship Id="rId22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image" Target="../media/image22.png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tags" Target="../tags/tag19.xml"/><Relationship Id="rId16" Type="http://schemas.openxmlformats.org/officeDocument/2006/relationships/image" Target="../media/image25.png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image" Target="../media/image20.png"/><Relationship Id="rId5" Type="http://schemas.openxmlformats.org/officeDocument/2006/relationships/tags" Target="../tags/tag22.xml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tags" Target="../tags/tag21.xml"/><Relationship Id="rId9" Type="http://schemas.openxmlformats.org/officeDocument/2006/relationships/slideLayout" Target="../slideLayouts/slideLayout1.xml"/><Relationship Id="rId1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3.xml"/><Relationship Id="rId13" Type="http://schemas.openxmlformats.org/officeDocument/2006/relationships/tags" Target="../tags/tag38.xml"/><Relationship Id="rId18" Type="http://schemas.openxmlformats.org/officeDocument/2006/relationships/image" Target="../media/image28.png"/><Relationship Id="rId26" Type="http://schemas.openxmlformats.org/officeDocument/2006/relationships/image" Target="../media/image36.png"/><Relationship Id="rId3" Type="http://schemas.openxmlformats.org/officeDocument/2006/relationships/tags" Target="../tags/tag28.xml"/><Relationship Id="rId21" Type="http://schemas.openxmlformats.org/officeDocument/2006/relationships/image" Target="../media/image31.png"/><Relationship Id="rId7" Type="http://schemas.openxmlformats.org/officeDocument/2006/relationships/tags" Target="../tags/tag32.xml"/><Relationship Id="rId12" Type="http://schemas.openxmlformats.org/officeDocument/2006/relationships/tags" Target="../tags/tag37.xml"/><Relationship Id="rId17" Type="http://schemas.openxmlformats.org/officeDocument/2006/relationships/image" Target="../media/image27.png"/><Relationship Id="rId25" Type="http://schemas.openxmlformats.org/officeDocument/2006/relationships/image" Target="../media/image35.png"/><Relationship Id="rId2" Type="http://schemas.openxmlformats.org/officeDocument/2006/relationships/tags" Target="../tags/tag27.xml"/><Relationship Id="rId16" Type="http://schemas.openxmlformats.org/officeDocument/2006/relationships/slideLayout" Target="../slideLayouts/slideLayout1.xml"/><Relationship Id="rId20" Type="http://schemas.openxmlformats.org/officeDocument/2006/relationships/image" Target="../media/image30.png"/><Relationship Id="rId29" Type="http://schemas.openxmlformats.org/officeDocument/2006/relationships/image" Target="../media/image39.png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tags" Target="../tags/tag36.xml"/><Relationship Id="rId24" Type="http://schemas.openxmlformats.org/officeDocument/2006/relationships/image" Target="../media/image34.png"/><Relationship Id="rId5" Type="http://schemas.openxmlformats.org/officeDocument/2006/relationships/tags" Target="../tags/tag30.xml"/><Relationship Id="rId15" Type="http://schemas.openxmlformats.org/officeDocument/2006/relationships/tags" Target="../tags/tag40.xml"/><Relationship Id="rId23" Type="http://schemas.openxmlformats.org/officeDocument/2006/relationships/image" Target="../media/image33.png"/><Relationship Id="rId28" Type="http://schemas.openxmlformats.org/officeDocument/2006/relationships/image" Target="../media/image38.png"/><Relationship Id="rId10" Type="http://schemas.openxmlformats.org/officeDocument/2006/relationships/tags" Target="../tags/tag35.xml"/><Relationship Id="rId19" Type="http://schemas.openxmlformats.org/officeDocument/2006/relationships/image" Target="../media/image29.png"/><Relationship Id="rId31" Type="http://schemas.openxmlformats.org/officeDocument/2006/relationships/image" Target="../media/image41.png"/><Relationship Id="rId4" Type="http://schemas.openxmlformats.org/officeDocument/2006/relationships/tags" Target="../tags/tag29.xml"/><Relationship Id="rId9" Type="http://schemas.openxmlformats.org/officeDocument/2006/relationships/tags" Target="../tags/tag34.xml"/><Relationship Id="rId14" Type="http://schemas.openxmlformats.org/officeDocument/2006/relationships/tags" Target="../tags/tag39.xml"/><Relationship Id="rId22" Type="http://schemas.openxmlformats.org/officeDocument/2006/relationships/image" Target="../media/image32.png"/><Relationship Id="rId27" Type="http://schemas.openxmlformats.org/officeDocument/2006/relationships/image" Target="../media/image37.png"/><Relationship Id="rId30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13" Type="http://schemas.openxmlformats.org/officeDocument/2006/relationships/tags" Target="../tags/tag53.xml"/><Relationship Id="rId18" Type="http://schemas.openxmlformats.org/officeDocument/2006/relationships/image" Target="../media/image44.png"/><Relationship Id="rId26" Type="http://schemas.openxmlformats.org/officeDocument/2006/relationships/image" Target="../media/image52.png"/><Relationship Id="rId3" Type="http://schemas.openxmlformats.org/officeDocument/2006/relationships/tags" Target="../tags/tag43.xml"/><Relationship Id="rId21" Type="http://schemas.openxmlformats.org/officeDocument/2006/relationships/image" Target="../media/image47.png"/><Relationship Id="rId7" Type="http://schemas.openxmlformats.org/officeDocument/2006/relationships/tags" Target="../tags/tag47.xml"/><Relationship Id="rId12" Type="http://schemas.openxmlformats.org/officeDocument/2006/relationships/tags" Target="../tags/tag52.xml"/><Relationship Id="rId17" Type="http://schemas.openxmlformats.org/officeDocument/2006/relationships/image" Target="../media/image43.png"/><Relationship Id="rId25" Type="http://schemas.openxmlformats.org/officeDocument/2006/relationships/image" Target="../media/image51.png"/><Relationship Id="rId2" Type="http://schemas.openxmlformats.org/officeDocument/2006/relationships/tags" Target="../tags/tag42.xml"/><Relationship Id="rId16" Type="http://schemas.openxmlformats.org/officeDocument/2006/relationships/image" Target="../media/image42.png"/><Relationship Id="rId20" Type="http://schemas.openxmlformats.org/officeDocument/2006/relationships/image" Target="../media/image46.png"/><Relationship Id="rId29" Type="http://schemas.openxmlformats.org/officeDocument/2006/relationships/image" Target="../media/image55.png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tags" Target="../tags/tag51.xml"/><Relationship Id="rId24" Type="http://schemas.openxmlformats.org/officeDocument/2006/relationships/image" Target="../media/image50.png"/><Relationship Id="rId5" Type="http://schemas.openxmlformats.org/officeDocument/2006/relationships/tags" Target="../tags/tag45.xml"/><Relationship Id="rId15" Type="http://schemas.openxmlformats.org/officeDocument/2006/relationships/slideLayout" Target="../slideLayouts/slideLayout1.xml"/><Relationship Id="rId23" Type="http://schemas.openxmlformats.org/officeDocument/2006/relationships/image" Target="../media/image49.png"/><Relationship Id="rId28" Type="http://schemas.openxmlformats.org/officeDocument/2006/relationships/image" Target="../media/image54.png"/><Relationship Id="rId10" Type="http://schemas.openxmlformats.org/officeDocument/2006/relationships/tags" Target="../tags/tag50.xml"/><Relationship Id="rId19" Type="http://schemas.openxmlformats.org/officeDocument/2006/relationships/image" Target="../media/image45.png"/><Relationship Id="rId4" Type="http://schemas.openxmlformats.org/officeDocument/2006/relationships/tags" Target="../tags/tag44.xml"/><Relationship Id="rId9" Type="http://schemas.openxmlformats.org/officeDocument/2006/relationships/tags" Target="../tags/tag49.xml"/><Relationship Id="rId14" Type="http://schemas.openxmlformats.org/officeDocument/2006/relationships/tags" Target="../tags/tag54.xml"/><Relationship Id="rId22" Type="http://schemas.openxmlformats.org/officeDocument/2006/relationships/image" Target="../media/image48.png"/><Relationship Id="rId27" Type="http://schemas.openxmlformats.org/officeDocument/2006/relationships/image" Target="../media/image5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3" Type="http://schemas.openxmlformats.org/officeDocument/2006/relationships/tags" Target="../tags/tag57.xml"/><Relationship Id="rId7" Type="http://schemas.openxmlformats.org/officeDocument/2006/relationships/slideLayout" Target="../slideLayouts/slideLayout1.xml"/><Relationship Id="rId12" Type="http://schemas.openxmlformats.org/officeDocument/2006/relationships/image" Target="../media/image60.png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11" Type="http://schemas.openxmlformats.org/officeDocument/2006/relationships/image" Target="../media/image59.png"/><Relationship Id="rId5" Type="http://schemas.openxmlformats.org/officeDocument/2006/relationships/tags" Target="../tags/tag59.xml"/><Relationship Id="rId10" Type="http://schemas.openxmlformats.org/officeDocument/2006/relationships/image" Target="../media/image58.png"/><Relationship Id="rId4" Type="http://schemas.openxmlformats.org/officeDocument/2006/relationships/tags" Target="../tags/tag58.xml"/><Relationship Id="rId9" Type="http://schemas.openxmlformats.org/officeDocument/2006/relationships/image" Target="../media/image5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tags" Target="../tags/tag63.xml"/><Relationship Id="rId7" Type="http://schemas.openxmlformats.org/officeDocument/2006/relationships/image" Target="../media/image62.png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slideLayout" Target="../slideLayouts/slideLayout1.xml"/><Relationship Id="rId11" Type="http://schemas.openxmlformats.org/officeDocument/2006/relationships/image" Target="../media/image66.png"/><Relationship Id="rId5" Type="http://schemas.openxmlformats.org/officeDocument/2006/relationships/tags" Target="../tags/tag65.xml"/><Relationship Id="rId10" Type="http://schemas.openxmlformats.org/officeDocument/2006/relationships/image" Target="../media/image65.png"/><Relationship Id="rId4" Type="http://schemas.openxmlformats.org/officeDocument/2006/relationships/tags" Target="../tags/tag64.xml"/><Relationship Id="rId9" Type="http://schemas.openxmlformats.org/officeDocument/2006/relationships/image" Target="../media/image6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3A6EDC-7616-4B40-BBB1-D8C43C0291D1}"/>
              </a:ext>
            </a:extLst>
          </p:cNvPr>
          <p:cNvSpPr txBox="1"/>
          <p:nvPr/>
        </p:nvSpPr>
        <p:spPr>
          <a:xfrm>
            <a:off x="167431" y="129533"/>
            <a:ext cx="7943036" cy="445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97" b="1" dirty="0">
                <a:latin typeface="Georgia" panose="02040502050405020303" pitchFamily="18" charset="0"/>
              </a:rPr>
              <a:t>Computation Flowchart – Transformed Dynamics</a:t>
            </a:r>
            <a:endParaRPr lang="zh-CN" altLang="en-US" sz="2297" b="1" dirty="0">
              <a:latin typeface="Georgia" panose="02040502050405020303" pitchFamily="18" charset="0"/>
            </a:endParaRPr>
          </a:p>
        </p:txBody>
      </p:sp>
      <p:pic>
        <p:nvPicPr>
          <p:cNvPr id="6" name="Picture 5" descr="\documentclass{article}&#10;\usepackage{amsmath}&#10;\pagestyle{empty}&#10;\begin{document}&#10;&#10;$&#10;\boldsymbol{X}&#10;=&#10;\left(&#10;\boldsymbol{r}_0,&#10;\boldsymbol{R}_0,&#10;\boldsymbol{q}&#10;\right)&#10;$&#10;&#10;&#10;\end{document}" title="IguanaTex Bitmap Display">
            <a:extLst>
              <a:ext uri="{FF2B5EF4-FFF2-40B4-BE49-F238E27FC236}">
                <a16:creationId xmlns:a16="http://schemas.microsoft.com/office/drawing/2014/main" id="{12163F03-686B-479C-B03F-F3B760480C0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391" y="1752402"/>
            <a:ext cx="1657185" cy="247407"/>
          </a:xfrm>
          <a:prstGeom prst="rect">
            <a:avLst/>
          </a:prstGeom>
        </p:spPr>
      </p:pic>
      <p:pic>
        <p:nvPicPr>
          <p:cNvPr id="7" name="Picture 6" descr="\documentclass{article}&#10;\usepackage{amsmath}&#10;\pagestyle{empty}&#10;\begin{document}&#10;&#10;$&#10;\boldsymbol{V}&#10;= \begin{bmatrix}&#10;{\boldsymbol{v}_0}^T &amp;&#10;{\boldsymbol{\omega}_0}^T &amp;&#10;{\dot{\boldsymbol{q}}}^T&#10;\end{bmatrix}^T&#10;$&#10;&#10;&#10;\end{document}" title="IguanaTex Bitmap Display">
            <a:extLst>
              <a:ext uri="{FF2B5EF4-FFF2-40B4-BE49-F238E27FC236}">
                <a16:creationId xmlns:a16="http://schemas.microsoft.com/office/drawing/2014/main" id="{E42B104D-0B89-44D8-B68F-7B216B062C0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448" y="1627790"/>
            <a:ext cx="2510666" cy="3601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65871D-757E-48B4-BC72-6B3963A05420}"/>
              </a:ext>
            </a:extLst>
          </p:cNvPr>
          <p:cNvSpPr txBox="1"/>
          <p:nvPr/>
        </p:nvSpPr>
        <p:spPr>
          <a:xfrm>
            <a:off x="249411" y="1070636"/>
            <a:ext cx="2985712" cy="445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97" b="1" dirty="0">
                <a:latin typeface="Georgia" panose="02040502050405020303" pitchFamily="18" charset="0"/>
              </a:rPr>
              <a:t>System state</a:t>
            </a:r>
            <a:endParaRPr lang="zh-CN" altLang="en-US" sz="2297" b="1" dirty="0">
              <a:latin typeface="Georgia" panose="020405020504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F80A49-53CF-4DD5-8BBC-6727AE0FE291}"/>
              </a:ext>
            </a:extLst>
          </p:cNvPr>
          <p:cNvSpPr txBox="1"/>
          <p:nvPr/>
        </p:nvSpPr>
        <p:spPr>
          <a:xfrm>
            <a:off x="5573639" y="1113571"/>
            <a:ext cx="5922963" cy="445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97" b="1" dirty="0">
                <a:latin typeface="Georgia" panose="02040502050405020303" pitchFamily="18" charset="0"/>
              </a:rPr>
              <a:t>Inertia and geometry</a:t>
            </a:r>
            <a:endParaRPr lang="zh-CN" altLang="en-US" sz="2297" b="1" dirty="0">
              <a:latin typeface="Georgia" panose="02040502050405020303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6A5B2E2-CE04-4F11-AA44-AE255EC9B301}"/>
              </a:ext>
            </a:extLst>
          </p:cNvPr>
          <p:cNvGrpSpPr/>
          <p:nvPr/>
        </p:nvGrpSpPr>
        <p:grpSpPr>
          <a:xfrm>
            <a:off x="355391" y="2500161"/>
            <a:ext cx="11356549" cy="1600867"/>
            <a:chOff x="4798976" y="5352489"/>
            <a:chExt cx="11783433" cy="166104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77E0013-0C74-4F08-97DE-2D686889A8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21951" b="66513"/>
            <a:stretch/>
          </p:blipFill>
          <p:spPr>
            <a:xfrm>
              <a:off x="4798976" y="5352489"/>
              <a:ext cx="11783433" cy="285019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1367618-1190-494A-8681-6824FFA9CB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44068" b="-1"/>
            <a:stretch/>
          </p:blipFill>
          <p:spPr>
            <a:xfrm>
              <a:off x="4798976" y="5631609"/>
              <a:ext cx="11783433" cy="1381921"/>
            </a:xfrm>
            <a:prstGeom prst="rect">
              <a:avLst/>
            </a:prstGeom>
          </p:spPr>
        </p:pic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EF62D9F-AA4B-47D1-A0B9-5D080E0635A8}"/>
              </a:ext>
            </a:extLst>
          </p:cNvPr>
          <p:cNvCxnSpPr>
            <a:cxnSpLocks/>
          </p:cNvCxnSpPr>
          <p:nvPr/>
        </p:nvCxnSpPr>
        <p:spPr>
          <a:xfrm>
            <a:off x="0" y="674421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2782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3A6EDC-7616-4B40-BBB1-D8C43C0291D1}"/>
              </a:ext>
            </a:extLst>
          </p:cNvPr>
          <p:cNvSpPr txBox="1"/>
          <p:nvPr/>
        </p:nvSpPr>
        <p:spPr>
          <a:xfrm>
            <a:off x="167431" y="129533"/>
            <a:ext cx="7943036" cy="445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97" b="1" dirty="0">
                <a:latin typeface="Georgia" panose="02040502050405020303" pitchFamily="18" charset="0"/>
              </a:rPr>
              <a:t>Computation Flowchart – Transformed Dynamics</a:t>
            </a:r>
            <a:endParaRPr lang="zh-CN" altLang="en-US" sz="2297" b="1" dirty="0">
              <a:latin typeface="Georgia" panose="02040502050405020303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A251A85-6BAD-4399-9CCE-974C4B84613B}"/>
              </a:ext>
            </a:extLst>
          </p:cNvPr>
          <p:cNvCxnSpPr>
            <a:cxnSpLocks/>
          </p:cNvCxnSpPr>
          <p:nvPr/>
        </p:nvCxnSpPr>
        <p:spPr>
          <a:xfrm>
            <a:off x="0" y="674421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\documentclass{article}&#10;\usepackage{amsmath}&#10;\pagestyle{empty}&#10;\begin{document}&#10;&#10;$&#10;\boldsymbol{R}_{i}^{0}(\boldsymbol{q})&#10;= \begin{cases}&#10;\boldsymbol{I}_{3}, &#10;&amp; i = 0. \\&#10;\displaystyle \prod_{j=1}^{i} \boldsymbol{R}_{j}^{j-1}(q_j) = \boldsymbol{R}_{1}^{0}(q_1) \boldsymbol{R}_{2}^{1}(q_2) \cdots \boldsymbol{R}_{i}^{i-1}(q_{i}),&#10;&amp; i = 1,\ldots,n.&#10;\end{cases}&#10;$&#10;&#10;&#10;\end{document}" title="IguanaTex Bitmap Display">
            <a:extLst>
              <a:ext uri="{FF2B5EF4-FFF2-40B4-BE49-F238E27FC236}">
                <a16:creationId xmlns:a16="http://schemas.microsoft.com/office/drawing/2014/main" id="{BE43BA59-519D-45CF-9445-C911DAFDE98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905" y="1663145"/>
            <a:ext cx="7167472" cy="1171154"/>
          </a:xfrm>
          <a:prstGeom prst="rect">
            <a:avLst/>
          </a:prstGeom>
        </p:spPr>
      </p:pic>
      <p:pic>
        <p:nvPicPr>
          <p:cNvPr id="14" name="Picture 13" descr="\documentclass{article}&#10;\usepackage{amsmath}&#10;\pagestyle{empty}&#10;\begin{document}&#10;&#10;$&#10;\boldsymbol{h}_i^0(\boldsymbol{q}) &#10;= \begin{cases}&#10;\boldsymbol{0}_{3},&#10;&amp; i=0.&#10;\\&#10;\boldsymbol{R}_{i-1}^0(\boldsymbol{q}) \boldsymbol{h}_i^{i-1},&#10;&amp; i=1,\ldots,n.&#10;\end{cases}&#10;$&#10;&#10;&#10;\end{document}" title="IguanaTex Bitmap Display">
            <a:extLst>
              <a:ext uri="{FF2B5EF4-FFF2-40B4-BE49-F238E27FC236}">
                <a16:creationId xmlns:a16="http://schemas.microsoft.com/office/drawing/2014/main" id="{0EBE675E-C25D-42CE-A40B-185E946E401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80" y="3959333"/>
            <a:ext cx="4050736" cy="7334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37847E8-A916-4068-96DF-C63E68F49C63}"/>
              </a:ext>
            </a:extLst>
          </p:cNvPr>
          <p:cNvSpPr txBox="1"/>
          <p:nvPr/>
        </p:nvSpPr>
        <p:spPr>
          <a:xfrm>
            <a:off x="123468" y="945869"/>
            <a:ext cx="4419760" cy="445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97" b="1" dirty="0">
                <a:latin typeface="Georgia" panose="02040502050405020303" pitchFamily="18" charset="0"/>
              </a:rPr>
              <a:t>Kinematics – Translation</a:t>
            </a:r>
            <a:endParaRPr lang="zh-CN" altLang="en-US" sz="2297" b="1" dirty="0">
              <a:latin typeface="Georgia" panose="02040502050405020303" pitchFamily="18" charset="0"/>
            </a:endParaRPr>
          </a:p>
        </p:txBody>
      </p:sp>
      <p:pic>
        <p:nvPicPr>
          <p:cNvPr id="16" name="Picture 15" descr="\documentclass{article}&#10;\usepackage{amsmath}&#10;\usepackage{color}&#10;\pagestyle{empty}&#10;\begin{document}&#10;&#10;$&#10;\color{blue}&#10;\boldsymbol{I}_{i}^{0}&#10;= \boldsymbol{R}_{i}^{0} \boldsymbol{I}_{i}^{i} \boldsymbol{R}_{0}^{i}&#10;$&#10;&#10;&#10;\end{document}" title="IguanaTex Bitmap Display">
            <a:extLst>
              <a:ext uri="{FF2B5EF4-FFF2-40B4-BE49-F238E27FC236}">
                <a16:creationId xmlns:a16="http://schemas.microsoft.com/office/drawing/2014/main" id="{938635F5-790B-4831-A59B-38963C39A65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0975" y="3094209"/>
            <a:ext cx="1418561" cy="288397"/>
          </a:xfrm>
          <a:prstGeom prst="rect">
            <a:avLst/>
          </a:prstGeom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2A520944-0E83-4D05-9BEC-14645D958C2D}"/>
              </a:ext>
            </a:extLst>
          </p:cNvPr>
          <p:cNvSpPr/>
          <p:nvPr/>
        </p:nvSpPr>
        <p:spPr>
          <a:xfrm>
            <a:off x="8708367" y="2701315"/>
            <a:ext cx="400310" cy="1009009"/>
          </a:xfrm>
          <a:prstGeom prst="rightArrow">
            <a:avLst>
              <a:gd name="adj1" fmla="val 50000"/>
              <a:gd name="adj2" fmla="val 6821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66"/>
          </a:p>
        </p:txBody>
      </p:sp>
      <p:pic>
        <p:nvPicPr>
          <p:cNvPr id="18" name="Picture 17" descr="\documentclass{article}&#10;\usepackage{amsmath}&#10;\pagestyle{empty}&#10;\begin{document}&#10;&#10;$&#10;\displaystyle&#10;\boldsymbol{R}^{0}_{e}(\boldsymbol{q})&#10;= \prod_{j=1}^{n} \boldsymbol{R}^{j-1}_{j}(q_j)&#10;= \boldsymbol{R}^{0}_{1}(q_1) \boldsymbol{R}^{1}_{2}(q_2) \cdots \boldsymbol{R}^{n-1}_{n}(q_n),&#10;\quad &#10;\left( \boldsymbol{R}^{0}_{e}(\boldsymbol{q}) = \boldsymbol{R}^{0}_{n}(\boldsymbol{q}) \right).&#10;$&#10;&#10;&#10;\end{document}" title="IguanaTex Bitmap Display">
            <a:extLst>
              <a:ext uri="{FF2B5EF4-FFF2-40B4-BE49-F238E27FC236}">
                <a16:creationId xmlns:a16="http://schemas.microsoft.com/office/drawing/2014/main" id="{70919402-FF5F-4831-B8E9-5F48812DBEE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905" y="3036517"/>
            <a:ext cx="7794045" cy="705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218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3A6EDC-7616-4B40-BBB1-D8C43C0291D1}"/>
              </a:ext>
            </a:extLst>
          </p:cNvPr>
          <p:cNvSpPr txBox="1"/>
          <p:nvPr/>
        </p:nvSpPr>
        <p:spPr>
          <a:xfrm>
            <a:off x="167431" y="129533"/>
            <a:ext cx="7943036" cy="445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97" b="1" dirty="0">
                <a:latin typeface="Georgia" panose="02040502050405020303" pitchFamily="18" charset="0"/>
              </a:rPr>
              <a:t>Computation Flowchart – Transformed Dynamics</a:t>
            </a:r>
            <a:endParaRPr lang="zh-CN" altLang="en-US" sz="2297" b="1" dirty="0">
              <a:latin typeface="Georgia" panose="02040502050405020303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A251A85-6BAD-4399-9CCE-974C4B84613B}"/>
              </a:ext>
            </a:extLst>
          </p:cNvPr>
          <p:cNvCxnSpPr>
            <a:cxnSpLocks/>
          </p:cNvCxnSpPr>
          <p:nvPr/>
        </p:nvCxnSpPr>
        <p:spPr>
          <a:xfrm>
            <a:off x="0" y="674421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182585EF-B307-4894-AA4A-AE30A3615C5B}"/>
              </a:ext>
            </a:extLst>
          </p:cNvPr>
          <p:cNvGrpSpPr/>
          <p:nvPr/>
        </p:nvGrpSpPr>
        <p:grpSpPr>
          <a:xfrm>
            <a:off x="167431" y="1159990"/>
            <a:ext cx="11734800" cy="3239634"/>
            <a:chOff x="0" y="1480029"/>
            <a:chExt cx="14037564" cy="3875359"/>
          </a:xfrm>
        </p:grpSpPr>
        <p:pic>
          <p:nvPicPr>
            <p:cNvPr id="6" name="Picture 5" descr="\documentclass{article}&#10;\usepackage{amsmath}&#10;\usepackage{color}&#10;\pagestyle{empty}&#10;\begin{document}&#10;&#10;$&#10;\displaystyle&#10;\boldsymbol{r}_{0c}^{0}(\boldsymbol{q})&#10;= \frac{1}{m} \sum_{i=1}^{n} m_i \boldsymbol{r}_{0i}^{0}(\boldsymbol{q})&#10;$&#10;&#10;&#10;\end{document}" title="IguanaTex Bitmap Display">
              <a:extLst>
                <a:ext uri="{FF2B5EF4-FFF2-40B4-BE49-F238E27FC236}">
                  <a16:creationId xmlns:a16="http://schemas.microsoft.com/office/drawing/2014/main" id="{F4461526-C380-45D2-A147-B3E09802B1E2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274" y="4554263"/>
              <a:ext cx="2601429" cy="671952"/>
            </a:xfrm>
            <a:prstGeom prst="rect">
              <a:avLst/>
            </a:prstGeom>
          </p:spPr>
        </p:pic>
        <p:pic>
          <p:nvPicPr>
            <p:cNvPr id="7" name="Picture 6" descr="\documentclass{article}&#10;\usepackage{amsmath}&#10;\usepackage{color}&#10;\pagestyle{empty}&#10;\begin{document}&#10;&#10;$&#10;\color{blue}&#10;\displaystyle&#10;\boldsymbol{A}&#10;:= \dfrac{\partial \boldsymbol{r}_{0c}^{0}}{\partial \boldsymbol{q}}&#10;= \dfrac{1}{m}\sum_{i=0}^{n}m_i\boldsymbol{A}_i&#10;$&#10;&#10;&#10;\end{document}" title="IguanaTex Bitmap Display">
              <a:extLst>
                <a:ext uri="{FF2B5EF4-FFF2-40B4-BE49-F238E27FC236}">
                  <a16:creationId xmlns:a16="http://schemas.microsoft.com/office/drawing/2014/main" id="{8369062B-5530-4D1A-B0DA-8ABB0D315722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05014" y="3448142"/>
              <a:ext cx="2722939" cy="673415"/>
            </a:xfrm>
            <a:prstGeom prst="rect">
              <a:avLst/>
            </a:prstGeom>
          </p:spPr>
        </p:pic>
        <p:pic>
          <p:nvPicPr>
            <p:cNvPr id="8" name="Picture 7" descr="\documentclass{article}&#10;\usepackage{amsmath}&#10;\usepackage{color}&#10;\pagestyle{empty}&#10;\begin{document}&#10;&#10;$&#10;\color{blue}&#10;\boldsymbol{d}_i^{0}&#10;= \boldsymbol{r}_{0i}^{0}&#10;- \boldsymbol{r}_{0c}^{0}&#10;$&#10;&#10;&#10;\end{document}" title="IguanaTex Bitmap Display">
              <a:extLst>
                <a:ext uri="{FF2B5EF4-FFF2-40B4-BE49-F238E27FC236}">
                  <a16:creationId xmlns:a16="http://schemas.microsoft.com/office/drawing/2014/main" id="{945CDE15-05A8-4D9A-8BD7-69D6776AE420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05014" y="5035512"/>
              <a:ext cx="1503469" cy="292788"/>
            </a:xfrm>
            <a:prstGeom prst="rect">
              <a:avLst/>
            </a:prstGeom>
          </p:spPr>
        </p:pic>
        <p:pic>
          <p:nvPicPr>
            <p:cNvPr id="9" name="Picture 8" descr="\documentclass{article}&#10;\usepackage{amsmath}&#10;\usepackage{color}&#10;\pagestyle{empty}&#10;\begin{document}&#10;&#10;$&#10;\color{blue}&#10;\tilde{\boldsymbol{A}}_i&#10;= \boldsymbol{A}_i-\boldsymbol{A}&#10;$&#10;&#10;&#10;\end{document}" title="IguanaTex Bitmap Display">
              <a:extLst>
                <a:ext uri="{FF2B5EF4-FFF2-40B4-BE49-F238E27FC236}">
                  <a16:creationId xmlns:a16="http://schemas.microsoft.com/office/drawing/2014/main" id="{EB0143FD-A5CE-4285-A8F7-2D7B579382C8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19071" y="4368278"/>
              <a:ext cx="1402459" cy="267902"/>
            </a:xfrm>
            <a:prstGeom prst="rect">
              <a:avLst/>
            </a:prstGeom>
          </p:spPr>
        </p:pic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486EBC08-53C6-421F-8922-0683C072A648}"/>
                </a:ext>
              </a:extLst>
            </p:cNvPr>
            <p:cNvSpPr/>
            <p:nvPr/>
          </p:nvSpPr>
          <p:spPr>
            <a:xfrm>
              <a:off x="5564303" y="2864509"/>
              <a:ext cx="400310" cy="1009009"/>
            </a:xfrm>
            <a:prstGeom prst="rightArrow">
              <a:avLst>
                <a:gd name="adj1" fmla="val 50000"/>
                <a:gd name="adj2" fmla="val 6821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66"/>
            </a:p>
          </p:txBody>
        </p:sp>
        <p:pic>
          <p:nvPicPr>
            <p:cNvPr id="11" name="Picture 10" descr="\documentclass{article}&#10;\usepackage{amsmath}&#10;\usepackage{color}&#10;\pagestyle{empty}&#10;\begin{document}&#10;&#10;$&#10;\displaystyle&#10;\boldsymbol{r}^{0}_{0e}(\boldsymbol{q})&#10;= \sum_{j=1}^{n} \boldsymbol{R}^{0}_{j}(\boldsymbol{q}) \boldsymbol{l}_j&#10;$&#10;&#10;&#10;\end{document}" title="IguanaTex Bitmap Display">
              <a:extLst>
                <a:ext uri="{FF2B5EF4-FFF2-40B4-BE49-F238E27FC236}">
                  <a16:creationId xmlns:a16="http://schemas.microsoft.com/office/drawing/2014/main" id="{DD845FD4-9856-4BAC-8DF5-604E66E75D50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522" y="2510358"/>
              <a:ext cx="2192988" cy="705623"/>
            </a:xfrm>
            <a:prstGeom prst="rect">
              <a:avLst/>
            </a:prstGeom>
          </p:spPr>
        </p:pic>
        <p:pic>
          <p:nvPicPr>
            <p:cNvPr id="12" name="Picture 11" descr="\documentclass{article}&#10;\usepackage{amsmath}&#10;\usepackage{color}&#10;\pagestyle{empty}&#10;\begin{document}&#10;&#10;$&#10;\color{blue}&#10;\boldsymbol{A}_e&#10;:= \dfrac{\partial \boldsymbol{r}_{0e}^{0}}{\partial \boldsymbol{q}}, \quad&#10;[\boldsymbol{A}_e]_{:,k} =&#10;\boldsymbol{h}_k^0 \times \left(\boldsymbol{r}_{0e}^0 - \boldsymbol{r}_{0,O_{k-1}}^0\right), \quad k = 1,\dots,n.&#10;$&#10;&#10;&#10;\end{document}" title="IguanaTex Bitmap Display">
              <a:extLst>
                <a:ext uri="{FF2B5EF4-FFF2-40B4-BE49-F238E27FC236}">
                  <a16:creationId xmlns:a16="http://schemas.microsoft.com/office/drawing/2014/main" id="{98D7634E-2629-4B1C-B259-B2BD039C9E03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12032" y="2526889"/>
              <a:ext cx="6577507" cy="584114"/>
            </a:xfrm>
            <a:prstGeom prst="rect">
              <a:avLst/>
            </a:prstGeom>
          </p:spPr>
        </p:pic>
        <p:pic>
          <p:nvPicPr>
            <p:cNvPr id="13" name="Picture 12" descr="\documentclass{article}&#10;\usepackage{amsmath}&#10;\usepackage{color}&#10;\pagestyle{empty}&#10;\begin{document}&#10;&#10;$&#10;\color{blue}&#10;\tilde{\boldsymbol{A}}_e &#10;= \boldsymbol{A}_e - \boldsymbol{A}&#10;$&#10;&#10;&#10;\end{document}" title="IguanaTex Bitmap Display">
              <a:extLst>
                <a:ext uri="{FF2B5EF4-FFF2-40B4-BE49-F238E27FC236}">
                  <a16:creationId xmlns:a16="http://schemas.microsoft.com/office/drawing/2014/main" id="{7949ED1E-DFFE-425B-8BD6-72AFD7C7A758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04564" y="4414866"/>
              <a:ext cx="1449306" cy="267902"/>
            </a:xfrm>
            <a:prstGeom prst="rect">
              <a:avLst/>
            </a:prstGeom>
          </p:spPr>
        </p:pic>
        <p:pic>
          <p:nvPicPr>
            <p:cNvPr id="14" name="Picture 13" descr="\documentclass{article}&#10;\usepackage{amsmath}&#10;\usepackage{color}&#10;\pagestyle{empty}&#10;\begin{document}&#10;&#10;$&#10;\color{blue}&#10;\boldsymbol{d}^0_e &#10;= \boldsymbol{r}^0_{0e} - \boldsymbol{r}^0_{0c}&#10;$&#10;&#10;&#10;\end{document}" title="IguanaTex Bitmap Display">
              <a:extLst>
                <a:ext uri="{FF2B5EF4-FFF2-40B4-BE49-F238E27FC236}">
                  <a16:creationId xmlns:a16="http://schemas.microsoft.com/office/drawing/2014/main" id="{27BB6394-D182-4AE5-9D8F-A18C1C3059D0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7165" y="5065527"/>
              <a:ext cx="1526894" cy="289861"/>
            </a:xfrm>
            <a:prstGeom prst="rect">
              <a:avLst/>
            </a:prstGeom>
          </p:spPr>
        </p:pic>
        <p:pic>
          <p:nvPicPr>
            <p:cNvPr id="15" name="Picture 14" descr="\documentclass{article}&#10;\usepackage{amsmath}&#10;\usepackage{color}&#10;\pagestyle{empty}&#10;\begin{document}&#10;&#10;$&#10;\displaystyle&#10;\boldsymbol{r}_{0,O_{i}}^0(\boldsymbol{q}) &#10;= \sum_{j=1}^{i} \boldsymbol{R}_j^0 \boldsymbol{l}_j, &#10;\quad&#10;i=0,1,\ldots,n.&#10;$&#10;&#10;&#10;\end{document}" title="IguanaTex Bitmap Display">
              <a:extLst>
                <a:ext uri="{FF2B5EF4-FFF2-40B4-BE49-F238E27FC236}">
                  <a16:creationId xmlns:a16="http://schemas.microsoft.com/office/drawing/2014/main" id="{53D4276C-70FD-4EFC-803A-781DDE28C282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586268"/>
              <a:ext cx="3924834" cy="743684"/>
            </a:xfrm>
            <a:prstGeom prst="rect">
              <a:avLst/>
            </a:prstGeom>
          </p:spPr>
        </p:pic>
        <p:pic>
          <p:nvPicPr>
            <p:cNvPr id="16" name="Picture 15" descr="\documentclass{article}&#10;\usepackage{amsmath}&#10;\usepackage{color}&#10;\pagestyle{empty}&#10;\begin{document}&#10;&#10;$&#10;\color{blue}&#10;\boldsymbol{A}_i&#10;:= \dfrac{\partial \boldsymbol{r}_{0i}^{0}}{\partial \boldsymbol{q}}, \quad&#10;[\boldsymbol{A}_i]_{:,k} =&#10;\begin{cases}&#10;\boldsymbol{h}_k^0 \times \left(\boldsymbol{r}_{0i}^0 - \boldsymbol{r}_{0,O_{k-1}}^0\right), &amp; k \leq i, \\&#10;\boldsymbol{0}, &amp; k &gt; i,&#10;\end{cases}&#10;\quad i=0,\ldots,n.&#10;$&#10;&#10;&#10;\end{document}" title="IguanaTex Bitmap Display">
              <a:extLst>
                <a:ext uri="{FF2B5EF4-FFF2-40B4-BE49-F238E27FC236}">
                  <a16:creationId xmlns:a16="http://schemas.microsoft.com/office/drawing/2014/main" id="{D8F027A7-E8EE-469D-87DC-3CDBCE6C6042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26064" y="1480029"/>
              <a:ext cx="7511500" cy="762716"/>
            </a:xfrm>
            <a:prstGeom prst="rect">
              <a:avLst/>
            </a:prstGeom>
          </p:spPr>
        </p:pic>
        <p:pic>
          <p:nvPicPr>
            <p:cNvPr id="17" name="Picture 16" descr="\documentclass{article}&#10;\usepackage{amsmath}&#10;\pagestyle{empty}&#10;\begin{document}&#10;&#10;$&#10;\boldsymbol{r}_{0i}^0(\boldsymbol{q}) =&#10;\begin{cases}&#10;\boldsymbol{0}_3, &amp; i = 0, \\&#10;\boldsymbol{r}_{0,O_{i-1}}^0(\boldsymbol{q}) + \boldsymbol{R}_i^0(\boldsymbol{q})\dfrac{\boldsymbol{l}_i}{2}, &amp; i = 1,\dots,n.&#10;\end{cases}&#10;$&#10;&#10;&#10;\end{document}" title="IguanaTex Bitmap Display">
              <a:extLst>
                <a:ext uri="{FF2B5EF4-FFF2-40B4-BE49-F238E27FC236}">
                  <a16:creationId xmlns:a16="http://schemas.microsoft.com/office/drawing/2014/main" id="{8870BD45-6B76-4A81-90D5-B08446A9B7BF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630" y="3401282"/>
              <a:ext cx="5000837" cy="8798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10705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3A6EDC-7616-4B40-BBB1-D8C43C0291D1}"/>
              </a:ext>
            </a:extLst>
          </p:cNvPr>
          <p:cNvSpPr txBox="1"/>
          <p:nvPr/>
        </p:nvSpPr>
        <p:spPr>
          <a:xfrm>
            <a:off x="167431" y="129533"/>
            <a:ext cx="7943036" cy="445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97" b="1" dirty="0">
                <a:latin typeface="Georgia" panose="02040502050405020303" pitchFamily="18" charset="0"/>
              </a:rPr>
              <a:t>Computation Flowchart – Transformed Dynamics</a:t>
            </a:r>
            <a:endParaRPr lang="zh-CN" altLang="en-US" sz="2297" b="1" dirty="0">
              <a:latin typeface="Georgia" panose="02040502050405020303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A251A85-6BAD-4399-9CCE-974C4B84613B}"/>
              </a:ext>
            </a:extLst>
          </p:cNvPr>
          <p:cNvCxnSpPr>
            <a:cxnSpLocks/>
          </p:cNvCxnSpPr>
          <p:nvPr/>
        </p:nvCxnSpPr>
        <p:spPr>
          <a:xfrm>
            <a:off x="0" y="674421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\documentclass{article}&#10;\usepackage{amsmath}&#10;\pagestyle{empty}&#10;\begin{document}&#10;&#10;$&#10;\dot{\boldsymbol{r}}_{0i}^{0}(\boldsymbol{q})&#10;= \boldsymbol{A}_i \dot{\boldsymbol{q}} &#10;$&#10;&#10;&#10;\end{document}" title="IguanaTex Bitmap Display">
            <a:extLst>
              <a:ext uri="{FF2B5EF4-FFF2-40B4-BE49-F238E27FC236}">
                <a16:creationId xmlns:a16="http://schemas.microsoft.com/office/drawing/2014/main" id="{B2AD057D-9440-42CD-81C9-1D09921B642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0256" y="1658825"/>
            <a:ext cx="1389283" cy="286935"/>
          </a:xfrm>
          <a:prstGeom prst="rect">
            <a:avLst/>
          </a:prstGeom>
        </p:spPr>
      </p:pic>
      <p:pic>
        <p:nvPicPr>
          <p:cNvPr id="7" name="Picture 6" descr="\documentclass{article}&#10;\usepackage{amsmath}&#10;\pagestyle{empty}&#10;\begin{document}&#10;&#10;$&#10;\dot{\boldsymbol{J}}_{\omega_i}^{q}(\boldsymbol{q})&#10;= \begin{cases}&#10;\boldsymbol{0}_{3 \times n},&#10;&amp; i=0.&#10;\\&#10;\begin{bmatrix}&#10;\dot{\boldsymbol{h}}_{1}^{0}&#10;&amp; \dot{\boldsymbol{h}}_{2}^{0}&#10;&amp; \cdots&#10;&amp; \dot{\boldsymbol{h}}_{i}^{0}&#10;&amp; \boldsymbol{0}_3&#10;&amp; \cdots&#10;&amp; \boldsymbol{0}_3&#10;\end{bmatrix},&#10;&amp; i=1,\ldots,n.&#10;\end{cases}&#10;$&#10;&#10;&#10;\end{document}" title="IguanaTex Bitmap Display">
            <a:extLst>
              <a:ext uri="{FF2B5EF4-FFF2-40B4-BE49-F238E27FC236}">
                <a16:creationId xmlns:a16="http://schemas.microsoft.com/office/drawing/2014/main" id="{55D981C4-1FA5-403C-9E66-E05A4130E9A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31" y="4724997"/>
            <a:ext cx="6491133" cy="762715"/>
          </a:xfrm>
          <a:prstGeom prst="rect">
            <a:avLst/>
          </a:prstGeom>
        </p:spPr>
      </p:pic>
      <p:pic>
        <p:nvPicPr>
          <p:cNvPr id="8" name="Picture 7" descr="\documentclass{article}&#10;\usepackage{amsmath}&#10;\pagestyle{empty}&#10;\begin{document}&#10;&#10;$&#10;\dot{\boldsymbol{h}}_i^0 &#10;= \begin{cases}&#10;\boldsymbol{0}, &amp; i = 0, \\&#10;\displaystyle\sum_{j=1}^{i-1} \hat{\boldsymbol{h}}_j^0 \boldsymbol{h}_i^0 \dot{q}_j, &amp; i = 1,\dots,n.&#10;\end{cases}&#10;$&#10;&#10;&#10;\end{document}" title="IguanaTex Bitmap Display">
            <a:extLst>
              <a:ext uri="{FF2B5EF4-FFF2-40B4-BE49-F238E27FC236}">
                <a16:creationId xmlns:a16="http://schemas.microsoft.com/office/drawing/2014/main" id="{B5333B0D-C96D-4FE1-8D0A-FEB18F87607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30" y="1539157"/>
            <a:ext cx="3522251" cy="1171159"/>
          </a:xfrm>
          <a:prstGeom prst="rect">
            <a:avLst/>
          </a:prstGeom>
        </p:spPr>
      </p:pic>
      <p:pic>
        <p:nvPicPr>
          <p:cNvPr id="9" name="Picture 8" descr="\documentclass{article}&#10;\usepackage{amsmath}&#10;\pagestyle{empty}&#10;\begin{document}&#10;&#10;$&#10;\boldsymbol{J}_{\omega_i}^q(\boldsymbol{q})&#10;= \begin{cases}&#10;\boldsymbol{0}_{3 \times n},&#10;&amp; i=0.&#10;\\&#10;\begin{bmatrix}&#10;\boldsymbol{h}_1^0(\boldsymbol{q}) &amp;&#10;\boldsymbol{h}_2^0(\boldsymbol{q}) &amp;&#10;\cdots &amp;&#10;\boldsymbol{h}_i^0(\boldsymbol{q}) &amp;&#10;\boldsymbol{0} &amp;&#10;\cdots &amp;&#10;\boldsymbol{0}&#10;\end{bmatrix},&#10;&amp; i=1,\ldots,n.&#10;\end{cases}&#10;$&#10;&#10;&#10;\end{document}" title="IguanaTex Bitmap Display">
            <a:extLst>
              <a:ext uri="{FF2B5EF4-FFF2-40B4-BE49-F238E27FC236}">
                <a16:creationId xmlns:a16="http://schemas.microsoft.com/office/drawing/2014/main" id="{4DC50327-BF97-4F46-9E40-E764812B653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31" y="3015829"/>
            <a:ext cx="7262627" cy="762715"/>
          </a:xfrm>
          <a:prstGeom prst="rect">
            <a:avLst/>
          </a:prstGeom>
        </p:spPr>
      </p:pic>
      <p:pic>
        <p:nvPicPr>
          <p:cNvPr id="10" name="Picture 9" descr="\documentclass{article}&#10;\usepackage{amsmath}&#10;\pagestyle{empty}&#10;\begin{document}&#10;&#10;$&#10;\dot{\boldsymbol{r}}_{0c}^{0}(\boldsymbol{q})&#10;= \boldsymbol{A} \dot{\boldsymbol{q}} &#10;$&#10;&#10;&#10;\end{document}" title="IguanaTex Bitmap Display">
            <a:extLst>
              <a:ext uri="{FF2B5EF4-FFF2-40B4-BE49-F238E27FC236}">
                <a16:creationId xmlns:a16="http://schemas.microsoft.com/office/drawing/2014/main" id="{5EE6924F-37A8-4E75-B95B-8F356F3C7E6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858" y="2200922"/>
            <a:ext cx="1326332" cy="286935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A4F63FA5-19A9-4B30-B8A0-0803765F22C7}"/>
              </a:ext>
            </a:extLst>
          </p:cNvPr>
          <p:cNvSpPr/>
          <p:nvPr/>
        </p:nvSpPr>
        <p:spPr>
          <a:xfrm>
            <a:off x="7118405" y="1907759"/>
            <a:ext cx="400310" cy="1009009"/>
          </a:xfrm>
          <a:prstGeom prst="rightArrow">
            <a:avLst>
              <a:gd name="adj1" fmla="val 50000"/>
              <a:gd name="adj2" fmla="val 6821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66"/>
          </a:p>
        </p:txBody>
      </p:sp>
      <p:pic>
        <p:nvPicPr>
          <p:cNvPr id="12" name="Picture 11" descr="\documentclass{article}&#10;\usepackage{amsmath}&#10;\pagestyle{empty}&#10;\begin{document}&#10;&#10;$&#10;\boldsymbol{J}_{\omega_e}^{q}(\boldsymbol{q})&#10;= \boldsymbol{J}_{\omega_n}^{q}(\boldsymbol{q})&#10;$&#10;&#10;&#10;\end{document}" title="IguanaTex Bitmap Display">
            <a:extLst>
              <a:ext uri="{FF2B5EF4-FFF2-40B4-BE49-F238E27FC236}">
                <a16:creationId xmlns:a16="http://schemas.microsoft.com/office/drawing/2014/main" id="{EFB218BD-2F5F-4AD0-90B1-8FED393D90A8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31" y="4095037"/>
            <a:ext cx="1788942" cy="272292"/>
          </a:xfrm>
          <a:prstGeom prst="rect">
            <a:avLst/>
          </a:prstGeom>
        </p:spPr>
      </p:pic>
      <p:pic>
        <p:nvPicPr>
          <p:cNvPr id="13" name="Picture 12" descr="\documentclass{article}&#10;\usepackage{amsmath}&#10;\pagestyle{empty}&#10;\begin{document}&#10;&#10;$&#10;\dot{\boldsymbol{J}}_{\omega_e}^{q}(\boldsymbol{q})&#10;= \dot{\boldsymbol{J}}_{\omega_n}^{q}(\boldsymbol{q})&#10;$&#10;&#10;&#10;\end{document}" title="IguanaTex Bitmap Display">
            <a:extLst>
              <a:ext uri="{FF2B5EF4-FFF2-40B4-BE49-F238E27FC236}">
                <a16:creationId xmlns:a16="http://schemas.microsoft.com/office/drawing/2014/main" id="{37C5FED5-69D4-4DE9-AE18-DB3D79357CB5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32" y="5724499"/>
            <a:ext cx="1788941" cy="32938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368D364-8EEC-4157-9172-3EDEF402B311}"/>
              </a:ext>
            </a:extLst>
          </p:cNvPr>
          <p:cNvSpPr txBox="1"/>
          <p:nvPr/>
        </p:nvSpPr>
        <p:spPr>
          <a:xfrm>
            <a:off x="167431" y="909848"/>
            <a:ext cx="4419760" cy="445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97" b="1" dirty="0">
                <a:latin typeface="Georgia" panose="02040502050405020303" pitchFamily="18" charset="0"/>
              </a:rPr>
              <a:t>Kinematics – Rotation</a:t>
            </a:r>
            <a:endParaRPr lang="zh-CN" altLang="en-US" sz="2297" b="1" dirty="0">
              <a:latin typeface="Georgia" panose="02040502050405020303" pitchFamily="18" charset="0"/>
            </a:endParaRPr>
          </a:p>
        </p:txBody>
      </p:sp>
      <p:pic>
        <p:nvPicPr>
          <p:cNvPr id="15" name="Picture 14" descr="\documentclass{article}&#10;\usepackage{amsmath}&#10;\pagestyle{empty}&#10;\begin{document}&#10;&#10;$&#10;\dot{\boldsymbol{r}}_{0,O_i}^0(\boldsymbol{q}) &#10;= \begin{cases}&#10;\boldsymbol{0}, &amp; i = 0, \\&#10;\displaystyle\sum_{j=1}^{i} \hat{\boldsymbol{\omega}}_{0j}^0 \boldsymbol{R}_j^0 \boldsymbol{l}_j, &amp; i = 1,\dots,n.&#10;\end{cases}&#10;$&#10;&#10;&#10;\end{document}" title="IguanaTex Bitmap Display">
            <a:extLst>
              <a:ext uri="{FF2B5EF4-FFF2-40B4-BE49-F238E27FC236}">
                <a16:creationId xmlns:a16="http://schemas.microsoft.com/office/drawing/2014/main" id="{E0A05D6A-3845-4BC8-9366-961040E4B464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0256" y="2710316"/>
            <a:ext cx="4252752" cy="117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41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3A6EDC-7616-4B40-BBB1-D8C43C0291D1}"/>
              </a:ext>
            </a:extLst>
          </p:cNvPr>
          <p:cNvSpPr txBox="1"/>
          <p:nvPr/>
        </p:nvSpPr>
        <p:spPr>
          <a:xfrm>
            <a:off x="167431" y="129533"/>
            <a:ext cx="7943036" cy="445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97" b="1" dirty="0">
                <a:latin typeface="Georgia" panose="02040502050405020303" pitchFamily="18" charset="0"/>
              </a:rPr>
              <a:t>Computation Flowchart – Transformed Dynamics</a:t>
            </a:r>
            <a:endParaRPr lang="zh-CN" altLang="en-US" sz="2297" b="1" dirty="0">
              <a:latin typeface="Georgia" panose="02040502050405020303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A251A85-6BAD-4399-9CCE-974C4B84613B}"/>
              </a:ext>
            </a:extLst>
          </p:cNvPr>
          <p:cNvCxnSpPr>
            <a:cxnSpLocks/>
          </p:cNvCxnSpPr>
          <p:nvPr/>
        </p:nvCxnSpPr>
        <p:spPr>
          <a:xfrm>
            <a:off x="0" y="674421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FDACC047-1C3F-421C-B50D-37E0C5A6F942}"/>
              </a:ext>
            </a:extLst>
          </p:cNvPr>
          <p:cNvGrpSpPr/>
          <p:nvPr/>
        </p:nvGrpSpPr>
        <p:grpSpPr>
          <a:xfrm>
            <a:off x="98851" y="1825149"/>
            <a:ext cx="12010708" cy="3430112"/>
            <a:chOff x="0" y="1345088"/>
            <a:chExt cx="14400344" cy="4112563"/>
          </a:xfrm>
        </p:grpSpPr>
        <p:pic>
          <p:nvPicPr>
            <p:cNvPr id="6" name="Picture 5" descr="\documentclass{article}&#10;\usepackage{amsmath}&#10;\pagestyle{empty}&#10;\begin{document}&#10;&#10;$&#10;\boldsymbol{\omega}_i^0 &#10;= \begin{cases}&#10;\boldsymbol{\omega}_0, &#10;&amp; i=0.&#10;\\&#10;\boldsymbol{\omega}_0 + \boldsymbol{\omega}_{0i}^0, &#10;&amp; i=1,\ldots,n.&#10;\end{cases}&#10;$&#10;&#10;&#10;\end{document}" title="IguanaTex Bitmap Display">
              <a:extLst>
                <a:ext uri="{FF2B5EF4-FFF2-40B4-BE49-F238E27FC236}">
                  <a16:creationId xmlns:a16="http://schemas.microsoft.com/office/drawing/2014/main" id="{3AE0FF3B-60AF-4DB9-BC29-B69D363DD064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17" y="3613920"/>
              <a:ext cx="3336330" cy="733437"/>
            </a:xfrm>
            <a:prstGeom prst="rect">
              <a:avLst/>
            </a:prstGeom>
          </p:spPr>
        </p:pic>
        <p:pic>
          <p:nvPicPr>
            <p:cNvPr id="7" name="Picture 6" descr="\documentclass{article}&#10;\usepackage{amsmath}&#10;\pagestyle{empty}&#10;\begin{document}&#10;&#10;$&#10;\boldsymbol{\omega}_{0i}^0&#10;= \begin{cases}&#10;\boldsymbol{0}_{3},&#10;&amp; i=0.&#10;\\&#10;\displaystyle  \boldsymbol{J}_{\omega_i}^q(\boldsymbol{q}) \dot{\boldsymbol{q}},&#10;&amp; i=1,\ldots,n.&#10;\end{cases}&#10;$&#10;&#10;&#10;\end{document}" title="IguanaTex Bitmap Display">
              <a:extLst>
                <a:ext uri="{FF2B5EF4-FFF2-40B4-BE49-F238E27FC236}">
                  <a16:creationId xmlns:a16="http://schemas.microsoft.com/office/drawing/2014/main" id="{A8E398BE-1A0E-4430-AFA5-2BBBE184B00F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985867"/>
              <a:ext cx="3314369" cy="733435"/>
            </a:xfrm>
            <a:prstGeom prst="rect">
              <a:avLst/>
            </a:prstGeom>
          </p:spPr>
        </p:pic>
        <p:pic>
          <p:nvPicPr>
            <p:cNvPr id="8" name="Picture 7" descr="\documentclass{article}&#10;\usepackage{amsmath}&#10;\usepackage{color}&#10;\pagestyle{empty}&#10;\begin{document}&#10;&#10;$&#10;\color{blue}&#10;\dot{\tilde{\boldsymbol{A}}}_i &#10;= \dot{\boldsymbol{A}}_i - \dot{\boldsymbol{A}}&#10;$&#10;&#10;&#10;\end{document}" title="IguanaTex Bitmap Display">
              <a:extLst>
                <a:ext uri="{FF2B5EF4-FFF2-40B4-BE49-F238E27FC236}">
                  <a16:creationId xmlns:a16="http://schemas.microsoft.com/office/drawing/2014/main" id="{BEFED0BD-1FD0-4BDD-8A89-6DA83453A124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59148" y="3818140"/>
              <a:ext cx="1402459" cy="324996"/>
            </a:xfrm>
            <a:prstGeom prst="rect">
              <a:avLst/>
            </a:prstGeom>
          </p:spPr>
        </p:pic>
        <p:pic>
          <p:nvPicPr>
            <p:cNvPr id="9" name="Picture 8" descr="\documentclass{article}&#10;\usepackage{amsmath}&#10;\usepackage{color}&#10;\pagestyle{empty}&#10;\begin{document}&#10;&#10;$&#10;\color{blue}&#10;\displaystyle&#10;\dot{\boldsymbol{A}}&#10;:= \dfrac{\partial \dot{\boldsymbol{r}}_{0c}^0}{\partial \boldsymbol{q}}&#10;= \dfrac{1}{m}\sum_{i=0}^{n} m_i \dot{\boldsymbol{A}}_i&#10;$&#10;&#10;&#10;\end{document}" title="IguanaTex Bitmap Display">
              <a:extLst>
                <a:ext uri="{FF2B5EF4-FFF2-40B4-BE49-F238E27FC236}">
                  <a16:creationId xmlns:a16="http://schemas.microsoft.com/office/drawing/2014/main" id="{49DE2095-9B4D-4FBA-989C-31D95E6D9213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58584" y="3029235"/>
              <a:ext cx="2722937" cy="677806"/>
            </a:xfrm>
            <a:prstGeom prst="rect">
              <a:avLst/>
            </a:prstGeom>
          </p:spPr>
        </p:pic>
        <p:pic>
          <p:nvPicPr>
            <p:cNvPr id="10" name="Picture 9" descr="\documentclass{article}&#10;\usepackage{amsmath}&#10;\usepackage{color}&#10;\pagestyle{empty}&#10;\begin{document}&#10;&#10;$&#10;\color{blue}&#10;\dot{\boldsymbol{d}}_i^0 &#10;= \tilde{\boldsymbol{A}}_i \dot{\boldsymbol{q}}&#10;$&#10;&#10;&#10;\end{document}" title="IguanaTex Bitmap Display">
              <a:extLst>
                <a:ext uri="{FF2B5EF4-FFF2-40B4-BE49-F238E27FC236}">
                  <a16:creationId xmlns:a16="http://schemas.microsoft.com/office/drawing/2014/main" id="{AE2399AF-941D-404D-8BB0-A1F27F3BC1DF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1872" y="4405627"/>
              <a:ext cx="999873" cy="345491"/>
            </a:xfrm>
            <a:prstGeom prst="rect">
              <a:avLst/>
            </a:prstGeom>
          </p:spPr>
        </p:pic>
        <p:pic>
          <p:nvPicPr>
            <p:cNvPr id="11" name="Picture 10" descr="\documentclass{article}&#10;\usepackage{amsmath}&#10;\usepackage{color}&#10;\pagestyle{empty}&#10;\begin{document}&#10;&#10;$&#10;\color{blue}&#10;\dot{\boldsymbol{I}}_i^0&#10;= \boldsymbol{\Xi}_i + \boldsymbol{\Xi}_i^T&#10;$&#10;&#10;&#10;\end{document}" title="IguanaTex Bitmap Display">
              <a:extLst>
                <a:ext uri="{FF2B5EF4-FFF2-40B4-BE49-F238E27FC236}">
                  <a16:creationId xmlns:a16="http://schemas.microsoft.com/office/drawing/2014/main" id="{19ACFFB1-AAC8-46B3-8CF8-E26F9D72108F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5728" y="5113624"/>
              <a:ext cx="1456625" cy="344027"/>
            </a:xfrm>
            <a:prstGeom prst="rect">
              <a:avLst/>
            </a:prstGeom>
          </p:spPr>
        </p:pic>
        <p:pic>
          <p:nvPicPr>
            <p:cNvPr id="12" name="Picture 11" descr="\documentclass{article}&#10;\usepackage{amsmath}&#10;\usepackage{color}&#10;\pagestyle{empty}&#10;\begin{document}&#10;&#10;$&#10;\color{blue}&#10;\boldsymbol{\Xi}_i&#10;= \hat{\boldsymbol{\omega}}_i^0 \boldsymbol{I}_i^0&#10;+ \boldsymbol{I}_i^0 \hat{\boldsymbol{\omega}}_0&#10;$&#10;&#10;&#10;\end{document}" title="IguanaTex Bitmap Display">
              <a:extLst>
                <a:ext uri="{FF2B5EF4-FFF2-40B4-BE49-F238E27FC236}">
                  <a16:creationId xmlns:a16="http://schemas.microsoft.com/office/drawing/2014/main" id="{C85B820C-A66F-4F56-84C2-05356D7DD6CA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1872" y="5137180"/>
              <a:ext cx="1949975" cy="291325"/>
            </a:xfrm>
            <a:prstGeom prst="rect">
              <a:avLst/>
            </a:prstGeom>
          </p:spPr>
        </p:pic>
        <p:pic>
          <p:nvPicPr>
            <p:cNvPr id="13" name="Picture 12" descr="\documentclass{article}&#10;\usepackage{amsmath}&#10;\pagestyle{empty}&#10;\begin{document}&#10;&#10;$&#10;\boldsymbol{\omega}_e^0&#10;= \boldsymbol{\omega}_n^0&#10;$&#10;&#10;&#10;\end{document}" title="IguanaTex Bitmap Display">
              <a:extLst>
                <a:ext uri="{FF2B5EF4-FFF2-40B4-BE49-F238E27FC236}">
                  <a16:creationId xmlns:a16="http://schemas.microsoft.com/office/drawing/2014/main" id="{4E349E59-FB2D-4573-BB6E-A467F1B41894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591" y="4523235"/>
              <a:ext cx="912037" cy="267901"/>
            </a:xfrm>
            <a:prstGeom prst="rect">
              <a:avLst/>
            </a:prstGeom>
          </p:spPr>
        </p:pic>
        <p:pic>
          <p:nvPicPr>
            <p:cNvPr id="14" name="Picture 13" descr="\documentclass{article}&#10;\usepackage{amsmath}&#10;\pagestyle{empty}&#10;\begin{document}&#10;&#10;$&#10;\boldsymbol{\omega}_{0e}^{0}&#10;= \boldsymbol{\omega}_{0n}^{0}&#10;$&#10;&#10;&#10;\end{document}" title="IguanaTex Bitmap Display">
              <a:extLst>
                <a:ext uri="{FF2B5EF4-FFF2-40B4-BE49-F238E27FC236}">
                  <a16:creationId xmlns:a16="http://schemas.microsoft.com/office/drawing/2014/main" id="{AA763A3E-E6D4-4E78-9361-F797DB1E90B7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17" y="2944540"/>
              <a:ext cx="1100886" cy="270829"/>
            </a:xfrm>
            <a:prstGeom prst="rect">
              <a:avLst/>
            </a:prstGeom>
          </p:spPr>
        </p:pic>
        <p:pic>
          <p:nvPicPr>
            <p:cNvPr id="15" name="Picture 14" descr="\documentclass{article}&#10;\usepackage{amsmath}&#10;\usepackage{color}&#10;\pagestyle{empty}&#10;\begin{document}&#10;&#10;$&#10;\color{blue}&#10;\dot{\tilde{\boldsymbol{A}}}_e &#10;= \dot{\boldsymbol{A}}_e - \dot{\boldsymbol{A}}&#10;$&#10;&#10;&#10;\end{document}" title="IguanaTex Bitmap Display">
              <a:extLst>
                <a:ext uri="{FF2B5EF4-FFF2-40B4-BE49-F238E27FC236}">
                  <a16:creationId xmlns:a16="http://schemas.microsoft.com/office/drawing/2014/main" id="{638AC30F-07AC-40FB-98CE-2AB800B236E0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21750" y="3840643"/>
              <a:ext cx="1449306" cy="324996"/>
            </a:xfrm>
            <a:prstGeom prst="rect">
              <a:avLst/>
            </a:prstGeom>
          </p:spPr>
        </p:pic>
        <p:pic>
          <p:nvPicPr>
            <p:cNvPr id="16" name="Picture 15" descr="\documentclass{article}&#10;\usepackage{amsmath}&#10;\usepackage{color}&#10;\pagestyle{empty}&#10;\begin{document}&#10;&#10;$&#10;\color{blue}&#10;\dot{\boldsymbol{d}}_e^0 &#10;= \tilde{\boldsymbol{A}}_e \dot{\boldsymbol{q}}&#10;$&#10;&#10;&#10;\end{document}" title="IguanaTex Bitmap Display">
              <a:extLst>
                <a:ext uri="{FF2B5EF4-FFF2-40B4-BE49-F238E27FC236}">
                  <a16:creationId xmlns:a16="http://schemas.microsoft.com/office/drawing/2014/main" id="{18CD3DB4-48ED-4946-A6F4-2162680018AA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3652" y="4417996"/>
              <a:ext cx="1023297" cy="345491"/>
            </a:xfrm>
            <a:prstGeom prst="rect">
              <a:avLst/>
            </a:prstGeom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842ED18-8AFC-41C6-99FE-BD4172550F7D}"/>
                </a:ext>
              </a:extLst>
            </p:cNvPr>
            <p:cNvGrpSpPr/>
            <p:nvPr/>
          </p:nvGrpSpPr>
          <p:grpSpPr>
            <a:xfrm>
              <a:off x="4392588" y="1345088"/>
              <a:ext cx="10007756" cy="762716"/>
              <a:chOff x="478044" y="14189134"/>
              <a:chExt cx="10007756" cy="762716"/>
            </a:xfrm>
          </p:grpSpPr>
          <p:pic>
            <p:nvPicPr>
              <p:cNvPr id="18" name="Picture 17" descr="\documentclass{article}&#10;\usepackage{amsmath}&#10;\usepackage{color}&#10;\pagestyle{empty}&#10;\begin{document}&#10;&#10;$&#10;\color{blue}&#10;\dot{\boldsymbol{A}}_i&#10;:= \dfrac{\partial \dot{\boldsymbol{r}}_{0i}^{0}}{\partial \boldsymbol{q}}, \quad&#10;[\dot{\boldsymbol{A}}_i]_{:,k}&#10;= \begin{cases}&#10;\dot{\boldsymbol{h}}_k^0 \times \left(\boldsymbol{r}_{0i}^0 - \boldsymbol{r}_{0,O_{k-1}}^0\right)&#10;+ \boldsymbol{h}_k^0 \times \left(\dot{\boldsymbol{r}}_{0i}^0 - \dot{\boldsymbol{r}}_{0,O_{k-1}}^0\right), &amp; k \leq i, \\&#10;\boldsymbol{0}, &amp; k &gt; i,&#10;\end{cases}&#10;$&#10;&#10;&#10;\end{document}" title="IguanaTex Bitmap Display">
                <a:extLst>
                  <a:ext uri="{FF2B5EF4-FFF2-40B4-BE49-F238E27FC236}">
                    <a16:creationId xmlns:a16="http://schemas.microsoft.com/office/drawing/2014/main" id="{93002DFD-35F6-416C-80B8-0BDB5A13A160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4"/>
                </p:custDataLst>
              </p:nvPr>
            </p:nvPicPr>
            <p:blipFill>
              <a:blip r:embed="rId2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8044" y="14189134"/>
                <a:ext cx="8467453" cy="762716"/>
              </a:xfrm>
              <a:prstGeom prst="rect">
                <a:avLst/>
              </a:prstGeom>
            </p:spPr>
          </p:pic>
          <p:pic>
            <p:nvPicPr>
              <p:cNvPr id="19" name="Picture 18" descr="\documentclass{article}&#10;\usepackage{amsmath}&#10;\usepackage{color}&#10;\pagestyle{empty}&#10;\begin{document}&#10;&#10;$&#10;\color{blue}&#10;i=0,\ldots,n.&#10;$&#10;&#10;&#10;\end{document}" title="IguanaTex Bitmap Display">
                <a:extLst>
                  <a:ext uri="{FF2B5EF4-FFF2-40B4-BE49-F238E27FC236}">
                    <a16:creationId xmlns:a16="http://schemas.microsoft.com/office/drawing/2014/main" id="{717DD541-EA9E-487C-9049-A3EB53A6C8DC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5"/>
                </p:custDataLst>
              </p:nvPr>
            </p:nvPicPr>
            <p:blipFill>
              <a:blip r:embed="rId2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26808" y="14509663"/>
                <a:ext cx="1258992" cy="213736"/>
              </a:xfrm>
              <a:prstGeom prst="rect">
                <a:avLst/>
              </a:prstGeom>
            </p:spPr>
          </p:pic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2D5D141-9C2D-4185-B2BE-2817BB376F6B}"/>
                </a:ext>
              </a:extLst>
            </p:cNvPr>
            <p:cNvGrpSpPr/>
            <p:nvPr/>
          </p:nvGrpSpPr>
          <p:grpSpPr>
            <a:xfrm>
              <a:off x="4368808" y="2230952"/>
              <a:ext cx="9064674" cy="601682"/>
              <a:chOff x="454264" y="15189298"/>
              <a:chExt cx="9064674" cy="601682"/>
            </a:xfrm>
          </p:grpSpPr>
          <p:pic>
            <p:nvPicPr>
              <p:cNvPr id="21" name="Picture 20" descr="\documentclass{article}&#10;\usepackage{amsmath}&#10;\usepackage{color}&#10;\pagestyle{empty}&#10;\begin{document}&#10;&#10;$&#10;\color{blue}&#10;\dot{\boldsymbol{A}}_e&#10;:= \dfrac{\partial \dot{\boldsymbol{r}}_{0e}^{0}}{\partial \boldsymbol{q}}, \quad&#10;[\dot{\boldsymbol{A}}_e]_{:,k} =&#10;\dot{\boldsymbol{h}}_k^0 \times \left(\boldsymbol{r}_{0e}^0 - \boldsymbol{r}_{0,O_{k-1}}^0\right)&#10;+ \boldsymbol{h}_k^0 \times \left(\dot{\boldsymbol{r}}_{0e}^0 - \dot{\boldsymbol{r}}_{0,O_{k-1}}^0\right)&#10;$&#10;&#10;&#10;\end{document}" title="IguanaTex Bitmap Display">
                <a:extLst>
                  <a:ext uri="{FF2B5EF4-FFF2-40B4-BE49-F238E27FC236}">
                    <a16:creationId xmlns:a16="http://schemas.microsoft.com/office/drawing/2014/main" id="{BB781A42-C74B-4541-A0D7-E07D073B595B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2"/>
                </p:custDataLst>
              </p:nvPr>
            </p:nvPicPr>
            <p:blipFill>
              <a:blip r:embed="rId3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4264" y="15189298"/>
                <a:ext cx="7401703" cy="601682"/>
              </a:xfrm>
              <a:prstGeom prst="rect">
                <a:avLst/>
              </a:prstGeom>
            </p:spPr>
          </p:pic>
          <p:pic>
            <p:nvPicPr>
              <p:cNvPr id="22" name="Picture 21" descr="\documentclass{article}&#10;\usepackage{amsmath}&#10;\usepackage{color}&#10;\pagestyle{empty}&#10;\begin{document}&#10;&#10;$&#10;\color{blue}&#10;k = 1,\dots,n.&#10;$&#10;&#10;&#10;\end{document}" title="IguanaTex Bitmap Display">
                <a:extLst>
                  <a:ext uri="{FF2B5EF4-FFF2-40B4-BE49-F238E27FC236}">
                    <a16:creationId xmlns:a16="http://schemas.microsoft.com/office/drawing/2014/main" id="{683672FF-9BC4-453E-87E1-9E13A1F04698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3"/>
                </p:custDataLst>
              </p:nvPr>
            </p:nvPicPr>
            <p:blipFill>
              <a:blip r:embed="rId3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14564" y="15439703"/>
                <a:ext cx="1304374" cy="221056"/>
              </a:xfrm>
              <a:prstGeom prst="rect">
                <a:avLst/>
              </a:prstGeom>
            </p:spPr>
          </p:pic>
        </p:grpSp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AA62FBAD-20A3-40F3-BEAE-CC44D47906C6}"/>
                </a:ext>
              </a:extLst>
            </p:cNvPr>
            <p:cNvSpPr/>
            <p:nvPr/>
          </p:nvSpPr>
          <p:spPr>
            <a:xfrm>
              <a:off x="3526163" y="2799525"/>
              <a:ext cx="400310" cy="1009009"/>
            </a:xfrm>
            <a:prstGeom prst="rightArrow">
              <a:avLst>
                <a:gd name="adj1" fmla="val 50000"/>
                <a:gd name="adj2" fmla="val 6821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66"/>
            </a:p>
          </p:txBody>
        </p:sp>
      </p:grpSp>
    </p:spTree>
    <p:extLst>
      <p:ext uri="{BB962C8B-B14F-4D97-AF65-F5344CB8AC3E}">
        <p14:creationId xmlns:p14="http://schemas.microsoft.com/office/powerpoint/2010/main" val="982337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3A6EDC-7616-4B40-BBB1-D8C43C0291D1}"/>
              </a:ext>
            </a:extLst>
          </p:cNvPr>
          <p:cNvSpPr txBox="1"/>
          <p:nvPr/>
        </p:nvSpPr>
        <p:spPr>
          <a:xfrm>
            <a:off x="167431" y="129533"/>
            <a:ext cx="7943036" cy="445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97" b="1" dirty="0">
                <a:latin typeface="Georgia" panose="02040502050405020303" pitchFamily="18" charset="0"/>
              </a:rPr>
              <a:t>Computation Flowchart – Transformed Dynamics</a:t>
            </a:r>
            <a:endParaRPr lang="zh-CN" altLang="en-US" sz="2297" b="1" dirty="0">
              <a:latin typeface="Georgia" panose="02040502050405020303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A251A85-6BAD-4399-9CCE-974C4B84613B}"/>
              </a:ext>
            </a:extLst>
          </p:cNvPr>
          <p:cNvCxnSpPr>
            <a:cxnSpLocks/>
          </p:cNvCxnSpPr>
          <p:nvPr/>
        </p:nvCxnSpPr>
        <p:spPr>
          <a:xfrm>
            <a:off x="0" y="674421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AFBE9D9-F494-40C9-97EE-073B5019E5AE}"/>
              </a:ext>
            </a:extLst>
          </p:cNvPr>
          <p:cNvSpPr txBox="1"/>
          <p:nvPr/>
        </p:nvSpPr>
        <p:spPr>
          <a:xfrm>
            <a:off x="0" y="1015921"/>
            <a:ext cx="6635525" cy="445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97" b="1" dirty="0">
                <a:latin typeface="Georgia" panose="02040502050405020303" pitchFamily="18" charset="0"/>
              </a:rPr>
              <a:t>Transformed Dynamics – Preliminary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0527D25-CEAF-4AD9-8882-6D8C97944CE1}"/>
              </a:ext>
            </a:extLst>
          </p:cNvPr>
          <p:cNvGrpSpPr/>
          <p:nvPr/>
        </p:nvGrpSpPr>
        <p:grpSpPr>
          <a:xfrm>
            <a:off x="238669" y="1803248"/>
            <a:ext cx="11714662" cy="4357494"/>
            <a:chOff x="239213" y="1517783"/>
            <a:chExt cx="12543500" cy="4665796"/>
          </a:xfrm>
        </p:grpSpPr>
        <p:pic>
          <p:nvPicPr>
            <p:cNvPr id="7" name="Picture 6" descr="\documentclass{article}&#10;\usepackage{amsmath}&#10;\usepackage{color}&#10;\pagestyle{empty}&#10;\begin{document}&#10;&#10;$&#10;\color{blue}&#10;\begin{aligned}&#10;% (\rho, \rho)&#10;\tilde{\boldsymbol{M}}_{\rho}&#10;&amp;&#10;= \sum_{i=0}^{n} \Bigl( m_i \tilde{\boldsymbol{A}}_i^{T} \tilde{\boldsymbol{A}}_i&#10;+ \bigl(\boldsymbol{J}^{q}_{\omega_i}\bigr)^{T} \boldsymbol{I}^{0}_i \boldsymbol{J}^{q}_{\omega_i} \Bigr)&#10;\end{aligned}&#10;$&#10;&#10;&#10;\end{document}" title="IguanaTex Bitmap Display">
              <a:extLst>
                <a:ext uri="{FF2B5EF4-FFF2-40B4-BE49-F238E27FC236}">
                  <a16:creationId xmlns:a16="http://schemas.microsoft.com/office/drawing/2014/main" id="{DD56D7EB-ACBC-4709-B7A8-F0E227093C78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026" y="1517783"/>
              <a:ext cx="3989247" cy="673415"/>
            </a:xfrm>
            <a:prstGeom prst="rect">
              <a:avLst/>
            </a:prstGeom>
          </p:spPr>
        </p:pic>
        <p:pic>
          <p:nvPicPr>
            <p:cNvPr id="8" name="Picture 7" descr="\documentclass{article}&#10;\usepackage{amsmath}&#10;\usepackage{color}&#10;\pagestyle{empty}&#10;\begin{document}&#10;&#10;$&#10;\color{blue}&#10;\begin{aligned}&#10;\boldsymbol{B}&#10;= \sum_{i=0}^n \Bigl[ &#10;- m_i \boldsymbol{A}_i^T \hat{\boldsymbol{d}}_i^0 &#10;+ (\boldsymbol{J}^q_{\omega_i})^T \boldsymbol{I}_i^0 \Bigr]&#10;\end{aligned}&#10;$&#10;&#10;&#10;\end{document}" title="IguanaTex Bitmap Display">
              <a:extLst>
                <a:ext uri="{FF2B5EF4-FFF2-40B4-BE49-F238E27FC236}">
                  <a16:creationId xmlns:a16="http://schemas.microsoft.com/office/drawing/2014/main" id="{925EE827-8182-45EC-A4F3-7ECEF82306DF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0254" y="2364194"/>
              <a:ext cx="3451980" cy="673415"/>
            </a:xfrm>
            <a:prstGeom prst="rect">
              <a:avLst/>
            </a:prstGeom>
          </p:spPr>
        </p:pic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67788351-6CD6-44A2-8917-FF48CEA18255}"/>
                </a:ext>
              </a:extLst>
            </p:cNvPr>
            <p:cNvSpPr/>
            <p:nvPr/>
          </p:nvSpPr>
          <p:spPr>
            <a:xfrm>
              <a:off x="4582799" y="1709301"/>
              <a:ext cx="400310" cy="1009009"/>
            </a:xfrm>
            <a:prstGeom prst="rightArrow">
              <a:avLst>
                <a:gd name="adj1" fmla="val 50000"/>
                <a:gd name="adj2" fmla="val 6821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66"/>
            </a:p>
          </p:txBody>
        </p:sp>
        <p:pic>
          <p:nvPicPr>
            <p:cNvPr id="10" name="Picture 9" descr="\documentclass{article}&#10;\usepackage{amsmath}&#10;\usepackage{color}&#10;\pagestyle{empty}&#10;\begin{document}&#10;&#10;$&#10;\color{blue}&#10;\boldsymbol{N}_1 = \tilde{\boldsymbol{M}}_\rho^{-1} \boldsymbol{B}&#10;$&#10;&#10;&#10;\end{document}" title="IguanaTex Bitmap Display">
              <a:extLst>
                <a:ext uri="{FF2B5EF4-FFF2-40B4-BE49-F238E27FC236}">
                  <a16:creationId xmlns:a16="http://schemas.microsoft.com/office/drawing/2014/main" id="{6A3BC127-A806-4052-8D13-2C4FC8882D7C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01642" y="2030228"/>
              <a:ext cx="1461015" cy="379162"/>
            </a:xfrm>
            <a:prstGeom prst="rect">
              <a:avLst/>
            </a:prstGeom>
          </p:spPr>
        </p:pic>
        <p:pic>
          <p:nvPicPr>
            <p:cNvPr id="11" name="Picture 10" descr="\documentclass{article}&#10;\usepackage{amsmath}&#10;\usepackage{color}&#10;\pagestyle{empty}&#10;\begin{document}&#10;&#10;$&#10;\color{blue}&#10;\dot{\boldsymbol{L}}_i&#10;= -\bigl(\dot{\boldsymbol{d}_i^0}\bigr)^\wedge&#10;- \dot{\tilde{\boldsymbol{A}}}_i \boldsymbol{N}_1&#10;- \tilde{\boldsymbol{A}}_i \dot{\boldsymbol{N}}_1&#10;$&#10;&#10;&#10;\end{document}" title="IguanaTex Bitmap Display">
              <a:extLst>
                <a:ext uri="{FF2B5EF4-FFF2-40B4-BE49-F238E27FC236}">
                  <a16:creationId xmlns:a16="http://schemas.microsoft.com/office/drawing/2014/main" id="{502C1597-2496-4FD3-98A7-9248E5C489B1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26885" y="5240785"/>
              <a:ext cx="3280700" cy="371843"/>
            </a:xfrm>
            <a:prstGeom prst="rect">
              <a:avLst/>
            </a:prstGeom>
          </p:spPr>
        </p:pic>
        <p:pic>
          <p:nvPicPr>
            <p:cNvPr id="12" name="Picture 11" descr="\documentclass{article}&#10;\usepackage{amsmath}&#10;\usepackage{color}&#10;\pagestyle{empty}&#10;\begin{document}&#10;&#10;$&#10;\color{blue}&#10;\dot{\boldsymbol{W}}_i&#10;= -\dot{\boldsymbol{J}}^{q}_{\omega_i} \boldsymbol{N}_1&#10;- \boldsymbol{J}^{q}_{\omega_i} \dot{\boldsymbol{N}}_1&#10;$&#10;&#10;&#10;\end{document}" title="IguanaTex Bitmap Display">
              <a:extLst>
                <a:ext uri="{FF2B5EF4-FFF2-40B4-BE49-F238E27FC236}">
                  <a16:creationId xmlns:a16="http://schemas.microsoft.com/office/drawing/2014/main" id="{16AE6CEA-517B-442A-92C2-AC251B2233CB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07364" y="5854188"/>
              <a:ext cx="2670234" cy="329388"/>
            </a:xfrm>
            <a:prstGeom prst="rect">
              <a:avLst/>
            </a:prstGeom>
          </p:spPr>
        </p:pic>
        <p:pic>
          <p:nvPicPr>
            <p:cNvPr id="13" name="Picture 12" descr="\documentclass{article}&#10;\usepackage{amsmath}&#10;\usepackage{color}&#10;\pagestyle{empty}&#10;\begin{document}&#10;&#10;$&#10;\color{blue}&#10;\boldsymbol{L}_i&#10;= -\hat{\boldsymbol{d}}_i^{0}&#10;- \tilde{\boldsymbol{A}}_i \boldsymbol{N}_1&#10;$&#10;&#10;&#10;\end{document}" title="IguanaTex Bitmap Display">
              <a:extLst>
                <a:ext uri="{FF2B5EF4-FFF2-40B4-BE49-F238E27FC236}">
                  <a16:creationId xmlns:a16="http://schemas.microsoft.com/office/drawing/2014/main" id="{0278F62B-08D2-4C09-8336-8A4290705DEC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4055" y="5250301"/>
              <a:ext cx="1957295" cy="352810"/>
            </a:xfrm>
            <a:prstGeom prst="rect">
              <a:avLst/>
            </a:prstGeom>
          </p:spPr>
        </p:pic>
        <p:pic>
          <p:nvPicPr>
            <p:cNvPr id="14" name="Picture 13" descr="\documentclass{article}&#10;\usepackage{amsmath}&#10;\usepackage{color}&#10;\pagestyle{empty}&#10;\begin{document}&#10;&#10;$&#10;\color{blue}&#10;\dot{\boldsymbol{N}}_1&#10;= \tilde{\boldsymbol{M}}_{\rho}^{-1} \bigl(\dot{\boldsymbol{B}} &#10;- \dot{\tilde{\boldsymbol{M}}}_{\rho} \boldsymbol{N}_1\bigr)&#10;$&#10;&#10;&#10;\end{document}" title="IguanaTex Bitmap Display">
              <a:extLst>
                <a:ext uri="{FF2B5EF4-FFF2-40B4-BE49-F238E27FC236}">
                  <a16:creationId xmlns:a16="http://schemas.microsoft.com/office/drawing/2014/main" id="{847A7DA5-798E-4786-87AE-FE5B06B5A724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39280" y="3810193"/>
              <a:ext cx="2743433" cy="383552"/>
            </a:xfrm>
            <a:prstGeom prst="rect">
              <a:avLst/>
            </a:prstGeom>
          </p:spPr>
        </p:pic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0A2E7BBD-69C3-4900-AFB8-CF96ACC6379A}"/>
                </a:ext>
              </a:extLst>
            </p:cNvPr>
            <p:cNvSpPr/>
            <p:nvPr/>
          </p:nvSpPr>
          <p:spPr>
            <a:xfrm>
              <a:off x="9240338" y="3503011"/>
              <a:ext cx="400310" cy="1009009"/>
            </a:xfrm>
            <a:prstGeom prst="rightArrow">
              <a:avLst>
                <a:gd name="adj1" fmla="val 50000"/>
                <a:gd name="adj2" fmla="val 6821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66"/>
            </a:p>
          </p:txBody>
        </p:sp>
        <p:pic>
          <p:nvPicPr>
            <p:cNvPr id="16" name="Picture 15" descr="\documentclass{article}&#10;\usepackage{amsmath}&#10;\usepackage{color}&#10;\pagestyle{empty}&#10;\begin{document}&#10;&#10;$&#10;\color{blue}&#10;\begin{aligned}&#10;\dot{\boldsymbol{B}} &#10;= \sum_{i=0}^n \left[ -m_i \bigl( \dot{\tilde{\boldsymbol{A}}}_i^T \hat{\boldsymbol{d}}_i^0 + \tilde{\boldsymbol{A}}_i^T \bigl(\dot{\boldsymbol{d}_i^0}\bigr)^\wedge \bigr) + (\dot{\boldsymbol{J}}^q_{\omega_i})^T \boldsymbol{I}_i^0 + (\boldsymbol{J}^q_{\omega_i})^T \dot{\boldsymbol{I}}_i^0 \right]&#10;\end{aligned}&#10;$&#10;&#10;&#10;\end{document}" title="IguanaTex Bitmap Display">
              <a:extLst>
                <a:ext uri="{FF2B5EF4-FFF2-40B4-BE49-F238E27FC236}">
                  <a16:creationId xmlns:a16="http://schemas.microsoft.com/office/drawing/2014/main" id="{4C75605B-CAC7-4576-A4E9-E371491D04D3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045" y="4223417"/>
              <a:ext cx="6281784" cy="673415"/>
            </a:xfrm>
            <a:prstGeom prst="rect">
              <a:avLst/>
            </a:prstGeom>
          </p:spPr>
        </p:pic>
        <p:pic>
          <p:nvPicPr>
            <p:cNvPr id="17" name="Picture 16" descr="\documentclass{article}&#10;\usepackage{amsmath}&#10;\usepackage{color}&#10;\pagestyle{empty}&#10;\begin{document}&#10;&#10;$&#10;\color{blue}&#10;\begin{aligned}&#10;\dot{\tilde{\boldsymbol{M}}}_\rho&#10;= \sum_{i=0}^n \Bigl[ m_i \bigl( \dot{\tilde{\boldsymbol{A}}}_i^T \tilde{\boldsymbol{A}}_i + \tilde{\boldsymbol{A}}_i^T \dot{\tilde{\boldsymbol{A}}}_i \bigr) + (\dot{\boldsymbol{J}}^q_{\omega_i})^T \boldsymbol{I}_i^0 \boldsymbol{J}^q_{\omega_i}&#10;+ (\boldsymbol{J}^q_{\omega_i})^T \dot{\boldsymbol{I}}_i^0 \boldsymbol{J}^q_{\omega_i} + (\boldsymbol{J}^q_{\omega_i})^T \boldsymbol{I}_i^0 \dot{\boldsymbol{J}}^q_{\omega_i} \Bigr] &#10;\end{aligned}&#10;$&#10;&#10;&#10;\end{document}" title="IguanaTex Bitmap Display">
              <a:extLst>
                <a:ext uri="{FF2B5EF4-FFF2-40B4-BE49-F238E27FC236}">
                  <a16:creationId xmlns:a16="http://schemas.microsoft.com/office/drawing/2014/main" id="{785E740F-8BF4-4EC6-A488-D5D6F92C491E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9213" y="3247567"/>
              <a:ext cx="8401574" cy="673415"/>
            </a:xfrm>
            <a:prstGeom prst="rect">
              <a:avLst/>
            </a:prstGeom>
          </p:spPr>
        </p:pic>
        <p:pic>
          <p:nvPicPr>
            <p:cNvPr id="18" name="Picture 17" descr="\documentclass{article}&#10;\usepackage{amsmath}&#10;\usepackage{color}&#10;\pagestyle{empty}&#10;\begin{document}&#10;&#10;$&#10;\color{blue}&#10;\boldsymbol{W}_i&#10;= \boldsymbol{I}_3&#10;- \boldsymbol{J}_{\omega_i}^{q} \boldsymbol{N}_1&#10;$&#10;&#10;&#10;\end{document}" title="IguanaTex Bitmap Display">
              <a:extLst>
                <a:ext uri="{FF2B5EF4-FFF2-40B4-BE49-F238E27FC236}">
                  <a16:creationId xmlns:a16="http://schemas.microsoft.com/office/drawing/2014/main" id="{A91E1C95-0FAE-4B71-8367-43454C3CCFD9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026" y="5909384"/>
              <a:ext cx="1976324" cy="272292"/>
            </a:xfrm>
            <a:prstGeom prst="rect">
              <a:avLst/>
            </a:prstGeom>
          </p:spPr>
        </p:pic>
        <p:pic>
          <p:nvPicPr>
            <p:cNvPr id="19" name="Picture 18" descr="\documentclass{article}&#10;\usepackage{amsmath}&#10;\usepackage{color}&#10;\pagestyle{empty}&#10;\begin{document}&#10;&#10;$&#10;\color{blue}&#10;\boldsymbol{L}_e &#10;= -\hat{\boldsymbol{d}}^0_e &#10;- \tilde{\boldsymbol{A}}_e \boldsymbol{N}_1&#10;$&#10;&#10;&#10;\end{document}" title="IguanaTex Bitmap Display">
              <a:extLst>
                <a:ext uri="{FF2B5EF4-FFF2-40B4-BE49-F238E27FC236}">
                  <a16:creationId xmlns:a16="http://schemas.microsoft.com/office/drawing/2014/main" id="{5F1F5DD7-3E1F-4153-ADCB-25675EDC5102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3374" y="5250303"/>
              <a:ext cx="2004140" cy="352810"/>
            </a:xfrm>
            <a:prstGeom prst="rect">
              <a:avLst/>
            </a:prstGeom>
          </p:spPr>
        </p:pic>
        <p:pic>
          <p:nvPicPr>
            <p:cNvPr id="20" name="Picture 19" descr="\documentclass{article}&#10;\usepackage{amsmath}&#10;\usepackage{color}&#10;\pagestyle{empty}&#10;\begin{document}&#10;&#10;$&#10;\color{blue}&#10;\boldsymbol{W}_e &#10;= \boldsymbol{I}_3 &#10;- \boldsymbol{J}^q_{\omega_e} \boldsymbol{N}_1&#10;$&#10;&#10;&#10;\end{document}" title="IguanaTex Bitmap Display">
              <a:extLst>
                <a:ext uri="{FF2B5EF4-FFF2-40B4-BE49-F238E27FC236}">
                  <a16:creationId xmlns:a16="http://schemas.microsoft.com/office/drawing/2014/main" id="{14155D14-A632-4651-A7A9-398287F93DEB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34344" y="5909384"/>
              <a:ext cx="2017316" cy="272292"/>
            </a:xfrm>
            <a:prstGeom prst="rect">
              <a:avLst/>
            </a:prstGeom>
          </p:spPr>
        </p:pic>
        <p:pic>
          <p:nvPicPr>
            <p:cNvPr id="21" name="Picture 20" descr="\documentclass{article}&#10;\usepackage{amsmath}&#10;\usepackage{color}&#10;\pagestyle{empty}&#10;\begin{document}&#10;&#10;$&#10;\color{blue}&#10;\dot{\boldsymbol{L}}_e&#10;= -\bigl(\dot{\boldsymbol{d}_i^0}\bigr)^\wedge&#10;- \dot{\tilde{\boldsymbol{A}}}_e \boldsymbol{N}_1&#10;- \tilde{\boldsymbol{A}}_e \dot{\boldsymbol{N}}_1&#10;$&#10;&#10;&#10;\end{document}" title="IguanaTex Bitmap Display">
              <a:extLst>
                <a:ext uri="{FF2B5EF4-FFF2-40B4-BE49-F238E27FC236}">
                  <a16:creationId xmlns:a16="http://schemas.microsoft.com/office/drawing/2014/main" id="{50C12ADF-E861-4B1D-9D4E-971E7084C9E4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9407" y="5240787"/>
              <a:ext cx="3350968" cy="371843"/>
            </a:xfrm>
            <a:prstGeom prst="rect">
              <a:avLst/>
            </a:prstGeom>
          </p:spPr>
        </p:pic>
        <p:pic>
          <p:nvPicPr>
            <p:cNvPr id="22" name="Picture 21" descr="\documentclass{article}&#10;\usepackage{amsmath}&#10;\usepackage{color}&#10;\pagestyle{empty}&#10;\begin{document}&#10;&#10;$&#10;\color{blue}&#10;\dot{\boldsymbol{W}}_e&#10;= -\dot{\boldsymbol{J}}^{q}_{\omega_e} \boldsymbol{N}_1&#10;- \boldsymbol{J}^{q}_{\omega_e} \dot{\boldsymbol{N}}_1&#10;$&#10;&#10;&#10;\end{document}" title="IguanaTex Bitmap Display">
              <a:extLst>
                <a:ext uri="{FF2B5EF4-FFF2-40B4-BE49-F238E27FC236}">
                  <a16:creationId xmlns:a16="http://schemas.microsoft.com/office/drawing/2014/main" id="{37DEEAA1-CD85-454E-A455-6A5CE5DD12D9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9887" y="5854191"/>
              <a:ext cx="2728793" cy="3293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72616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3A6EDC-7616-4B40-BBB1-D8C43C0291D1}"/>
              </a:ext>
            </a:extLst>
          </p:cNvPr>
          <p:cNvSpPr txBox="1"/>
          <p:nvPr/>
        </p:nvSpPr>
        <p:spPr>
          <a:xfrm>
            <a:off x="167431" y="129533"/>
            <a:ext cx="7943036" cy="445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97" b="1" dirty="0">
                <a:latin typeface="Georgia" panose="02040502050405020303" pitchFamily="18" charset="0"/>
              </a:rPr>
              <a:t>Computation Flowchart – Transformed Dynamics</a:t>
            </a:r>
            <a:endParaRPr lang="zh-CN" altLang="en-US" sz="2297" b="1" dirty="0">
              <a:latin typeface="Georgia" panose="02040502050405020303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A251A85-6BAD-4399-9CCE-974C4B84613B}"/>
              </a:ext>
            </a:extLst>
          </p:cNvPr>
          <p:cNvCxnSpPr>
            <a:cxnSpLocks/>
          </p:cNvCxnSpPr>
          <p:nvPr/>
        </p:nvCxnSpPr>
        <p:spPr>
          <a:xfrm>
            <a:off x="0" y="674421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\documentclass{article}&#10;\usepackage{amsmath}&#10;\usepackage{color}&#10;\pagestyle{empty}&#10;\begin{document}&#10;&#10;$&#10;\color{blue}&#10;\tilde{\boldsymbol{C}}&#10;= \begin{bmatrix}&#10;\boldsymbol{0} &amp; \boldsymbol{0} &amp; \boldsymbol{0} \\&#10;\boldsymbol{0} &amp; \tilde{\boldsymbol{C}}_{r} &amp; \tilde{\boldsymbol{C}}_{r\rho} \\&#10;\boldsymbol{0} &amp; -\tilde{\boldsymbol{C}}_{r \rho }^T &amp; \tilde{\boldsymbol{C}}_{\rho}&#10;\end{bmatrix}&#10;$&#10;&#10;&#10;\end{document}" title="IguanaTex Bitmap Display">
            <a:extLst>
              <a:ext uri="{FF2B5EF4-FFF2-40B4-BE49-F238E27FC236}">
                <a16:creationId xmlns:a16="http://schemas.microsoft.com/office/drawing/2014/main" id="{BBD10E25-8A22-4848-9932-70D8957A816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468" y="3970358"/>
            <a:ext cx="2438932" cy="1026226"/>
          </a:xfrm>
          <a:prstGeom prst="rect">
            <a:avLst/>
          </a:prstGeom>
        </p:spPr>
      </p:pic>
      <p:pic>
        <p:nvPicPr>
          <p:cNvPr id="7" name="Picture 6" descr="\documentclass{article}&#10;\usepackage{amsmath}&#10;\usepackage{color}&#10;\pagestyle{empty}&#10;\begin{document}&#10;&#10;$&#10;\color{blue}&#10;\begin{aligned}&#10;\tilde{\boldsymbol{C}}_{r}&#10;&amp; = \sum_{i=0}^{n} \Bigl[&#10;m_i \boldsymbol{L}_i^T \bigl( \hat{\boldsymbol{\omega}}_0 \boldsymbol{L}_i + \dot{\boldsymbol{L}}_i \bigr)&#10;+ \boldsymbol{W}_i^T \boldsymbol{I}_i^0 \dot{\boldsymbol{W}}_i&#10;+ \boldsymbol{W}_i^T \boldsymbol{\Xi}_i \boldsymbol{W}_i \Bigr]&#10;\\&#10;\tilde{\boldsymbol{C}}_{r\rho}&#10;&amp; = \sum_{i=0}^{n} \Bigl[&#10;m_i \boldsymbol{L}_i^T \bigl( \hat{\boldsymbol{\omega}}_0 \tilde{\boldsymbol{A}}_i + \dot{\tilde{\boldsymbol{A}}}_i \bigr)&#10;+ \boldsymbol{W}_i^T \boldsymbol{I}_i^0 \dot{\boldsymbol{J}}_{\omega_i}^{q}&#10;+ \boldsymbol{W}_i^T \boldsymbol{\Xi}_i \boldsymbol{J}_{\omega_i}^{q} \Bigr]&#10;\\&#10;\tilde{\boldsymbol{C}}_{\rho}&#10;&amp; = \sum_{i=0}^{n} \Bigl[&#10;m_i \tilde{\boldsymbol{A}}_i^T \bigl( \hat{\boldsymbol{\omega}}_0 \tilde{\boldsymbol{A}}_i + \dot{\tilde{\boldsymbol{A}}}_i \bigr)&#10;+ \bigl(\boldsymbol{J}_{\omega_i}^{q}\bigr)^T \boldsymbol{I}_i^0 \dot{\boldsymbol{J}}_{\omega_i}^{q}&#10;+ \bigl(\boldsymbol{J}_{\omega_i}^{q}\bigr)^T \boldsymbol{\Xi}_i \boldsymbol{J}_{\omega_i}^{q} \Bigr]&#10;\end{aligned}&#10;$&#10;&#10;&#10;\end{document}" title="IguanaTex Bitmap Display">
            <a:extLst>
              <a:ext uri="{FF2B5EF4-FFF2-40B4-BE49-F238E27FC236}">
                <a16:creationId xmlns:a16="http://schemas.microsoft.com/office/drawing/2014/main" id="{702FDEB2-E527-43F7-8DE8-EF4AD9AD39A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228" y="3581930"/>
            <a:ext cx="6744391" cy="2294001"/>
          </a:xfrm>
          <a:prstGeom prst="rect">
            <a:avLst/>
          </a:prstGeom>
        </p:spPr>
      </p:pic>
      <p:pic>
        <p:nvPicPr>
          <p:cNvPr id="8" name="Picture 7" descr="\documentclass{article}&#10;\usepackage{amsmath}&#10;\usepackage{color}&#10;\pagestyle{empty}&#10;\begin{document}&#10;&#10;$&#10;\color{blue}&#10;\displaystyle&#10;\tilde{\boldsymbol{g}}&#10;= \begin{bmatrix} mg\boldsymbol{e}_3 \\ \boldsymbol{0} \\ \boldsymbol{0} \end{bmatrix}&#10;$&#10;&#10;&#10;\end{document}" title="IguanaTex Bitmap Display">
            <a:extLst>
              <a:ext uri="{FF2B5EF4-FFF2-40B4-BE49-F238E27FC236}">
                <a16:creationId xmlns:a16="http://schemas.microsoft.com/office/drawing/2014/main" id="{454FD719-7881-40B9-87B9-1F24B855F60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10" y="1964296"/>
            <a:ext cx="1295591" cy="8798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0AA4AB-275E-4A63-A54D-2E7EE27A01BB}"/>
              </a:ext>
            </a:extLst>
          </p:cNvPr>
          <p:cNvSpPr txBox="1"/>
          <p:nvPr/>
        </p:nvSpPr>
        <p:spPr>
          <a:xfrm>
            <a:off x="255922" y="1187650"/>
            <a:ext cx="7010338" cy="445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97" b="1" dirty="0">
                <a:latin typeface="Georgia" panose="02040502050405020303" pitchFamily="18" charset="0"/>
              </a:rPr>
              <a:t>Transformed Dynamic – Whole-body</a:t>
            </a:r>
            <a:endParaRPr lang="zh-CN" altLang="en-US" sz="2297" b="1" dirty="0">
              <a:latin typeface="Georgia" panose="02040502050405020303" pitchFamily="18" charset="0"/>
            </a:endParaRPr>
          </a:p>
        </p:txBody>
      </p:sp>
      <p:pic>
        <p:nvPicPr>
          <p:cNvPr id="10" name="Picture 9" descr="\documentclass{article}&#10;\usepackage{amsmath}&#10;\usepackage{color}&#10;\pagestyle{empty}&#10;\begin{document}&#10;&#10;$&#10;\color{blue}&#10;\begin{aligned}&#10;% (t,t)&#10;\tilde{\boldsymbol{M}}_{t} &#10;&amp;&#10;= m \boldsymbol{I}_3 &#10;\\&#10;% (r, r)&#10;\tilde{\boldsymbol{M}}_{r}&#10;&amp;&#10;= \sum_{i=0}^{n} \Bigl( m_i \boldsymbol{L}_i^{T} \boldsymbol{L}_i&#10;+ \boldsymbol{W}_i^{T} \boldsymbol{I}^{0}_i \boldsymbol{W}_i \Bigr)&#10;\end{aligned}&#10;$&#10;&#10;&#10;\end{document}" title="IguanaTex Bitmap Display">
            <a:extLst>
              <a:ext uri="{FF2B5EF4-FFF2-40B4-BE49-F238E27FC236}">
                <a16:creationId xmlns:a16="http://schemas.microsoft.com/office/drawing/2014/main" id="{E5B0E415-98DC-43B3-9849-1BEC9B74F12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9506" y="1830884"/>
            <a:ext cx="3615941" cy="1105280"/>
          </a:xfrm>
          <a:prstGeom prst="rect">
            <a:avLst/>
          </a:prstGeom>
        </p:spPr>
      </p:pic>
      <p:pic>
        <p:nvPicPr>
          <p:cNvPr id="11" name="Picture 10" descr="\documentclass{article}&#10;\usepackage{amsmath}&#10;\usepackage{color}&#10;\pagestyle{empty}&#10;\begin{document}&#10;&#10;$&#10;\color{blue}&#10;\tilde{\boldsymbol{M}}&#10;= \begin{bmatrix}&#10;\tilde{\boldsymbol{M}}_{t} &amp; \boldsymbol{0} &amp; \boldsymbol{0} \\&#10;\boldsymbol{0} &amp; \tilde{\boldsymbol{M}}_{r} &amp; \boldsymbol{0} \\&#10;\boldsymbol{0} &amp; \boldsymbol{0} &amp; \tilde{\boldsymbol{M}}_{\rho}&#10;\end{bmatrix}&#10;$&#10;&#10;&#10;\end{document}" title="IguanaTex Bitmap Display">
            <a:extLst>
              <a:ext uri="{FF2B5EF4-FFF2-40B4-BE49-F238E27FC236}">
                <a16:creationId xmlns:a16="http://schemas.microsoft.com/office/drawing/2014/main" id="{83EE7F09-B7B4-4644-AF2C-D9A7D5011FFC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664" y="2136093"/>
            <a:ext cx="2576540" cy="926678"/>
          </a:xfrm>
          <a:prstGeom prst="rect">
            <a:avLst/>
          </a:prstGeom>
        </p:spPr>
      </p:pic>
      <p:pic>
        <p:nvPicPr>
          <p:cNvPr id="12" name="Picture 11" descr="\documentclass{article}&#10;\usepackage{amsmath}&#10;\usepackage{color}&#10;\pagestyle{empty}&#10;\begin{document}&#10;&#10;$&#10;\color{blue}&#10;\tilde{\boldsymbol{M}}_{\rho}&#10;$&#10;&#10;&#10;\end{document}" title="IguanaTex Bitmap Display">
            <a:extLst>
              <a:ext uri="{FF2B5EF4-FFF2-40B4-BE49-F238E27FC236}">
                <a16:creationId xmlns:a16="http://schemas.microsoft.com/office/drawing/2014/main" id="{A2ADA32E-D225-469D-832E-E46DC967C8C3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952" y="3048356"/>
            <a:ext cx="393802" cy="30303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BEF7C8F-2464-4A99-908B-D23E7D810C3F}"/>
              </a:ext>
            </a:extLst>
          </p:cNvPr>
          <p:cNvSpPr txBox="1"/>
          <p:nvPr/>
        </p:nvSpPr>
        <p:spPr>
          <a:xfrm>
            <a:off x="4101401" y="3028595"/>
            <a:ext cx="2630276" cy="375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38" dirty="0">
                <a:latin typeface="Georgia" panose="02040502050405020303" pitchFamily="18" charset="0"/>
              </a:rPr>
              <a:t>will be computed first.</a:t>
            </a:r>
            <a:endParaRPr lang="zh-CN" altLang="en-US" sz="1838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747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3A6EDC-7616-4B40-BBB1-D8C43C0291D1}"/>
              </a:ext>
            </a:extLst>
          </p:cNvPr>
          <p:cNvSpPr txBox="1"/>
          <p:nvPr/>
        </p:nvSpPr>
        <p:spPr>
          <a:xfrm>
            <a:off x="167431" y="129533"/>
            <a:ext cx="7943036" cy="445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97" b="1" dirty="0">
                <a:latin typeface="Georgia" panose="02040502050405020303" pitchFamily="18" charset="0"/>
              </a:rPr>
              <a:t>Computation Flowchart – Transformed Dynamics</a:t>
            </a:r>
            <a:endParaRPr lang="zh-CN" altLang="en-US" sz="2297" b="1" dirty="0">
              <a:latin typeface="Georgia" panose="02040502050405020303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A251A85-6BAD-4399-9CCE-974C4B84613B}"/>
              </a:ext>
            </a:extLst>
          </p:cNvPr>
          <p:cNvCxnSpPr>
            <a:cxnSpLocks/>
          </p:cNvCxnSpPr>
          <p:nvPr/>
        </p:nvCxnSpPr>
        <p:spPr>
          <a:xfrm>
            <a:off x="0" y="674421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\documentclass{article}&#10;\usepackage{amsmath}&#10;\usepackage{color}&#10;\pagestyle{empty}&#10;\begin{document}&#10;&#10;$&#10;\color{blue}&#10;\boldsymbol{J}_y&#10;= \begin{bmatrix}&#10;\boldsymbol{I}_3 &amp; &#10;\boldsymbol{R}_0 \boldsymbol{L}_e &amp; &#10;\boldsymbol{R}_0 \tilde{\boldsymbol{A}}_e \\&#10;\boldsymbol{0}_{1\times 3} &amp; &#10;\boldsymbol{e}_3^T \boldsymbol{R}^e_0 \boldsymbol{W}_e &amp; &#10;\boldsymbol{e}_3^T \boldsymbol{R}^e_0 \boldsymbol{J}^q_{\omega_e}&#10;\end{bmatrix}&#10;$&#10;&#10;&#10;\end{document}" title="IguanaTex Bitmap Display">
            <a:extLst>
              <a:ext uri="{FF2B5EF4-FFF2-40B4-BE49-F238E27FC236}">
                <a16:creationId xmlns:a16="http://schemas.microsoft.com/office/drawing/2014/main" id="{9A97C4D9-F6F4-4018-BC94-B84963CB6ED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481" y="1931406"/>
            <a:ext cx="3825286" cy="607538"/>
          </a:xfrm>
          <a:prstGeom prst="rect">
            <a:avLst/>
          </a:prstGeom>
        </p:spPr>
      </p:pic>
      <p:pic>
        <p:nvPicPr>
          <p:cNvPr id="7" name="Picture 6" descr="\documentclass{article}&#10;\usepackage{amsmath}&#10;\usepackage{color}&#10;\pagestyle{empty}&#10;\begin{document}&#10;&#10;$&#10;\color{blue}&#10;\boldsymbol{\Lambda}_{y} = \left( \boldsymbol{J}_{y} \tilde{\boldsymbol{M}}^{-1} \boldsymbol{J}_{y}^{T} \right)^{-1}&#10;$&#10;&#10;&#10;\end{document}" title="IguanaTex Bitmap Display">
            <a:extLst>
              <a:ext uri="{FF2B5EF4-FFF2-40B4-BE49-F238E27FC236}">
                <a16:creationId xmlns:a16="http://schemas.microsoft.com/office/drawing/2014/main" id="{5DD23260-8B4D-4354-9164-840C3DEDE15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115" y="4291653"/>
            <a:ext cx="2346704" cy="494814"/>
          </a:xfrm>
          <a:prstGeom prst="rect">
            <a:avLst/>
          </a:prstGeom>
        </p:spPr>
      </p:pic>
      <p:pic>
        <p:nvPicPr>
          <p:cNvPr id="8" name="Picture 7" descr="\documentclass{article}&#10;\usepackage{amsmath}&#10;\usepackage{color}&#10;\pagestyle{empty}&#10;\begin{document}&#10;&#10;$&#10;\color{blue}&#10;\dot{\boldsymbol{J}}_y&#10;= \begin{bmatrix}&#10;\boldsymbol{R}_0&#10;\begin{bmatrix} \boldsymbol{0}_{3\times3} &amp; &#10;\hat{\omega}_0 \boldsymbol{L}_e + \dot{\boldsymbol{L}}_e &amp; &#10;\hat{\omega}_0 \tilde{\boldsymbol{A}}_e + \dot{\tilde{\boldsymbol{A}}}_e &#10;\end{bmatrix} \\&#10;\boldsymbol{e}_3^T \boldsymbol{R}_0^e &#10;\begin{bmatrix} \boldsymbol{0}_{3\times3} &amp; &#10;\dot{\boldsymbol{W}}_e - \hat{\omega}_{0e}^0 \boldsymbol{W}_e &amp; &#10;\dot{\boldsymbol{J}}^q_{\omega_e} - \hat{\omega}_{0e}^0 \boldsymbol{J}^q_{\omega_e} &#10;\end{bmatrix}&#10;\end{bmatrix}&#10;$&#10;&#10;&#10;\end{document}" title="IguanaTex Bitmap Display">
            <a:extLst>
              <a:ext uri="{FF2B5EF4-FFF2-40B4-BE49-F238E27FC236}">
                <a16:creationId xmlns:a16="http://schemas.microsoft.com/office/drawing/2014/main" id="{51A9EEDF-856B-4144-910F-AE046A89A83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53" y="2798584"/>
            <a:ext cx="5649356" cy="879831"/>
          </a:xfrm>
          <a:prstGeom prst="rect">
            <a:avLst/>
          </a:prstGeom>
        </p:spPr>
      </p:pic>
      <p:pic>
        <p:nvPicPr>
          <p:cNvPr id="9" name="Picture 8" descr="\documentclass{article}&#10;\usepackage{amsmath}&#10;\usepackage{color}&#10;\pagestyle{empty}&#10;\begin{document}&#10;&#10;$&#10;\color{blue}&#10;\boldsymbol{J}^{\dagger}_{y}&#10;=\tilde{\boldsymbol{M}}^{-1} \boldsymbol{J}^{T}_{y} \boldsymbol{\Lambda}_y&#10;$&#10;&#10;&#10;\end{document}" title="IguanaTex Bitmap Display">
            <a:extLst>
              <a:ext uri="{FF2B5EF4-FFF2-40B4-BE49-F238E27FC236}">
                <a16:creationId xmlns:a16="http://schemas.microsoft.com/office/drawing/2014/main" id="{41BAFE8D-85C5-4879-92BA-E297A31CE7F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258" y="5003447"/>
            <a:ext cx="1799187" cy="376234"/>
          </a:xfrm>
          <a:prstGeom prst="rect">
            <a:avLst/>
          </a:prstGeom>
        </p:spPr>
      </p:pic>
      <p:pic>
        <p:nvPicPr>
          <p:cNvPr id="10" name="Picture 9" descr="\documentclass{article}&#10;\usepackage{amsmath}&#10;\usepackage{color}&#10;\pagestyle{empty}&#10;\begin{document}&#10;&#10;$&#10;\color{blue}&#10;\left(&#10;\boldsymbol{J}^{\dagger}_{y}&#10;\right)^{T}&#10;=&#10;\begin{bmatrix}&#10;\bar{\boldsymbol{J}}_{1,y} &amp;&#10;\bar{\boldsymbol{J}}_{2,y} &amp;&#10;\bar{\boldsymbol{J}}_{3,y}&#10;\end{bmatrix}&#10;$&#10;&#10;&#10;\end{document}" title="IguanaTex Bitmap Display">
            <a:extLst>
              <a:ext uri="{FF2B5EF4-FFF2-40B4-BE49-F238E27FC236}">
                <a16:creationId xmlns:a16="http://schemas.microsoft.com/office/drawing/2014/main" id="{9D6FA3B7-D6F9-4084-BB45-01CBC7CD9ED4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2474" y="4960487"/>
            <a:ext cx="3011334" cy="497741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58FF3BCD-D6E5-4A6E-88DE-E7A9D7E01F1A}"/>
              </a:ext>
            </a:extLst>
          </p:cNvPr>
          <p:cNvSpPr/>
          <p:nvPr/>
        </p:nvSpPr>
        <p:spPr>
          <a:xfrm>
            <a:off x="322686" y="4373391"/>
            <a:ext cx="400310" cy="1009009"/>
          </a:xfrm>
          <a:prstGeom prst="rightArrow">
            <a:avLst>
              <a:gd name="adj1" fmla="val 50000"/>
              <a:gd name="adj2" fmla="val 6821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66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0DBC4A-104F-4E21-B92F-060CFF8E36A4}"/>
              </a:ext>
            </a:extLst>
          </p:cNvPr>
          <p:cNvSpPr txBox="1"/>
          <p:nvPr/>
        </p:nvSpPr>
        <p:spPr>
          <a:xfrm>
            <a:off x="167431" y="1252936"/>
            <a:ext cx="7010338" cy="445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97" b="1" dirty="0">
                <a:latin typeface="Georgia" panose="02040502050405020303" pitchFamily="18" charset="0"/>
              </a:rPr>
              <a:t>Transformed Dynamic – End-effector</a:t>
            </a:r>
            <a:endParaRPr lang="zh-CN" altLang="en-US" sz="2297" b="1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524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3A6EDC-7616-4B40-BBB1-D8C43C0291D1}"/>
              </a:ext>
            </a:extLst>
          </p:cNvPr>
          <p:cNvSpPr txBox="1"/>
          <p:nvPr/>
        </p:nvSpPr>
        <p:spPr>
          <a:xfrm>
            <a:off x="167431" y="129533"/>
            <a:ext cx="7943036" cy="445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97" b="1" dirty="0">
                <a:latin typeface="Georgia" panose="02040502050405020303" pitchFamily="18" charset="0"/>
              </a:rPr>
              <a:t>Computation Flowchart – Transformed Dynamics</a:t>
            </a:r>
            <a:endParaRPr lang="zh-CN" altLang="en-US" sz="2297" b="1" dirty="0">
              <a:latin typeface="Georgia" panose="02040502050405020303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A251A85-6BAD-4399-9CCE-974C4B84613B}"/>
              </a:ext>
            </a:extLst>
          </p:cNvPr>
          <p:cNvCxnSpPr>
            <a:cxnSpLocks/>
          </p:cNvCxnSpPr>
          <p:nvPr/>
        </p:nvCxnSpPr>
        <p:spPr>
          <a:xfrm>
            <a:off x="0" y="674421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1894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6.7677"/>
  <p:tag name="ORIGINALWIDTH" val="849.1185"/>
  <p:tag name="OUTPUTTYPE" val="PNG"/>
  <p:tag name="IGUANATEXVERSION" val="160"/>
  <p:tag name="LATEXADDIN" val="\documentclass{article}&#10;\usepackage{amsmath}&#10;\pagestyle{empty}&#10;\begin{document}&#10;&#10;$&#10;\boldsymbol{X}&#10;=&#10;\left(&#10;\boldsymbol{r}_0,&#10;\boldsymbol{R}_0,&#10;\boldsymbol{q}&#10;\right)&#10;$&#10;&#10;&#10;\end{document}"/>
  <p:tag name="IGUANATEXSIZE" val="20"/>
  <p:tag name="IGUANATEXCURSOR" val="165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5257"/>
  <p:tag name="ORIGINALWIDTH" val="1286.43"/>
  <p:tag name="OUTPUTTYPE" val="PNG"/>
  <p:tag name="IGUANATEXVERSION" val="160"/>
  <p:tag name="LATEXADDIN" val="\documentclass{article}&#10;\usepackage{amsmath}&#10;\pagestyle{empty}&#10;\begin{document}&#10;&#10;$&#10;\boldsymbol{V}&#10;= \begin{bmatrix}&#10;{\boldsymbol{v}_0}^T &amp;&#10;{\boldsymbol{\omega}_0}^T &amp;&#10;{\dot{\boldsymbol{q}}}^T&#10;\end{bmatrix}^T&#10;$&#10;&#10;&#10;\end{document}"/>
  <p:tag name="IGUANATEXSIZE" val="20"/>
  <p:tag name="IGUANATEXCURSOR" val="207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0.0838"/>
  <p:tag name="ORIGINALWIDTH" val="3672.512"/>
  <p:tag name="OUTPUTTYPE" val="PNG"/>
  <p:tag name="IGUANATEXVERSION" val="160"/>
  <p:tag name="LATEXADDIN" val="\documentclass{article}&#10;\usepackage{amsmath}&#10;\pagestyle{empty}&#10;\begin{document}&#10;&#10;$&#10;\boldsymbol{R}_{i}^{0}(\boldsymbol{q})&#10;= \begin{cases}&#10;\boldsymbol{I}_{3}, &#10;&amp; i = 0. \\&#10;\displaystyle \prod_{j=1}^{i} \boldsymbol{R}_{j}^{j-1}(q_j) = \boldsymbol{R}_{1}^{0}(q_1) \boldsymbol{R}_{2}^{1}(q_2) \cdots \boldsymbol{R}_{i}^{i-1}(q_{i}),&#10;&amp; i = 1,\ldots,n.&#10;\end{cases}&#10;$&#10;&#10;&#10;\end{document}"/>
  <p:tag name="IGUANATEXSIZE" val="20"/>
  <p:tag name="IGUANATEXCURSOR" val="358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5.8024"/>
  <p:tag name="ORIGINALWIDTH" val="2075.54"/>
  <p:tag name="OUTPUTTYPE" val="PNG"/>
  <p:tag name="IGUANATEXVERSION" val="160"/>
  <p:tag name="LATEXADDIN" val="\documentclass{article}&#10;\usepackage{amsmath}&#10;\pagestyle{empty}&#10;\begin{document}&#10;&#10;$&#10;\boldsymbol{h}_i^0(\boldsymbol{q}) &#10;= \begin{cases}&#10;\boldsymbol{0}_{3},&#10;&amp; i=0.&#10;\\&#10;\boldsymbol{R}_{i-1}^0(\boldsymbol{q}) \boldsymbol{h}_i^{i-1},&#10;&amp; i=1,\ldots,n.&#10;\end{cases}&#10;$&#10;&#10;&#10;\end{document}"/>
  <p:tag name="IGUANATEXSIZE" val="20"/>
  <p:tag name="IGUANATEXCURSOR" val="255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7.7706"/>
  <p:tag name="ORIGINALWIDTH" val="726.8514"/>
  <p:tag name="OUTPUTTYPE" val="PNG"/>
  <p:tag name="IGUANATEXVERSION" val="160"/>
  <p:tag name="LATEXADDIN" val="\documentclass{article}&#10;\usepackage{amsmath}&#10;\usepackage{color}&#10;\pagestyle{empty}&#10;\begin{document}&#10;&#10;$&#10;\color{blue}&#10;\boldsymbol{I}_{i}^{0}&#10;= \boldsymbol{R}_{i}^{0} \boldsymbol{I}_{i}^{i} \boldsymbol{R}_{0}^{i}&#10;$&#10;&#10;&#10;\end{document}"/>
  <p:tag name="IGUANATEXSIZE" val="20"/>
  <p:tag name="IGUANATEXCURSOR" val="114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1.5505"/>
  <p:tag name="ORIGINALWIDTH" val="3993.557"/>
  <p:tag name="OUTPUTTYPE" val="PNG"/>
  <p:tag name="IGUANATEXVERSION" val="160"/>
  <p:tag name="LATEXADDIN" val="\documentclass{article}&#10;\usepackage{amsmath}&#10;\pagestyle{empty}&#10;\begin{document}&#10;&#10;$&#10;\displaystyle&#10;\boldsymbol{R}^{0}_{e}(\boldsymbol{q})&#10;= \prod_{j=1}^{n} \boldsymbol{R}^{j-1}_{j}(q_j)&#10;= \boldsymbol{R}^{0}_{1}(q_1) \boldsymbol{R}^{1}_{2}(q_2) \cdots \boldsymbol{R}^{n-1}_{n}(q_n),&#10;\quad &#10;\left( \boldsymbol{R}^{0}_{e}(\boldsymbol{q}) = \boldsymbol{R}^{0}_{n}(\boldsymbol{q}) \right).&#10;$&#10;&#10;&#10;\end{document}"/>
  <p:tag name="IGUANATEXSIZE" val="20"/>
  <p:tag name="IGUANATEXCURSOR" val="382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4.298"/>
  <p:tag name="ORIGINALWIDTH" val="1332.936"/>
  <p:tag name="OUTPUTTYPE" val="PNG"/>
  <p:tag name="IGUANATEXVERSION" val="160"/>
  <p:tag name="LATEXADDIN" val="\documentclass{article}&#10;\usepackage{amsmath}&#10;\usepackage{color}&#10;\pagestyle{empty}&#10;\begin{document}&#10;&#10;$&#10;\displaystyle&#10;\boldsymbol{r}_{0c}^{0}(\boldsymbol{q})&#10;= \frac{1}{m} \sum_{i=1}^{n} m_i \boldsymbol{r}_{0i}^{0}(\boldsymbol{q})&#10;$&#10;&#10;&#10;\end{document}"/>
  <p:tag name="IGUANATEXSIZE" val="20"/>
  <p:tag name="IGUANATEXCURSOR" val="228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5.0482"/>
  <p:tag name="ORIGINALWIDTH" val="1395.195"/>
  <p:tag name="OUTPUTTYPE" val="PNG"/>
  <p:tag name="IGUANATEXVERSION" val="160"/>
  <p:tag name="LATEXADDIN" val="\documentclass{article}&#10;\usepackage{amsmath}&#10;\usepackage{color}&#10;\pagestyle{empty}&#10;\begin{document}&#10;&#10;$&#10;\color{blue}&#10;\displaystyle&#10;\boldsymbol{A}&#10;:= \dfrac{\partial \boldsymbol{r}_{0c}^{0}}{\partial \boldsymbol{q}}&#10;= \dfrac{1}{m}\sum_{i=0}^{n}m_i\boldsymbol{A}_i&#10;$&#10;&#10;&#10;\end{document}"/>
  <p:tag name="IGUANATEXSIZE" val="20"/>
  <p:tag name="IGUANATEXCURSOR" val="128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0.021"/>
  <p:tag name="ORIGINALWIDTH" val="770.3575"/>
  <p:tag name="OUTPUTTYPE" val="PNG"/>
  <p:tag name="IGUANATEXVERSION" val="160"/>
  <p:tag name="LATEXADDIN" val="\documentclass{article}&#10;\usepackage{amsmath}&#10;\usepackage{color}&#10;\pagestyle{empty}&#10;\begin{document}&#10;&#10;$&#10;\color{blue}&#10;\boldsymbol{d}_i^{0}&#10;= \boldsymbol{r}_{0i}^{0}&#10;- \boldsymbol{r}_{0c}^{0}&#10;$&#10;&#10;&#10;\end{document}"/>
  <p:tag name="IGUANATEXSIZE" val="20"/>
  <p:tag name="IGUANATEXCURSOR" val="187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7.2691"/>
  <p:tag name="ORIGINALWIDTH" val="718.6003"/>
  <p:tag name="OUTPUTTYPE" val="PNG"/>
  <p:tag name="IGUANATEXVERSION" val="160"/>
  <p:tag name="LATEXADDIN" val="\documentclass{article}&#10;\usepackage{amsmath}&#10;\usepackage{color}&#10;\pagestyle{empty}&#10;\begin{document}&#10;&#10;$&#10;\color{blue}&#10;\tilde{\boldsymbol{A}}_i&#10;= \boldsymbol{A}_i-\boldsymbol{A}&#10;$&#10;&#10;&#10;\end{document}"/>
  <p:tag name="IGUANATEXSIZE" val="20"/>
  <p:tag name="IGUANATEXCURSOR" val="173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1.5505"/>
  <p:tag name="ORIGINALWIDTH" val="1123.657"/>
  <p:tag name="OUTPUTTYPE" val="PNG"/>
  <p:tag name="IGUANATEXVERSION" val="160"/>
  <p:tag name="LATEXADDIN" val="\documentclass{article}&#10;\usepackage{amsmath}&#10;\usepackage{color}&#10;\pagestyle{empty}&#10;\begin{document}&#10;&#10;$&#10;\displaystyle&#10;\boldsymbol{r}^{0}_{0e}(\boldsymbol{q})&#10;= \sum_{j=1}^{n} \boldsymbol{R}^{0}_{j}(\boldsymbol{q}) \boldsymbol{l}_j&#10;$&#10;&#10;&#10;\end{document}"/>
  <p:tag name="IGUANATEXSIZE" val="20"/>
  <p:tag name="IGUANATEXCURSOR" val="228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917"/>
  <p:tag name="ORIGINALWIDTH" val="3370.22"/>
  <p:tag name="OUTPUTTYPE" val="PNG"/>
  <p:tag name="IGUANATEXVERSION" val="160"/>
  <p:tag name="LATEXADDIN" val="\documentclass{article}&#10;\usepackage{amsmath}&#10;\usepackage{color}&#10;\pagestyle{empty}&#10;\begin{document}&#10;&#10;$&#10;\color{blue}&#10;\boldsymbol{A}_e&#10;:= \dfrac{\partial \boldsymbol{r}_{0e}^{0}}{\partial \boldsymbol{q}}, \quad&#10;[\boldsymbol{A}_e]_{:,k} =&#10;\boldsymbol{h}_k^0 \times \left(\boldsymbol{r}_{0e}^0 - \boldsymbol{r}_{0,O_{k-1}}^0\right), \quad k = 1,\dots,n.&#10;$&#10;&#10;&#10;\end{document}"/>
  <p:tag name="IGUANATEXSIZE" val="20"/>
  <p:tag name="IGUANATEXCURSOR" val="348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7.2691"/>
  <p:tag name="ORIGINALWIDTH" val="742.6036"/>
  <p:tag name="OUTPUTTYPE" val="PNG"/>
  <p:tag name="IGUANATEXVERSION" val="160"/>
  <p:tag name="LATEXADDIN" val="\documentclass{article}&#10;\usepackage{amsmath}&#10;\usepackage{color}&#10;\pagestyle{empty}&#10;\begin{document}&#10;&#10;$&#10;\color{blue}&#10;\tilde{\boldsymbol{A}}_e &#10;= \boldsymbol{A}_e - \boldsymbol{A}&#10;$&#10;&#10;&#10;\end{document}"/>
  <p:tag name="IGUANATEXSIZE" val="20"/>
  <p:tag name="IGUANATEXCURSOR" val="176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8.5207"/>
  <p:tag name="ORIGINALWIDTH" val="782.3592"/>
  <p:tag name="OUTPUTTYPE" val="PNG"/>
  <p:tag name="IGUANATEXVERSION" val="160"/>
  <p:tag name="LATEXADDIN" val="\documentclass{article}&#10;\usepackage{amsmath}&#10;\usepackage{color}&#10;\pagestyle{empty}&#10;\begin{document}&#10;&#10;$&#10;\color{blue}&#10;\boldsymbol{d}^0_e &#10;= \boldsymbol{r}^0_{0e} - \boldsymbol{r}^0_{0c}&#10;$&#10;&#10;&#10;\end{document}"/>
  <p:tag name="IGUANATEXSIZE" val="20"/>
  <p:tag name="IGUANATEXCURSOR" val="182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81.0532"/>
  <p:tag name="ORIGINALWIDTH" val="2011.031"/>
  <p:tag name="OUTPUTTYPE" val="PNG"/>
  <p:tag name="IGUANATEXVERSION" val="160"/>
  <p:tag name="LATEXADDIN" val="\documentclass{article}&#10;\usepackage{amsmath}&#10;\usepackage{color}&#10;\pagestyle{empty}&#10;\begin{document}&#10;&#10;$&#10;\displaystyle&#10;\boldsymbol{r}_{0,O_{i}}^0(\boldsymbol{q}) &#10;= \sum_{j=1}^{i} \boldsymbol{R}_j^0 \boldsymbol{l}_j, &#10;\quad&#10;i=0,1,\ldots,n.&#10;$&#10;&#10;&#10;\end{document}"/>
  <p:tag name="IGUANATEXSIZE" val="20"/>
  <p:tag name="IGUANATEXCURSOR" val="159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90.8046"/>
  <p:tag name="ORIGINALWIDTH" val="3848.787"/>
  <p:tag name="OUTPUTTYPE" val="PNG"/>
  <p:tag name="IGUANATEXVERSION" val="160"/>
  <p:tag name="LATEXADDIN" val="\documentclass{article}&#10;\usepackage{amsmath}&#10;\usepackage{color}&#10;\pagestyle{empty}&#10;\begin{document}&#10;&#10;$&#10;\color{blue}&#10;\boldsymbol{A}_i&#10;:= \dfrac{\partial \boldsymbol{r}_{0i}^{0}}{\partial \boldsymbol{q}}, \quad&#10;[\boldsymbol{A}_i]_{:,k} =&#10;\begin{cases}&#10;\boldsymbol{h}_k^0 \times \left(\boldsymbol{r}_{0i}^0 - \boldsymbol{r}_{0,O_{k-1}}^0\right), &amp; k \leq i, \\&#10;\boldsymbol{0}, &amp; k &gt; i,&#10;\end{cases}&#10;\quad i=0,\ldots,n.&#10;$&#10;&#10;&#10;\end{document}"/>
  <p:tag name="IGUANATEXSIZE" val="20"/>
  <p:tag name="IGUANATEXCURSOR" val="413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50.8129"/>
  <p:tag name="ORIGINALWIDTH" val="2562.357"/>
  <p:tag name="OUTPUTTYPE" val="PNG"/>
  <p:tag name="IGUANATEXVERSION" val="160"/>
  <p:tag name="LATEXADDIN" val="\documentclass{article}&#10;\usepackage{amsmath}&#10;\pagestyle{empty}&#10;\begin{document}&#10;&#10;$&#10;\boldsymbol{r}_{0i}^0(\boldsymbol{q}) =&#10;\begin{cases}&#10;\boldsymbol{0}_3, &amp; i = 0, \\&#10;\boldsymbol{r}_{0,O_{i-1}}^0(\boldsymbol{q}) + \boldsymbol{R}_i^0(\boldsymbol{q})\dfrac{\boldsymbol{l}_i}{2}, &amp; i = 1,\dots,n.&#10;\end{cases}&#10;$&#10;&#10;&#10;\end{document}"/>
  <p:tag name="IGUANATEXSIZE" val="20"/>
  <p:tag name="IGUANATEXCURSOR" val="211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7.0206"/>
  <p:tag name="ORIGINALWIDTH" val="711.8494"/>
  <p:tag name="OUTPUTTYPE" val="PNG"/>
  <p:tag name="IGUANATEXVERSION" val="160"/>
  <p:tag name="LATEXADDIN" val="\documentclass{article}&#10;\usepackage{amsmath}&#10;\pagestyle{empty}&#10;\begin{document}&#10;&#10;$&#10;\dot{\boldsymbol{r}}_{0i}^{0}(\boldsymbol{q})&#10;= \boldsymbol{A}_i \dot{\boldsymbol{q}} &#10;$&#10;&#10;&#10;\end{document}"/>
  <p:tag name="IGUANATEXSIZE" val="20"/>
  <p:tag name="IGUANATEXCURSOR" val="128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90.8046"/>
  <p:tag name="ORIGINALWIDTH" val="3325.964"/>
  <p:tag name="OUTPUTTYPE" val="PNG"/>
  <p:tag name="IGUANATEXVERSION" val="160"/>
  <p:tag name="LATEXADDIN" val="\documentclass{article}&#10;\usepackage{amsmath}&#10;\pagestyle{empty}&#10;\begin{document}&#10;&#10;$&#10;\dot{\boldsymbol{J}}_{\omega_i}^{q}(\boldsymbol{q})&#10;= \begin{cases}&#10;\boldsymbol{0}_{3 \times n},&#10;&amp; i=0.&#10;\\&#10;\begin{bmatrix}&#10;\dot{\boldsymbol{h}}_{1}^{0}&#10;&amp; \dot{\boldsymbol{h}}_{2}^{0}&#10;&amp; \cdots&#10;&amp; \dot{\boldsymbol{h}}_{i}^{0}&#10;&amp; \boldsymbol{0}_3&#10;&amp; \cdots&#10;&amp; \boldsymbol{0}_3&#10;\end{bmatrix},&#10;&amp; i=1,\ldots,n.&#10;\end{cases}&#10;$&#10;&#10;&#10;\end{document}"/>
  <p:tag name="IGUANATEXSIZE" val="20"/>
  <p:tag name="IGUANATEXCURSOR" val="134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0.0838"/>
  <p:tag name="ORIGINALWIDTH" val="1804.752"/>
  <p:tag name="OUTPUTTYPE" val="PNG"/>
  <p:tag name="IGUANATEXVERSION" val="160"/>
  <p:tag name="LATEXADDIN" val="\documentclass{article}&#10;\usepackage{amsmath}&#10;\pagestyle{empty}&#10;\begin{document}&#10;&#10;$&#10;\dot{\boldsymbol{h}}_i^0 &#10;= \begin{cases}&#10;\boldsymbol{0}, &amp; i = 0, \\&#10;\displaystyle\sum_{j=1}^{i-1} \hat{\boldsymbol{h}}_j^0 \boldsymbol{h}_i^0 \dot{q}_j, &amp; i = 1,\dots,n.&#10;\end{cases}&#10;$&#10;&#10;&#10;\end{document}"/>
  <p:tag name="IGUANATEXSIZE" val="20"/>
  <p:tag name="IGUANATEXCURSOR" val="266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90.8046"/>
  <p:tag name="ORIGINALWIDTH" val="3721.269"/>
  <p:tag name="OUTPUTTYPE" val="PNG"/>
  <p:tag name="IGUANATEXVERSION" val="160"/>
  <p:tag name="LATEXADDIN" val="\documentclass{article}&#10;\usepackage{amsmath}&#10;\pagestyle{empty}&#10;\begin{document}&#10;&#10;$&#10;\boldsymbol{J}_{\omega_i}^q(\boldsymbol{q})&#10;= \begin{cases}&#10;\boldsymbol{0}_{3 \times n},&#10;&amp; i=0.&#10;\\&#10;\begin{bmatrix}&#10;\boldsymbol{h}_1^0(\boldsymbol{q}) &amp;&#10;\boldsymbol{h}_2^0(\boldsymbol{q}) &amp;&#10;\cdots &amp;&#10;\boldsymbol{h}_i^0(\boldsymbol{q}) &amp;&#10;\boldsymbol{0} &amp;&#10;\cdots &amp;&#10;\boldsymbol{0}&#10;\end{bmatrix},&#10;&amp; i=1,\ldots,n.&#10;\end{cases}&#10;$&#10;&#10;&#10;\end{document}"/>
  <p:tag name="IGUANATEXSIZE" val="20"/>
  <p:tag name="IGUANATEXCURSOR" val="373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7.0206"/>
  <p:tag name="ORIGINALWIDTH" val="679.5948"/>
  <p:tag name="OUTPUTTYPE" val="PNG"/>
  <p:tag name="IGUANATEXVERSION" val="160"/>
  <p:tag name="LATEXADDIN" val="\documentclass{article}&#10;\usepackage{amsmath}&#10;\pagestyle{empty}&#10;\begin{document}&#10;&#10;$&#10;\dot{\boldsymbol{r}}_{0c}^{0}(\boldsymbol{q})&#10;= \boldsymbol{A} \dot{\boldsymbol{q}} &#10;$&#10;&#10;&#10;\end{document}"/>
  <p:tag name="IGUANATEXSIZE" val="20"/>
  <p:tag name="IGUANATEXCURSOR" val="145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9.5195"/>
  <p:tag name="ORIGINALWIDTH" val="916.6279"/>
  <p:tag name="OUTPUTTYPE" val="PNG"/>
  <p:tag name="IGUANATEXVERSION" val="160"/>
  <p:tag name="LATEXADDIN" val="\documentclass{article}&#10;\usepackage{amsmath}&#10;\pagestyle{empty}&#10;\begin{document}&#10;&#10;$&#10;\boldsymbol{J}_{\omega_e}^{q}(\boldsymbol{q})&#10;= \boldsymbol{J}_{\omega_n}^{q}(\boldsymbol{q})&#10;$&#10;&#10;&#10;\end{document}"/>
  <p:tag name="IGUANATEXSIZE" val="20"/>
  <p:tag name="IGUANATEXCURSOR" val="155"/>
  <p:tag name="TRANSPARENCY" val="True"/>
  <p:tag name="FILENAME" val=""/>
  <p:tag name="LATEXENGINEID" val="1"/>
  <p:tag name="TEMPFOLDER" val="D:\Program Files\IguanaTex\"/>
  <p:tag name="LATEXFORMHEIGHT" val="378"/>
  <p:tag name="LATEXFORMWIDTH" val="416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8.7735"/>
  <p:tag name="ORIGINALWIDTH" val="916.6279"/>
  <p:tag name="OUTPUTTYPE" val="PNG"/>
  <p:tag name="IGUANATEXVERSION" val="160"/>
  <p:tag name="LATEXADDIN" val="\documentclass{article}&#10;\usepackage{amsmath}&#10;\pagestyle{empty}&#10;\begin{document}&#10;&#10;$&#10;\dot{\boldsymbol{J}}_{\omega_e}^{q}(\boldsymbol{q})&#10;= \dot{\boldsymbol{J}}_{\omega_n}^{q}(\boldsymbol{q})&#10;$&#10;&#10;&#10;\end{document}"/>
  <p:tag name="IGUANATEXSIZE" val="20"/>
  <p:tag name="IGUANATEXCURSOR" val="159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0.0838"/>
  <p:tag name="ORIGINALWIDTH" val="2179.054"/>
  <p:tag name="OUTPUTTYPE" val="PNG"/>
  <p:tag name="IGUANATEXVERSION" val="160"/>
  <p:tag name="LATEXADDIN" val="\documentclass{article}&#10;\usepackage{amsmath}&#10;\pagestyle{empty}&#10;\begin{document}&#10;&#10;$&#10;\dot{\boldsymbol{r}}_{0,O_i}^0(\boldsymbol{q}) &#10;= \begin{cases}&#10;\boldsymbol{0}, &amp; i = 0, \\&#10;\displaystyle\sum_{j=1}^{i} \hat{\boldsymbol{\omega}}_{0j}^0 \boldsymbol{R}_j^0 \boldsymbol{l}_j, &amp; i = 1,\dots,n.&#10;\end{cases}&#10;$&#10;&#10;&#10;\end{document}"/>
  <p:tag name="IGUANATEXSIZE" val="20"/>
  <p:tag name="IGUANATEXCURSOR" val="133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5.8024"/>
  <p:tag name="ORIGINALWIDTH" val="1709.489"/>
  <p:tag name="OUTPUTTYPE" val="PNG"/>
  <p:tag name="IGUANATEXVERSION" val="160"/>
  <p:tag name="LATEXADDIN" val="\documentclass{article}&#10;\usepackage{amsmath}&#10;\pagestyle{empty}&#10;\begin{document}&#10;&#10;$&#10;\boldsymbol{\omega}_i^0 &#10;= \begin{cases}&#10;\boldsymbol{\omega}_0, &#10;&amp; i=0.&#10;\\&#10;\boldsymbol{\omega}_0 + \boldsymbol{\omega}_{0i}^0, &#10;&amp; i=1,\ldots,n.&#10;\end{cases}&#10;$&#10;&#10;&#10;\end{document}"/>
  <p:tag name="IGUANATEXSIZE" val="20"/>
  <p:tag name="IGUANATEXCURSOR" val="238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5.8024"/>
  <p:tag name="ORIGINALWIDTH" val="1698.237"/>
  <p:tag name="OUTPUTTYPE" val="PNG"/>
  <p:tag name="IGUANATEXVERSION" val="160"/>
  <p:tag name="LATEXADDIN" val="\documentclass{article}&#10;\usepackage{amsmath}&#10;\pagestyle{empty}&#10;\begin{document}&#10;&#10;$&#10;\boldsymbol{\omega}_{0i}^0&#10;= \begin{cases}&#10;\boldsymbol{0}_{3},&#10;&amp; i=0.&#10;\\&#10;\displaystyle  \boldsymbol{J}_{\omega_i}^q(\boldsymbol{q}) \dot{\boldsymbol{q}},&#10;&amp; i=1,\ldots,n.&#10;\end{cases}&#10;$&#10;&#10;&#10;\end{document}"/>
  <p:tag name="IGUANATEXSIZE" val="20"/>
  <p:tag name="IGUANATEXCURSOR" val="170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6.5232"/>
  <p:tag name="ORIGINALWIDTH" val="718.6003"/>
  <p:tag name="OUTPUTTYPE" val="PNG"/>
  <p:tag name="IGUANATEXVERSION" val="160"/>
  <p:tag name="LATEXADDIN" val="\documentclass{article}&#10;\usepackage{amsmath}&#10;\usepackage{color}&#10;\pagestyle{empty}&#10;\begin{document}&#10;&#10;$&#10;\color{blue}&#10;\dot{\tilde{\boldsymbol{A}}}_i &#10;= \dot{\boldsymbol{A}}_i - \dot{\boldsymbol{A}}&#10;$&#10;&#10;&#10;\end{document}"/>
  <p:tag name="IGUANATEXSIZE" val="20"/>
  <p:tag name="IGUANATEXCURSOR" val="147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7.2985"/>
  <p:tag name="ORIGINALWIDTH" val="1395.195"/>
  <p:tag name="OUTPUTTYPE" val="PNG"/>
  <p:tag name="IGUANATEXVERSION" val="160"/>
  <p:tag name="LATEXADDIN" val="\documentclass{article}&#10;\usepackage{amsmath}&#10;\usepackage{color}&#10;\pagestyle{empty}&#10;\begin{document}&#10;&#10;$&#10;\color{blue}&#10;\displaystyle&#10;\dot{\boldsymbol{A}}&#10;:= \dfrac{\partial \dot{\boldsymbol{r}}_{0c}^0}{\partial \boldsymbol{q}}&#10;= \dfrac{1}{m}\sum_{i=0}^{n} m_i \dot{\boldsymbol{A}}_i&#10;$&#10;&#10;&#10;\end{document}"/>
  <p:tag name="IGUANATEXSIZE" val="20"/>
  <p:tag name="IGUANATEXCURSOR" val="128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7.0247"/>
  <p:tag name="ORIGINALWIDTH" val="512.3215"/>
  <p:tag name="OUTPUTTYPE" val="PNG"/>
  <p:tag name="IGUANATEXVERSION" val="160"/>
  <p:tag name="LATEXADDIN" val="\documentclass{article}&#10;\usepackage{amsmath}&#10;\usepackage{color}&#10;\pagestyle{empty}&#10;\begin{document}&#10;&#10;$&#10;\color{blue}&#10;\dot{\boldsymbol{d}}_i^0 &#10;= \tilde{\boldsymbol{A}}_i \dot{\boldsymbol{q}}&#10;$&#10;&#10;&#10;\end{document}"/>
  <p:tag name="IGUANATEXSIZE" val="20"/>
  <p:tag name="IGUANATEXCURSOR" val="140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6.2746"/>
  <p:tag name="ORIGINALWIDTH" val="746.3542"/>
  <p:tag name="OUTPUTTYPE" val="PNG"/>
  <p:tag name="IGUANATEXVERSION" val="160"/>
  <p:tag name="LATEXADDIN" val="\documentclass{article}&#10;\usepackage{amsmath}&#10;\usepackage{color}&#10;\pagestyle{empty}&#10;\begin{document}&#10;&#10;$&#10;\color{blue}&#10;\dot{\boldsymbol{I}}_i^0&#10;= \boldsymbol{\Xi}_i + \boldsymbol{\Xi}_i^T&#10;$&#10;&#10;&#10;\end{document}"/>
  <p:tag name="IGUANATEXSIZE" val="20"/>
  <p:tag name="IGUANATEXCURSOR" val="139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.2709"/>
  <p:tag name="ORIGINALWIDTH" val="999.1395"/>
  <p:tag name="OUTPUTTYPE" val="PNG"/>
  <p:tag name="IGUANATEXVERSION" val="160"/>
  <p:tag name="LATEXADDIN" val="\documentclass{article}&#10;\usepackage{amsmath}&#10;\usepackage{color}&#10;\pagestyle{empty}&#10;\begin{document}&#10;&#10;$&#10;\color{blue}&#10;\boldsymbol{\Xi}_i&#10;= \hat{\boldsymbol{\omega}}_i^0 \boldsymbol{I}_i^0&#10;+ \boldsymbol{I}_i^0 \hat{\boldsymbol{\omega}}_0&#10;$&#10;&#10;&#10;\end{document}"/>
  <p:tag name="IGUANATEXSIZE" val="20"/>
  <p:tag name="IGUANATEXCURSOR" val="233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7.2691"/>
  <p:tag name="ORIGINALWIDTH" val="467.3152"/>
  <p:tag name="OUTPUTTYPE" val="PNG"/>
  <p:tag name="IGUANATEXVERSION" val="160"/>
  <p:tag name="LATEXADDIN" val="\documentclass{article}&#10;\usepackage{amsmath}&#10;\pagestyle{empty}&#10;\begin{document}&#10;&#10;$&#10;\boldsymbol{\omega}_e^0&#10;= \boldsymbol{\omega}_n^0&#10;$&#10;&#10;&#10;\end{document}"/>
  <p:tag name="IGUANATEXSIZE" val="20"/>
  <p:tag name="IGUANATEXCURSOR" val="130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8.7694"/>
  <p:tag name="ORIGINALWIDTH" val="564.0787"/>
  <p:tag name="OUTPUTTYPE" val="PNG"/>
  <p:tag name="IGUANATEXVERSION" val="160"/>
  <p:tag name="LATEXADDIN" val="\documentclass{article}&#10;\usepackage{amsmath}&#10;\pagestyle{empty}&#10;\begin{document}&#10;&#10;$&#10;\boldsymbol{\omega}_{0e}^{0}&#10;= \boldsymbol{\omega}_{0n}^{0}&#10;$&#10;&#10;&#10;\end{document}"/>
  <p:tag name="IGUANATEXSIZE" val="20"/>
  <p:tag name="IGUANATEXCURSOR" val="137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6.5232"/>
  <p:tag name="ORIGINALWIDTH" val="742.6036"/>
  <p:tag name="OUTPUTTYPE" val="PNG"/>
  <p:tag name="IGUANATEXVERSION" val="160"/>
  <p:tag name="LATEXADDIN" val="\documentclass{article}&#10;\usepackage{amsmath}&#10;\usepackage{color}&#10;\pagestyle{empty}&#10;\begin{document}&#10;&#10;$&#10;\color{blue}&#10;\dot{\tilde{\boldsymbol{A}}}_e &#10;= \dot{\boldsymbol{A}}_e - \dot{\boldsymbol{A}}&#10;$&#10;&#10;&#10;\end{document}"/>
  <p:tag name="IGUANATEXSIZE" val="20"/>
  <p:tag name="IGUANATEXCURSOR" val="171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7.0247"/>
  <p:tag name="ORIGINALWIDTH" val="524.3231"/>
  <p:tag name="OUTPUTTYPE" val="PNG"/>
  <p:tag name="IGUANATEXVERSION" val="160"/>
  <p:tag name="LATEXADDIN" val="\documentclass{article}&#10;\usepackage{amsmath}&#10;\usepackage{color}&#10;\pagestyle{empty}&#10;\begin{document}&#10;&#10;$&#10;\color{blue}&#10;\dot{\boldsymbol{d}}_e^0 &#10;= \tilde{\boldsymbol{A}}_e \dot{\boldsymbol{q}}&#10;$&#10;&#10;&#10;\end{document}"/>
  <p:tag name="IGUANATEXSIZE" val="20"/>
  <p:tag name="IGUANATEXCURSOR" val="167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8.293"/>
  <p:tag name="ORIGINALWIDTH" val="3792.529"/>
  <p:tag name="OUTPUTTYPE" val="PNG"/>
  <p:tag name="IGUANATEXVERSION" val="160"/>
  <p:tag name="LATEXADDIN" val="\documentclass{article}&#10;\usepackage{amsmath}&#10;\usepackage{color}&#10;\pagestyle{empty}&#10;\begin{document}&#10;&#10;$&#10;\color{blue}&#10;\dot{\boldsymbol{A}}_e&#10;:= \dfrac{\partial \dot{\boldsymbol{r}}_{0e}^{0}}{\partial \boldsymbol{q}}, \quad&#10;[\dot{\boldsymbol{A}}_e]_{:,k} =&#10;\dot{\boldsymbol{h}}_k^0 \times \left(\boldsymbol{r}_{0e}^0 - \boldsymbol{r}_{0,O_{k-1}}^0\right)&#10;+ \boldsymbol{h}_k^0 \times \left(\dot{\boldsymbol{r}}_{0e}^0 - \dot{\boldsymbol{r}}_{0,O_{k-1}}^0\right)&#10;$&#10;&#10;&#10;\end{document}"/>
  <p:tag name="IGUANATEXSIZE" val="20"/>
  <p:tag name="IGUANATEXCURSOR" val="138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658"/>
  <p:tag name="ORIGINALWIDTH" val="668.3433"/>
  <p:tag name="OUTPUTTYPE" val="PNG"/>
  <p:tag name="IGUANATEXVERSION" val="160"/>
  <p:tag name="LATEXADDIN" val="\documentclass{article}&#10;\usepackage{amsmath}&#10;\usepackage{color}&#10;\pagestyle{empty}&#10;\begin{document}&#10;&#10;$&#10;\color{blue}&#10;k = 1,\dots,n.&#10;$&#10;&#10;&#10;\end{document}"/>
  <p:tag name="IGUANATEXSIZE" val="20"/>
  <p:tag name="IGUANATEXCURSOR" val="129"/>
  <p:tag name="TRANSPARENCY" val="True"/>
  <p:tag name="FILENAME" val=""/>
  <p:tag name="LATEXENGINEID" val="1"/>
  <p:tag name="TEMPFOLDER" val="D:\Program Files\IguanaTex\"/>
  <p:tag name="LATEXFORMHEIGHT" val="448.5"/>
  <p:tag name="LATEXFORMWIDTH" val="428.5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90.8046"/>
  <p:tag name="ORIGINALWIDTH" val="4338.605"/>
  <p:tag name="OUTPUTTYPE" val="PNG"/>
  <p:tag name="IGUANATEXVERSION" val="160"/>
  <p:tag name="LATEXADDIN" val="\documentclass{article}&#10;\usepackage{amsmath}&#10;\usepackage{color}&#10;\pagestyle{empty}&#10;\begin{document}&#10;&#10;$&#10;\color{blue}&#10;\dot{\boldsymbol{A}}_i&#10;:= \dfrac{\partial \dot{\boldsymbol{r}}_{0i}^{0}}{\partial \boldsymbol{q}}, \quad&#10;[\dot{\boldsymbol{A}}_i]_{:,k}&#10;= \begin{cases}&#10;\dot{\boldsymbol{h}}_k^0 \times \left(\boldsymbol{r}_{0i}^0 - \boldsymbol{r}_{0,O_{k-1}}^0\right)&#10;+ \boldsymbol{h}_k^0 \times \left(\dot{\boldsymbol{r}}_{0i}^0 - \dot{\boldsymbol{r}}_{0,O_{k-1}}^0\right), &amp; k \leq i, \\&#10;\boldsymbol{0}, &amp; k &gt; i,&#10;\end{cases}&#10;$&#10;&#10;&#10;\end{document}"/>
  <p:tag name="IGUANATEXSIZE" val="20"/>
  <p:tag name="IGUANATEXCURSOR" val="523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9.5153"/>
  <p:tag name="ORIGINALWIDTH" val="645.09"/>
  <p:tag name="OUTPUTTYPE" val="PNG"/>
  <p:tag name="IGUANATEXVERSION" val="160"/>
  <p:tag name="LATEXADDIN" val="\documentclass{article}&#10;\usepackage{amsmath}&#10;\usepackage{color}&#10;\pagestyle{empty}&#10;\begin{document}&#10;&#10;$&#10;\color{blue}&#10;i=0,\ldots,n.&#10;$&#10;&#10;&#10;\end{document}"/>
  <p:tag name="IGUANATEXSIZE" val="20"/>
  <p:tag name="IGUANATEXCURSOR" val="115"/>
  <p:tag name="TRANSPARENCY" val="True"/>
  <p:tag name="FILENAME" val=""/>
  <p:tag name="LATEXENGINEID" val="1"/>
  <p:tag name="TEMPFOLDER" val="D:\Program Files\IguanaTex\"/>
  <p:tag name="LATEXFORMHEIGHT" val="448.5"/>
  <p:tag name="LATEXFORMWIDTH" val="428.5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5.0482"/>
  <p:tag name="ORIGINALWIDTH" val="2044.035"/>
  <p:tag name="OUTPUTTYPE" val="PNG"/>
  <p:tag name="IGUANATEXVERSION" val="160"/>
  <p:tag name="LATEXADDIN" val="\documentclass{article}&#10;\usepackage{amsmath}&#10;\usepackage{color}&#10;\pagestyle{empty}&#10;\begin{document}&#10;&#10;$&#10;\color{blue}&#10;\begin{aligned}&#10;% (\rho, \rho)&#10;\tilde{\boldsymbol{M}}_{\rho}&#10;&amp;&#10;= \sum_{i=0}^{n} \Bigl( m_i \tilde{\boldsymbol{A}}_i^{T} \tilde{\boldsymbol{A}}_i&#10;+ \bigl(\boldsymbol{J}^{q}_{\omega_i}\bigr)^{T} \boldsymbol{I}^{0}_i \boldsymbol{J}^{q}_{\omega_i} \Bigr)&#10;\end{aligned}&#10;$&#10;&#10;&#10;\end{document}"/>
  <p:tag name="IGUANATEXSIZE" val="20"/>
  <p:tag name="IGUANATEXCURSOR" val="102"/>
  <p:tag name="TRANSPARENCY" val="True"/>
  <p:tag name="FILENAME" val=""/>
  <p:tag name="LATEXENGINEID" val="1"/>
  <p:tag name="TEMPFOLDER" val="D:\Program Files\IguanaTex\"/>
  <p:tag name="LATEXFORMHEIGHT" val="700.5"/>
  <p:tag name="LATEXFORMWIDTH" val="670.5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5.0482"/>
  <p:tag name="ORIGINALWIDTH" val="1768.747"/>
  <p:tag name="OUTPUTTYPE" val="PNG"/>
  <p:tag name="IGUANATEXVERSION" val="160"/>
  <p:tag name="LATEXADDIN" val="\documentclass{article}&#10;\usepackage{amsmath}&#10;\usepackage{color}&#10;\pagestyle{empty}&#10;\begin{document}&#10;&#10;$&#10;\color{blue}&#10;\begin{aligned}&#10;\boldsymbol{B}&#10;= \sum_{i=0}^n \Bigl[ &#10;- m_i \boldsymbol{A}_i^T \hat{\boldsymbol{d}}_i^0 &#10;+ (\boldsymbol{J}^q_{\omega_i})^T \boldsymbol{I}_i^0 \Bigr]&#10;\end{aligned}&#10;$&#10;&#10;&#10;\end{document}"/>
  <p:tag name="IGUANATEXSIZE" val="20"/>
  <p:tag name="IGUANATEXCURSOR" val="279"/>
  <p:tag name="TRANSPARENCY" val="True"/>
  <p:tag name="FILENAME" val=""/>
  <p:tag name="LATEXENGINEID" val="1"/>
  <p:tag name="TEMPFOLDER" val="D:\Program Files\IguanaTex\"/>
  <p:tag name="LATEXFORMHEIGHT" val="700.5"/>
  <p:tag name="LATEXFORMWIDTH" val="670.5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4.2771"/>
  <p:tag name="ORIGINALWIDTH" val="748.6045"/>
  <p:tag name="OUTPUTTYPE" val="PNG"/>
  <p:tag name="IGUANATEXVERSION" val="160"/>
  <p:tag name="LATEXADDIN" val="\documentclass{article}&#10;\usepackage{amsmath}&#10;\usepackage{color}&#10;\pagestyle{empty}&#10;\begin{document}&#10;&#10;$&#10;\color{blue}&#10;\boldsymbol{N}_1 = \tilde{\boldsymbol{M}}_\rho^{-1} \boldsymbol{B}&#10;$&#10;&#10;&#10;\end{document}"/>
  <p:tag name="IGUANATEXSIZE" val="20"/>
  <p:tag name="IGUANATEXCURSOR" val="181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0.5266"/>
  <p:tag name="ORIGINALWIDTH" val="1680.985"/>
  <p:tag name="OUTPUTTYPE" val="PNG"/>
  <p:tag name="IGUANATEXVERSION" val="160"/>
  <p:tag name="LATEXADDIN" val="\documentclass{article}&#10;\usepackage{amsmath}&#10;\usepackage{color}&#10;\pagestyle{empty}&#10;\begin{document}&#10;&#10;$&#10;\color{blue}&#10;\dot{\boldsymbol{L}}_i&#10;= -\bigl(\dot{\boldsymbol{d}_i^0}\bigr)^\wedge&#10;- \dot{\tilde{\boldsymbol{A}}}_i \boldsymbol{N}_1&#10;- \tilde{\boldsymbol{A}}_i \dot{\boldsymbol{N}}_1&#10;$&#10;&#10;&#10;\end{document}"/>
  <p:tag name="IGUANATEXSIZE" val="20"/>
  <p:tag name="IGUANATEXCURSOR" val="137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8.7735"/>
  <p:tag name="ORIGINALWIDTH" val="1368.191"/>
  <p:tag name="OUTPUTTYPE" val="PNG"/>
  <p:tag name="IGUANATEXVERSION" val="160"/>
  <p:tag name="LATEXADDIN" val="\documentclass{article}&#10;\usepackage{amsmath}&#10;\usepackage{color}&#10;\pagestyle{empty}&#10;\begin{document}&#10;&#10;$&#10;\color{blue}&#10;\dot{\boldsymbol{W}}_i&#10;= -\dot{\boldsymbol{J}}^{q}_{\omega_i} \boldsymbol{N}_1&#10;- \boldsymbol{J}^{q}_{\omega_i} \dot{\boldsymbol{N}}_1&#10;$&#10;&#10;&#10;\end{document}"/>
  <p:tag name="IGUANATEXSIZE" val="20"/>
  <p:tag name="IGUANATEXCURSOR" val="137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0.7752"/>
  <p:tag name="ORIGINALWIDTH" val="1002.89"/>
  <p:tag name="OUTPUTTYPE" val="PNG"/>
  <p:tag name="IGUANATEXVERSION" val="160"/>
  <p:tag name="LATEXADDIN" val="\documentclass{article}&#10;\usepackage{amsmath}&#10;\usepackage{color}&#10;\pagestyle{empty}&#10;\begin{document}&#10;&#10;$&#10;\color{blue}&#10;\boldsymbol{L}_i&#10;= -\hat{\boldsymbol{d}}_i^{0}&#10;- \tilde{\boldsymbol{A}}_i \boldsymbol{N}_1&#10;$&#10;&#10;&#10;\end{document}"/>
  <p:tag name="IGUANATEXSIZE" val="20"/>
  <p:tag name="IGUANATEXCURSOR" val="205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6.5274"/>
  <p:tag name="ORIGINALWIDTH" val="1405.696"/>
  <p:tag name="OUTPUTTYPE" val="PNG"/>
  <p:tag name="IGUANATEXVERSION" val="160"/>
  <p:tag name="LATEXADDIN" val="\documentclass{article}&#10;\usepackage{amsmath}&#10;\usepackage{color}&#10;\pagestyle{empty}&#10;\begin{document}&#10;&#10;$&#10;\color{blue}&#10;\dot{\boldsymbol{N}}_1&#10;= \tilde{\boldsymbol{M}}_{\rho}^{-1} \bigl(\dot{\boldsymbol{B}} &#10;- \dot{\tilde{\boldsymbol{M}}}_{\rho} \boldsymbol{N}_1\bigr)&#10;$&#10;&#10;&#10;\end{document}"/>
  <p:tag name="IGUANATEXSIZE" val="20"/>
  <p:tag name="IGUANATEXCURSOR" val="263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5.0482"/>
  <p:tag name="ORIGINALWIDTH" val="3218.699"/>
  <p:tag name="OUTPUTTYPE" val="PNG"/>
  <p:tag name="IGUANATEXVERSION" val="160"/>
  <p:tag name="LATEXADDIN" val="\documentclass{article}&#10;\usepackage{amsmath}&#10;\usepackage{color}&#10;\pagestyle{empty}&#10;\begin{document}&#10;&#10;$&#10;\color{blue}&#10;\begin{aligned}&#10;\dot{\boldsymbol{B}} &#10;= \sum_{i=0}^n \left[ -m_i \bigl( \dot{\tilde{\boldsymbol{A}}}_i^T \hat{\boldsymbol{d}}_i^0 + \tilde{\boldsymbol{A}}_i^T \bigl(\dot{\boldsymbol{d}_i^0}\bigr)^\wedge \bigr) + (\dot{\boldsymbol{J}}^q_{\omega_i})^T \boldsymbol{I}_i^0 + (\boldsymbol{J}^q_{\omega_i})^T \dot{\boldsymbol{I}}_i^0 \right]&#10;\end{aligned}&#10;$&#10;&#10;&#10;\end{document}"/>
  <p:tag name="IGUANATEXSIZE" val="20"/>
  <p:tag name="IGUANATEXCURSOR" val="152"/>
  <p:tag name="TRANSPARENCY" val="True"/>
  <p:tag name="FILENAME" val=""/>
  <p:tag name="LATEXENGINEID" val="1"/>
  <p:tag name="TEMPFOLDER" val="D:\Program Files\IguanaTex\"/>
  <p:tag name="LATEXFORMHEIGHT" val="700.5"/>
  <p:tag name="LATEXFORMWIDTH" val="670.5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5.0482"/>
  <p:tag name="ORIGINALWIDTH" val="4304.851"/>
  <p:tag name="OUTPUTTYPE" val="PNG"/>
  <p:tag name="IGUANATEXVERSION" val="160"/>
  <p:tag name="LATEXADDIN" val="\documentclass{article}&#10;\usepackage{amsmath}&#10;\usepackage{color}&#10;\pagestyle{empty}&#10;\begin{document}&#10;&#10;$&#10;\color{blue}&#10;\begin{aligned}&#10;\dot{\tilde{\boldsymbol{M}}}_\rho&#10;= \sum_{i=0}^n \Bigl[ m_i \bigl( \dot{\tilde{\boldsymbol{A}}}_i^T \tilde{\boldsymbol{A}}_i + \tilde{\boldsymbol{A}}_i^T \dot{\tilde{\boldsymbol{A}}}_i \bigr) + (\dot{\boldsymbol{J}}^q_{\omega_i})^T \boldsymbol{I}_i^0 \boldsymbol{J}^q_{\omega_i}&#10;+ (\boldsymbol{J}^q_{\omega_i})^T \dot{\boldsymbol{I}}_i^0 \boldsymbol{J}^q_{\omega_i} + (\boldsymbol{J}^q_{\omega_i})^T \boldsymbol{I}_i^0 \dot{\boldsymbol{J}}^q_{\omega_i} \Bigr] &#10;\end{aligned}&#10;$&#10;&#10;&#10;\end{document}"/>
  <p:tag name="IGUANATEXSIZE" val="20"/>
  <p:tag name="IGUANATEXCURSOR" val="164"/>
  <p:tag name="TRANSPARENCY" val="True"/>
  <p:tag name="FILENAME" val=""/>
  <p:tag name="LATEXENGINEID" val="1"/>
  <p:tag name="TEMPFOLDER" val="D:\Program Files\IguanaTex\"/>
  <p:tag name="LATEXFORMHEIGHT" val="700.5"/>
  <p:tag name="LATEXFORMWIDTH" val="670.5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9.5195"/>
  <p:tag name="ORIGINALWIDTH" val="1012.641"/>
  <p:tag name="OUTPUTTYPE" val="PNG"/>
  <p:tag name="IGUANATEXVERSION" val="160"/>
  <p:tag name="LATEXADDIN" val="\documentclass{article}&#10;\usepackage{amsmath}&#10;\usepackage{color}&#10;\pagestyle{empty}&#10;\begin{document}&#10;&#10;$&#10;\color{blue}&#10;\boldsymbol{W}_i&#10;= \boldsymbol{I}_3&#10;- \boldsymbol{J}_{\omega_i}^{q} \boldsymbol{N}_1&#10;$&#10;&#10;&#10;\end{document}"/>
  <p:tag name="IGUANATEXSIZE" val="20"/>
  <p:tag name="IGUANATEXCURSOR" val="199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0.7752"/>
  <p:tag name="ORIGINALWIDTH" val="1026.893"/>
  <p:tag name="OUTPUTTYPE" val="PNG"/>
  <p:tag name="IGUANATEXVERSION" val="160"/>
  <p:tag name="LATEXADDIN" val="\documentclass{article}&#10;\usepackage{amsmath}&#10;\usepackage{color}&#10;\pagestyle{empty}&#10;\begin{document}&#10;&#10;$&#10;\color{blue}&#10;\boldsymbol{L}_e &#10;= -\hat{\boldsymbol{d}}^0_e &#10;- \tilde{\boldsymbol{A}}_e \boldsymbol{N}_1&#10;$&#10;&#10;&#10;\end{document}"/>
  <p:tag name="IGUANATEXSIZE" val="20"/>
  <p:tag name="IGUANATEXCURSOR" val="205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9.5195"/>
  <p:tag name="ORIGINALWIDTH" val="1033.644"/>
  <p:tag name="OUTPUTTYPE" val="PNG"/>
  <p:tag name="IGUANATEXVERSION" val="160"/>
  <p:tag name="LATEXADDIN" val="\documentclass{article}&#10;\usepackage{amsmath}&#10;\usepackage{color}&#10;\pagestyle{empty}&#10;\begin{document}&#10;&#10;$&#10;\color{blue}&#10;\boldsymbol{W}_e &#10;= \boldsymbol{I}_3 &#10;- \boldsymbol{J}^q_{\omega_e} \boldsymbol{N}_1&#10;$&#10;&#10;&#10;\end{document}"/>
  <p:tag name="IGUANATEXSIZE" val="20"/>
  <p:tag name="IGUANATEXCURSOR" val="199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0.5266"/>
  <p:tag name="ORIGINALWIDTH" val="1716.99"/>
  <p:tag name="OUTPUTTYPE" val="PNG"/>
  <p:tag name="IGUANATEXVERSION" val="160"/>
  <p:tag name="LATEXADDIN" val="\documentclass{article}&#10;\usepackage{amsmath}&#10;\usepackage{color}&#10;\pagestyle{empty}&#10;\begin{document}&#10;&#10;$&#10;\color{blue}&#10;\dot{\boldsymbol{L}}_e&#10;= -\bigl(\dot{\boldsymbol{d}_i^0}\bigr)^\wedge&#10;- \dot{\tilde{\boldsymbol{A}}}_e \boldsymbol{N}_1&#10;- \tilde{\boldsymbol{A}}_e \dot{\boldsymbol{N}}_1&#10;$&#10;&#10;&#10;\end{document}"/>
  <p:tag name="IGUANATEXSIZE" val="20"/>
  <p:tag name="IGUANATEXCURSOR" val="261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8.7735"/>
  <p:tag name="ORIGINALWIDTH" val="1398.195"/>
  <p:tag name="OUTPUTTYPE" val="PNG"/>
  <p:tag name="IGUANATEXVERSION" val="160"/>
  <p:tag name="LATEXADDIN" val="\documentclass{article}&#10;\usepackage{amsmath}&#10;\usepackage{color}&#10;\pagestyle{empty}&#10;\begin{document}&#10;&#10;$&#10;\color{blue}&#10;\dot{\boldsymbol{W}}_e&#10;= -\dot{\boldsymbol{J}}^{q}_{\omega_e} \boldsymbol{N}_1&#10;- \boldsymbol{J}^{q}_{\omega_e} \dot{\boldsymbol{N}}_1&#10;$&#10;&#10;&#10;\end{document}"/>
  <p:tag name="IGUANATEXSIZE" val="20"/>
  <p:tag name="IGUANATEXCURSOR" val="224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5.8234"/>
  <p:tag name="ORIGINALWIDTH" val="1249.674"/>
  <p:tag name="OUTPUTTYPE" val="PNG"/>
  <p:tag name="IGUANATEXVERSION" val="160"/>
  <p:tag name="LATEXADDIN" val="\documentclass{article}&#10;\usepackage{amsmath}&#10;\usepackage{color}&#10;\pagestyle{empty}&#10;\begin{document}&#10;&#10;$&#10;\color{blue}&#10;\tilde{\boldsymbol{C}}&#10;= \begin{bmatrix}&#10;\boldsymbol{0} &amp; \boldsymbol{0} &amp; \boldsymbol{0} \\&#10;\boldsymbol{0} &amp; \tilde{\boldsymbol{C}}_{r} &amp; \tilde{\boldsymbol{C}}_{r\rho} \\&#10;\boldsymbol{0} &amp; -\tilde{\boldsymbol{C}}_{r \rho }^T &amp; \tilde{\boldsymbol{C}}_{\rho}&#10;\end{bmatrix}&#10;$&#10;&#10;&#10;\end{document}"/>
  <p:tag name="IGUANATEXSIZE" val="20"/>
  <p:tag name="IGUANATEXCURSOR" val="137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75.414"/>
  <p:tag name="ORIGINALWIDTH" val="3455.732"/>
  <p:tag name="OUTPUTTYPE" val="PNG"/>
  <p:tag name="IGUANATEXVERSION" val="160"/>
  <p:tag name="LATEXADDIN" val="\documentclass{article}&#10;\usepackage{amsmath}&#10;\usepackage{color}&#10;\pagestyle{empty}&#10;\begin{document}&#10;&#10;$&#10;\color{blue}&#10;\begin{aligned}&#10;\tilde{\boldsymbol{C}}_{r}&#10;&amp; = \sum_{i=0}^{n} \Bigl[&#10;m_i \boldsymbol{L}_i^T \bigl( \hat{\boldsymbol{\omega}}_0 \boldsymbol{L}_i + \dot{\boldsymbol{L}}_i \bigr)&#10;+ \boldsymbol{W}_i^T \boldsymbol{I}_i^0 \dot{\boldsymbol{W}}_i&#10;+ \boldsymbol{W}_i^T \boldsymbol{\Xi}_i \boldsymbol{W}_i \Bigr]&#10;\\&#10;\tilde{\boldsymbol{C}}_{r\rho}&#10;&amp; = \sum_{i=0}^{n} \Bigl[&#10;m_i \boldsymbol{L}_i^T \bigl( \hat{\boldsymbol{\omega}}_0 \tilde{\boldsymbol{A}}_i + \dot{\tilde{\boldsymbol{A}}}_i \bigr)&#10;+ \boldsymbol{W}_i^T \boldsymbol{I}_i^0 \dot{\boldsymbol{J}}_{\omega_i}^{q}&#10;+ \boldsymbol{W}_i^T \boldsymbol{\Xi}_i \boldsymbol{J}_{\omega_i}^{q} \Bigr]&#10;\\&#10;\tilde{\boldsymbol{C}}_{\rho}&#10;&amp; = \sum_{i=0}^{n} \Bigl[&#10;m_i \tilde{\boldsymbol{A}}_i^T \bigl( \hat{\boldsymbol{\omega}}_0 \tilde{\boldsymbol{A}}_i + \dot{\tilde{\boldsymbol{A}}}_i \bigr)&#10;+ \bigl(\boldsymbol{J}_{\omega_i}^{q}\bigr)^T \boldsymbol{I}_i^0 \dot{\boldsymbol{J}}_{\omega_i}^{q}&#10;+ \bigl(\boldsymbol{J}_{\omega_i}^{q}\bigr)^T \boldsymbol{\Xi}_i \boldsymbol{J}_{\omega_i}^{q} \Bigr]&#10;\end{aligned}&#10;$&#10;&#10;&#10;\end{document}"/>
  <p:tag name="IGUANATEXSIZE" val="20"/>
  <p:tag name="IGUANATEXCURSOR" val="757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50.8129"/>
  <p:tag name="ORIGINALWIDTH" val="663.8427"/>
  <p:tag name="OUTPUTTYPE" val="PNG"/>
  <p:tag name="IGUANATEXVERSION" val="160"/>
  <p:tag name="LATEXADDIN" val="\documentclass{article}&#10;\usepackage{amsmath}&#10;\usepackage{color}&#10;\pagestyle{empty}&#10;\begin{document}&#10;&#10;$&#10;\color{blue}&#10;\displaystyle&#10;\tilde{\boldsymbol{g}}&#10;= \begin{bmatrix} mg\boldsymbol{e}_3 \\ \boldsymbol{0} \\ \boldsymbol{0} \end{bmatrix}&#10;$&#10;&#10;&#10;\end{document}"/>
  <p:tag name="IGUANATEXSIZE" val="20"/>
  <p:tag name="IGUANATEXCURSOR" val="238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6.329"/>
  <p:tag name="ORIGINALWIDTH" val="1852.759"/>
  <p:tag name="OUTPUTTYPE" val="PNG"/>
  <p:tag name="IGUANATEXVERSION" val="160"/>
  <p:tag name="LATEXADDIN" val="\documentclass{article}&#10;\usepackage{amsmath}&#10;\usepackage{color}&#10;\pagestyle{empty}&#10;\begin{document}&#10;&#10;$&#10;\color{blue}&#10;\begin{aligned}&#10;% (t,t)&#10;\tilde{\boldsymbol{M}}_{t} &#10;&amp;&#10;= m \boldsymbol{I}_3 &#10;\\&#10;% (r, r)&#10;\tilde{\boldsymbol{M}}_{r}&#10;&amp;&#10;= \sum_{i=0}^{n} \Bigl( m_i \boldsymbol{L}_i^{T} \boldsymbol{L}_i&#10;+ \boldsymbol{W}_i^{T} \boldsymbol{I}^{0}_i \boldsymbol{W}_i \Bigr)&#10;\end{aligned}&#10;$&#10;&#10;&#10;\end{document}"/>
  <p:tag name="IGUANATEXSIZE" val="20"/>
  <p:tag name="IGUANATEXCURSOR" val="365"/>
  <p:tag name="TRANSPARENCY" val="True"/>
  <p:tag name="FILENAME" val=""/>
  <p:tag name="LATEXENGINEID" val="1"/>
  <p:tag name="TEMPFOLDER" val="D:\Program Files\IguanaTex\"/>
  <p:tag name="LATEXFORMHEIGHT" val="700.5"/>
  <p:tag name="LATEXFORMWIDTH" val="670.5"/>
  <p:tag name="LATEXFORMWRAP" val="True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74.8163"/>
  <p:tag name="ORIGINALWIDTH" val="1320.184"/>
  <p:tag name="OUTPUTTYPE" val="PNG"/>
  <p:tag name="IGUANATEXVERSION" val="160"/>
  <p:tag name="LATEXADDIN" val="\documentclass{article}&#10;\usepackage{amsmath}&#10;\usepackage{color}&#10;\pagestyle{empty}&#10;\begin{document}&#10;&#10;$&#10;\color{blue}&#10;\tilde{\boldsymbol{M}}&#10;= \begin{bmatrix}&#10;\tilde{\boldsymbol{M}}_{t} &amp; \boldsymbol{0} &amp; \boldsymbol{0} \\&#10;\boldsymbol{0} &amp; \tilde{\boldsymbol{M}}_{r} &amp; \boldsymbol{0} \\&#10;\boldsymbol{0} &amp; \boldsymbol{0} &amp; \tilde{\boldsymbol{M}}_{\rho}&#10;\end{bmatrix}&#10;$&#10;&#10;&#10;\end{document}"/>
  <p:tag name="IGUANATEXSIZE" val="20"/>
  <p:tag name="IGUANATEXCURSOR" val="361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5.2717"/>
  <p:tag name="ORIGINALWIDTH" val="201.7782"/>
  <p:tag name="OUTPUTTYPE" val="PNG"/>
  <p:tag name="IGUANATEXVERSION" val="160"/>
  <p:tag name="LATEXADDIN" val="\documentclass{article}&#10;\usepackage{amsmath}&#10;\usepackage{color}&#10;\pagestyle{empty}&#10;\begin{document}&#10;&#10;$&#10;\color{blue}&#10;\tilde{\boldsymbol{M}}_{\rho}&#10;$&#10;&#10;&#10;\end{document}"/>
  <p:tag name="IGUANATEXSIZE" val="20"/>
  <p:tag name="IGUANATEXCURSOR" val="114"/>
  <p:tag name="TRANSPARENCY" val="True"/>
  <p:tag name="FILENAME" val=""/>
  <p:tag name="LATEXENGINEID" val="1"/>
  <p:tag name="TEMPFOLDER" val="D:\Program Files\IguanaTex\"/>
  <p:tag name="LATEXFORMHEIGHT" val="700.5"/>
  <p:tag name="LATEXFORMWIDTH" val="670.5"/>
  <p:tag name="LATEXFORMWRAP" val="True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1.2935"/>
  <p:tag name="ORIGINALWIDTH" val="1960.024"/>
  <p:tag name="OUTPUTTYPE" val="PNG"/>
  <p:tag name="IGUANATEXVERSION" val="160"/>
  <p:tag name="LATEXADDIN" val="\documentclass{article}&#10;\usepackage{amsmath}&#10;\usepackage{color}&#10;\pagestyle{empty}&#10;\begin{document}&#10;&#10;$&#10;\color{blue}&#10;\boldsymbol{J}_y&#10;= \begin{bmatrix}&#10;\boldsymbol{I}_3 &amp; &#10;\boldsymbol{R}_0 \boldsymbol{L}_e &amp; &#10;\boldsymbol{R}_0 \tilde{\boldsymbol{A}}_e \\&#10;\boldsymbol{0}_{1\times 3} &amp; &#10;\boldsymbol{e}_3^T \boldsymbol{R}^e_0 \boldsymbol{W}_e &amp; &#10;\boldsymbol{e}_3^T \boldsymbol{R}^e_0 \boldsymbol{J}^q_{\omega_e}&#10;\end{bmatrix}&#10;$&#10;&#10;&#10;\end{document}"/>
  <p:tag name="IGUANATEXSIZE" val="20"/>
  <p:tag name="IGUANATEXCURSOR" val="114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3.5354"/>
  <p:tag name="ORIGINALWIDTH" val="1202.418"/>
  <p:tag name="OUTPUTTYPE" val="PNG"/>
  <p:tag name="IGUANATEXVERSION" val="160"/>
  <p:tag name="LATEXADDIN" val="\documentclass{article}&#10;\usepackage{amsmath}&#10;\usepackage{color}&#10;\pagestyle{empty}&#10;\begin{document}&#10;&#10;$&#10;\color{blue}&#10;\boldsymbol{\Lambda}_{y} = \left( \boldsymbol{J}_{y} \tilde{\boldsymbol{M}}^{-1} \boldsymbol{J}_{y}^{T} \right)^{-1}&#10;$&#10;&#10;&#10;\end{document}"/>
  <p:tag name="IGUANATEXSIZE" val="20"/>
  <p:tag name="IGUANATEXCURSOR" val="231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50.8129"/>
  <p:tag name="ORIGINALWIDTH" val="2894.654"/>
  <p:tag name="OUTPUTTYPE" val="PNG"/>
  <p:tag name="IGUANATEXVERSION" val="160"/>
  <p:tag name="LATEXADDIN" val="\documentclass{article}&#10;\usepackage{amsmath}&#10;\usepackage{color}&#10;\pagestyle{empty}&#10;\begin{document}&#10;&#10;$&#10;\color{blue}&#10;\dot{\boldsymbol{J}}_y&#10;= \begin{bmatrix}&#10;\boldsymbol{R}_0&#10;\begin{bmatrix} \boldsymbol{0}_{3\times3} &amp; &#10;\hat{\omega}_0 \boldsymbol{L}_e + \dot{\boldsymbol{L}}_e &amp; &#10;\hat{\omega}_0 \tilde{\boldsymbol{A}}_e + \dot{\tilde{\boldsymbol{A}}}_e &#10;\end{bmatrix} \\&#10;\boldsymbol{e}_3^T \boldsymbol{R}_0^e &#10;\begin{bmatrix} \boldsymbol{0}_{3\times3} &amp; &#10;\dot{\boldsymbol{W}}_e - \hat{\omega}_{0e}^0 \boldsymbol{W}_e &amp; &#10;\dot{\boldsymbol{J}}^q_{\omega_e} - \hat{\omega}_{0e}^0 \boldsymbol{J}^q_{\omega_e} &#10;\end{bmatrix}&#10;\end{bmatrix}&#10;$&#10;&#10;&#10;\end{document}"/>
  <p:tag name="IGUANATEXSIZE" val="20"/>
  <p:tag name="IGUANATEXCURSOR" val="630"/>
  <p:tag name="TRANSPARENCY" val="True"/>
  <p:tag name="FILENAME" val=""/>
  <p:tag name="LATEXENGINEID" val="1"/>
  <p:tag name="TEMPFOLDER" val="D:\Program Files\IguanaTex\"/>
  <p:tag name="LATEXFORMHEIGHT" val="453.5"/>
  <p:tag name="LATEXFORMWIDTH" val="463"/>
  <p:tag name="LATEXFORMWRAP" val="True"/>
  <p:tag name="BITMAPVECTOR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2.7769"/>
  <p:tag name="ORIGINALWIDTH" val="921.8787"/>
  <p:tag name="OUTPUTTYPE" val="PNG"/>
  <p:tag name="IGUANATEXVERSION" val="160"/>
  <p:tag name="LATEXADDIN" val="\documentclass{article}&#10;\usepackage{amsmath}&#10;\usepackage{color}&#10;\pagestyle{empty}&#10;\begin{document}&#10;&#10;$&#10;\color{blue}&#10;\boldsymbol{J}^{\dagger}_{y}&#10;=\tilde{\boldsymbol{M}}^{-1} \boldsymbol{J}^{T}_{y} \boldsymbol{\Lambda}_y&#10;$&#10;&#10;&#10;\end{document}"/>
  <p:tag name="IGUANATEXSIZE" val="20"/>
  <p:tag name="IGUANATEXCURSOR" val="218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5.0356"/>
  <p:tag name="ORIGINALWIDTH" val="1542.965"/>
  <p:tag name="OUTPUTTYPE" val="PNG"/>
  <p:tag name="IGUANATEXVERSION" val="160"/>
  <p:tag name="LATEXADDIN" val="\documentclass{article}&#10;\usepackage{amsmath}&#10;\usepackage{color}&#10;\pagestyle{empty}&#10;\begin{document}&#10;&#10;$&#10;\color{blue}&#10;\left(&#10;\boldsymbol{J}^{\dagger}_{y}&#10;\right)^{T}&#10;=&#10;\begin{bmatrix}&#10;\bar{\boldsymbol{J}}_{1,y} &amp;&#10;\bar{\boldsymbol{J}}_{2,y} &amp;&#10;\bar{\boldsymbol{J}}_{3,y}&#10;\end{bmatrix}&#10;$&#10;&#10;&#10;\end{document}"/>
  <p:tag name="IGUANATEXSIZE" val="20"/>
  <p:tag name="IGUANATEXCURSOR" val="279"/>
  <p:tag name="TRANSPARENCY" val="True"/>
  <p:tag name="FILENAME" val=""/>
  <p:tag name="LATEXENGINEID" val="1"/>
  <p:tag name="TEMPFOLDER" val="D:\Program Files\IguanaTex\"/>
  <p:tag name="LATEXFORMHEIGHT" val="320"/>
  <p:tag name="LATEXFORMWIDTH" val="385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73</Words>
  <Application>Microsoft Office PowerPoint</Application>
  <PresentationFormat>Widescreen</PresentationFormat>
  <Paragraphs>17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等线</vt:lpstr>
      <vt:lpstr>等线 Light</vt:lpstr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1</cp:revision>
  <dcterms:created xsi:type="dcterms:W3CDTF">2026-07-21T01:39:50Z</dcterms:created>
  <dcterms:modified xsi:type="dcterms:W3CDTF">2026-07-21T02:39:45Z</dcterms:modified>
</cp:coreProperties>
</file>